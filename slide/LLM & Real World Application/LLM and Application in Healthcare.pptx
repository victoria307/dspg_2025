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50"/>
  </p:notesMasterIdLst>
  <p:sldIdLst>
    <p:sldId id="256" r:id="rId5"/>
    <p:sldId id="257" r:id="rId6"/>
    <p:sldId id="306" r:id="rId7"/>
    <p:sldId id="259" r:id="rId8"/>
    <p:sldId id="936" r:id="rId9"/>
    <p:sldId id="922" r:id="rId10"/>
    <p:sldId id="931" r:id="rId11"/>
    <p:sldId id="934" r:id="rId12"/>
    <p:sldId id="956" r:id="rId13"/>
    <p:sldId id="981" r:id="rId14"/>
    <p:sldId id="957" r:id="rId15"/>
    <p:sldId id="959" r:id="rId16"/>
    <p:sldId id="960" r:id="rId17"/>
    <p:sldId id="961" r:id="rId18"/>
    <p:sldId id="962" r:id="rId19"/>
    <p:sldId id="963" r:id="rId20"/>
    <p:sldId id="964" r:id="rId21"/>
    <p:sldId id="965" r:id="rId22"/>
    <p:sldId id="955" r:id="rId23"/>
    <p:sldId id="942" r:id="rId24"/>
    <p:sldId id="307" r:id="rId25"/>
    <p:sldId id="944" r:id="rId26"/>
    <p:sldId id="945" r:id="rId27"/>
    <p:sldId id="948" r:id="rId28"/>
    <p:sldId id="258" r:id="rId29"/>
    <p:sldId id="949" r:id="rId30"/>
    <p:sldId id="268" r:id="rId31"/>
    <p:sldId id="309" r:id="rId32"/>
    <p:sldId id="966" r:id="rId33"/>
    <p:sldId id="967" r:id="rId34"/>
    <p:sldId id="968" r:id="rId35"/>
    <p:sldId id="969" r:id="rId36"/>
    <p:sldId id="973" r:id="rId37"/>
    <p:sldId id="976" r:id="rId38"/>
    <p:sldId id="979" r:id="rId39"/>
    <p:sldId id="977" r:id="rId40"/>
    <p:sldId id="978" r:id="rId41"/>
    <p:sldId id="310" r:id="rId42"/>
    <p:sldId id="971" r:id="rId43"/>
    <p:sldId id="974" r:id="rId44"/>
    <p:sldId id="972" r:id="rId45"/>
    <p:sldId id="980" r:id="rId46"/>
    <p:sldId id="947" r:id="rId47"/>
    <p:sldId id="937" r:id="rId48"/>
    <p:sldId id="970" r:id="rId49"/>
  </p:sldIdLst>
  <p:sldSz cx="9144000" cy="5143500" type="screen16x9"/>
  <p:notesSz cx="6858000" cy="9144000"/>
  <p:embeddedFontLst>
    <p:embeddedFont>
      <p:font typeface="Cambria Math" panose="02040503050406030204" pitchFamily="18" charset="0"/>
      <p:regular r:id="rId51"/>
    </p:embeddedFont>
    <p:embeddedFont>
      <p:font typeface="Crimson Text" pitchFamily="2" charset="0"/>
      <p:regular r:id="rId52"/>
      <p:bold r:id="rId53"/>
      <p:italic r:id="rId54"/>
      <p:boldItalic r:id="rId55"/>
    </p:embeddedFont>
    <p:embeddedFont>
      <p:font typeface="Roboto" panose="020000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1FC5D20-7CE5-4847-AFB2-321C0704383B}">
          <p14:sldIdLst>
            <p14:sldId id="256"/>
            <p14:sldId id="257"/>
            <p14:sldId id="306"/>
            <p14:sldId id="259"/>
            <p14:sldId id="936"/>
            <p14:sldId id="922"/>
            <p14:sldId id="931"/>
            <p14:sldId id="934"/>
            <p14:sldId id="956"/>
            <p14:sldId id="981"/>
            <p14:sldId id="957"/>
            <p14:sldId id="959"/>
            <p14:sldId id="960"/>
            <p14:sldId id="961"/>
            <p14:sldId id="962"/>
            <p14:sldId id="963"/>
            <p14:sldId id="964"/>
            <p14:sldId id="965"/>
            <p14:sldId id="955"/>
            <p14:sldId id="942"/>
            <p14:sldId id="307"/>
            <p14:sldId id="944"/>
            <p14:sldId id="945"/>
            <p14:sldId id="948"/>
            <p14:sldId id="258"/>
            <p14:sldId id="949"/>
            <p14:sldId id="268"/>
            <p14:sldId id="309"/>
            <p14:sldId id="966"/>
            <p14:sldId id="967"/>
            <p14:sldId id="968"/>
            <p14:sldId id="969"/>
            <p14:sldId id="973"/>
            <p14:sldId id="976"/>
            <p14:sldId id="979"/>
            <p14:sldId id="977"/>
            <p14:sldId id="978"/>
            <p14:sldId id="310"/>
            <p14:sldId id="971"/>
            <p14:sldId id="974"/>
            <p14:sldId id="972"/>
            <p14:sldId id="980"/>
            <p14:sldId id="947"/>
            <p14:sldId id="937"/>
            <p14:sldId id="970"/>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ERU1/YJnezofH7RBrC7CChmzq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F"/>
    <a:srgbClr val="F5E5D9"/>
    <a:srgbClr val="DCECEB"/>
    <a:srgbClr val="F7DDE6"/>
    <a:srgbClr val="E6E6E6"/>
    <a:srgbClr val="E0E0E0"/>
    <a:srgbClr val="E7F2E1"/>
    <a:srgbClr val="FFFFFF"/>
    <a:srgbClr val="C1E1FF"/>
    <a:srgbClr val="E6F2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7148E-0BA5-F210-0853-6049281734A3}" v="178" dt="2025-07-14T01:19:29.746"/>
    <p1510:client id="{984E865E-EB95-3E3F-0B8C-274510DCD466}" v="124" dt="2025-07-13T21:06:23.478"/>
    <p1510:client id="{F00BD41E-8615-3A45-B5E0-E3F66653A30D}" v="62" dt="2025-07-15T02:01:46.095"/>
  </p1510:revLst>
</p1510:revInfo>
</file>

<file path=ppt/tableStyles.xml><?xml version="1.0" encoding="utf-8"?>
<a:tblStyleLst xmlns:a="http://schemas.openxmlformats.org/drawingml/2006/main" def="{E017E762-A783-44E9-BAB4-DBA71A9770A8}">
  <a:tblStyle styleId="{E017E762-A783-44E9-BAB4-DBA71A9770A8}" styleName="Table_0">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E7E8"/>
          </a:solidFill>
        </a:fill>
      </a:tcStyle>
    </a:wholeTbl>
    <a:band1H>
      <a:tcTxStyle b="off" i="off"/>
      <a:tcStyle>
        <a:tcBdr/>
        <a:fill>
          <a:solidFill>
            <a:srgbClr val="D8CBCD"/>
          </a:solidFill>
        </a:fill>
      </a:tcStyle>
    </a:band1H>
    <a:band2H>
      <a:tcTxStyle b="off" i="off"/>
      <a:tcStyle>
        <a:tcBdr/>
      </a:tcStyle>
    </a:band2H>
    <a:band1V>
      <a:tcTxStyle b="off" i="off"/>
      <a:tcStyle>
        <a:tcBdr/>
        <a:fill>
          <a:solidFill>
            <a:srgbClr val="D8CBCD"/>
          </a:solidFill>
        </a:fill>
      </a:tcStyle>
    </a:band1V>
    <a:band2V>
      <a:tcTxStyle b="off" i="off"/>
      <a:tcStyle>
        <a:tcBdr/>
      </a:tcStyle>
    </a:band2V>
    <a:lastCol>
      <a:tcTxStyle b="on" i="off">
        <a:font>
          <a:latin typeface="Helvetica"/>
          <a:ea typeface="Helvetica"/>
          <a:cs typeface="Helvetica"/>
        </a:font>
        <a:schemeClr val="lt1"/>
      </a:tcTxStyle>
      <a:tcStyle>
        <a:tcBdr/>
        <a:fill>
          <a:solidFill>
            <a:schemeClr val="accent1"/>
          </a:solidFill>
        </a:fill>
      </a:tcStyle>
    </a:lastCol>
    <a:firstCol>
      <a:tcTxStyle b="on" i="off">
        <a:font>
          <a:latin typeface="Helvetica"/>
          <a:ea typeface="Helvetica"/>
          <a:cs typeface="Helvetica"/>
        </a:font>
        <a:schemeClr val="lt1"/>
      </a:tcTxStyle>
      <a:tcStyle>
        <a:tcBdr/>
        <a:fill>
          <a:solidFill>
            <a:schemeClr val="accent1"/>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74766"/>
  </p:normalViewPr>
  <p:slideViewPr>
    <p:cSldViewPr snapToGrid="0">
      <p:cViewPr varScale="1">
        <p:scale>
          <a:sx n="128" d="100"/>
          <a:sy n="128" d="100"/>
        </p:scale>
        <p:origin x="1264" y="168"/>
      </p:cViewPr>
      <p:guideLst/>
    </p:cSldViewPr>
  </p:slideViewPr>
  <p:notesTextViewPr>
    <p:cViewPr>
      <p:scale>
        <a:sx n="1" d="1"/>
        <a:sy n="1" d="1"/>
      </p:scale>
      <p:origin x="0" y="-264"/>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74"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8" Type="http://schemas.openxmlformats.org/officeDocument/2006/relationships/slide" Target="slides/slide4.xml"/><Relationship Id="rId51" Type="http://schemas.openxmlformats.org/officeDocument/2006/relationships/font" Target="fonts/font1.fntdata"/><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70" Type="http://customschemas.google.com/relationships/presentationmetadata" Target="metadata"/><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8729A7-5B1F-42FC-9F3D-CA53A3CCF221}"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en-US"/>
        </a:p>
      </dgm:t>
    </dgm:pt>
    <dgm:pt modelId="{1ED6ED5A-467C-4F30-929E-41BEA3DB9D92}">
      <dgm:prSet phldrT="[Text]" custT="1"/>
      <dgm:spPr/>
      <dgm:t>
        <a:bodyPr/>
        <a:lstStyle/>
        <a:p>
          <a:r>
            <a:rPr lang="en-US" sz="1400"/>
            <a:t>Text Input</a:t>
          </a:r>
        </a:p>
      </dgm:t>
    </dgm:pt>
    <dgm:pt modelId="{1ADE535A-2B16-40C1-BBBD-D27E94D38C8F}" type="parTrans" cxnId="{6E219CD1-0DB7-45EC-9A73-4839E296C5B9}">
      <dgm:prSet/>
      <dgm:spPr/>
      <dgm:t>
        <a:bodyPr/>
        <a:lstStyle/>
        <a:p>
          <a:endParaRPr lang="en-US" sz="1400"/>
        </a:p>
      </dgm:t>
    </dgm:pt>
    <dgm:pt modelId="{D28D7E67-7ACD-4B45-974C-99BB177BE77C}" type="sibTrans" cxnId="{6E219CD1-0DB7-45EC-9A73-4839E296C5B9}">
      <dgm:prSet/>
      <dgm:spPr/>
      <dgm:t>
        <a:bodyPr/>
        <a:lstStyle/>
        <a:p>
          <a:endParaRPr lang="en-US" sz="1400"/>
        </a:p>
      </dgm:t>
    </dgm:pt>
    <dgm:pt modelId="{0D0A09AC-0A35-45BC-A7EA-B338D27F2188}">
      <dgm:prSet phldrT="[Text]" custT="1"/>
      <dgm:spPr/>
      <dgm:t>
        <a:bodyPr/>
        <a:lstStyle/>
        <a:p>
          <a:r>
            <a:rPr lang="en-US" sz="1400"/>
            <a:t>Tokenization</a:t>
          </a:r>
        </a:p>
      </dgm:t>
    </dgm:pt>
    <dgm:pt modelId="{300FD49E-A0AF-4680-B220-F20187A2188D}" type="parTrans" cxnId="{C385BA21-E96D-443E-B14D-5F7FC809CFC2}">
      <dgm:prSet/>
      <dgm:spPr/>
      <dgm:t>
        <a:bodyPr/>
        <a:lstStyle/>
        <a:p>
          <a:endParaRPr lang="en-US" sz="1400"/>
        </a:p>
      </dgm:t>
    </dgm:pt>
    <dgm:pt modelId="{A8C82F9C-493C-410C-847A-1398C45AFE81}" type="sibTrans" cxnId="{C385BA21-E96D-443E-B14D-5F7FC809CFC2}">
      <dgm:prSet/>
      <dgm:spPr/>
      <dgm:t>
        <a:bodyPr/>
        <a:lstStyle/>
        <a:p>
          <a:endParaRPr lang="en-US" sz="1400"/>
        </a:p>
      </dgm:t>
    </dgm:pt>
    <dgm:pt modelId="{654247AB-1F19-442F-A9D0-4B4386ECD6A6}">
      <dgm:prSet phldrT="[Text]" custT="1"/>
      <dgm:spPr/>
      <dgm:t>
        <a:bodyPr/>
        <a:lstStyle/>
        <a:p>
          <a:r>
            <a:rPr lang="en-US" sz="1400"/>
            <a:t>Contextual Embedding</a:t>
          </a:r>
        </a:p>
      </dgm:t>
    </dgm:pt>
    <dgm:pt modelId="{C93E671B-4576-41DA-8F70-E24942EB61CC}" type="parTrans" cxnId="{E353EAE8-2C9E-4C93-8845-BA8566AB4AE1}">
      <dgm:prSet/>
      <dgm:spPr/>
      <dgm:t>
        <a:bodyPr/>
        <a:lstStyle/>
        <a:p>
          <a:endParaRPr lang="en-US" sz="1400"/>
        </a:p>
      </dgm:t>
    </dgm:pt>
    <dgm:pt modelId="{03836ED9-3C54-4095-8AD3-8095E82F70BF}" type="sibTrans" cxnId="{E353EAE8-2C9E-4C93-8845-BA8566AB4AE1}">
      <dgm:prSet/>
      <dgm:spPr/>
      <dgm:t>
        <a:bodyPr/>
        <a:lstStyle/>
        <a:p>
          <a:endParaRPr lang="en-US" sz="1400"/>
        </a:p>
      </dgm:t>
    </dgm:pt>
    <dgm:pt modelId="{DF0524C9-B73E-4A0A-AA1B-4AE66C0DC079}">
      <dgm:prSet phldrT="[Text]" custT="1"/>
      <dgm:spPr/>
      <dgm:t>
        <a:bodyPr/>
        <a:lstStyle/>
        <a:p>
          <a:r>
            <a:rPr lang="en-US" sz="1400"/>
            <a:t>Position Embedding</a:t>
          </a:r>
        </a:p>
      </dgm:t>
    </dgm:pt>
    <dgm:pt modelId="{70EEDA2D-A388-4BE3-8B62-828DE89774C6}" type="parTrans" cxnId="{EB403E96-38B6-4D50-82DE-387F8797B0A4}">
      <dgm:prSet/>
      <dgm:spPr/>
      <dgm:t>
        <a:bodyPr/>
        <a:lstStyle/>
        <a:p>
          <a:endParaRPr lang="en-US" sz="1400"/>
        </a:p>
      </dgm:t>
    </dgm:pt>
    <dgm:pt modelId="{CED2B82A-8380-440B-83EA-B37AE448C405}" type="sibTrans" cxnId="{EB403E96-38B6-4D50-82DE-387F8797B0A4}">
      <dgm:prSet/>
      <dgm:spPr/>
      <dgm:t>
        <a:bodyPr/>
        <a:lstStyle/>
        <a:p>
          <a:endParaRPr lang="en-US" sz="1400"/>
        </a:p>
      </dgm:t>
    </dgm:pt>
    <dgm:pt modelId="{0C629E6E-FEC7-4D64-B1C0-B9AE9A7757D5}">
      <dgm:prSet phldrT="[Text]" custT="1"/>
      <dgm:spPr/>
      <dgm:t>
        <a:bodyPr/>
        <a:lstStyle/>
        <a:p>
          <a:r>
            <a:rPr lang="en-US" sz="1400"/>
            <a:t>Numerical Embedding</a:t>
          </a:r>
        </a:p>
      </dgm:t>
    </dgm:pt>
    <dgm:pt modelId="{96BAE23F-F3EE-4D77-9CBE-1C718D69CA63}" type="parTrans" cxnId="{F73DF2CA-25F0-4C6A-A3AC-7D3304CA77BC}">
      <dgm:prSet/>
      <dgm:spPr/>
      <dgm:t>
        <a:bodyPr/>
        <a:lstStyle/>
        <a:p>
          <a:endParaRPr lang="en-US"/>
        </a:p>
      </dgm:t>
    </dgm:pt>
    <dgm:pt modelId="{22D24C19-85A8-4CE3-8E8E-98C79E94D015}" type="sibTrans" cxnId="{F73DF2CA-25F0-4C6A-A3AC-7D3304CA77BC}">
      <dgm:prSet/>
      <dgm:spPr/>
      <dgm:t>
        <a:bodyPr/>
        <a:lstStyle/>
        <a:p>
          <a:endParaRPr lang="en-US"/>
        </a:p>
      </dgm:t>
    </dgm:pt>
    <dgm:pt modelId="{377E67BD-9030-4985-BE13-A308AC74D63C}" type="pres">
      <dgm:prSet presAssocID="{7E8729A7-5B1F-42FC-9F3D-CA53A3CCF221}" presName="diagram" presStyleCnt="0">
        <dgm:presLayoutVars>
          <dgm:dir/>
          <dgm:resizeHandles/>
        </dgm:presLayoutVars>
      </dgm:prSet>
      <dgm:spPr/>
    </dgm:pt>
    <dgm:pt modelId="{ED6C6F54-CA5D-44E0-99F2-D81C845CBDBC}" type="pres">
      <dgm:prSet presAssocID="{1ED6ED5A-467C-4F30-929E-41BEA3DB9D92}" presName="firstNode" presStyleLbl="node1" presStyleIdx="0" presStyleCnt="5" custScaleX="89389" custScaleY="88076" custLinFactNeighborX="9220" custLinFactNeighborY="1740">
        <dgm:presLayoutVars>
          <dgm:bulletEnabled val="1"/>
        </dgm:presLayoutVars>
      </dgm:prSet>
      <dgm:spPr/>
    </dgm:pt>
    <dgm:pt modelId="{8DDBE9A6-219B-4256-A751-971F6508DCC4}" type="pres">
      <dgm:prSet presAssocID="{D28D7E67-7ACD-4B45-974C-99BB177BE77C}" presName="sibTrans" presStyleLbl="sibTrans2D1" presStyleIdx="0" presStyleCnt="4"/>
      <dgm:spPr/>
    </dgm:pt>
    <dgm:pt modelId="{D8BAE144-E790-418E-88AA-83960EBDA346}" type="pres">
      <dgm:prSet presAssocID="{0D0A09AC-0A35-45BC-A7EA-B338D27F2188}" presName="middleNode" presStyleCnt="0"/>
      <dgm:spPr/>
    </dgm:pt>
    <dgm:pt modelId="{56D330F2-41BF-4B23-A6A0-FB6CEDD7960C}" type="pres">
      <dgm:prSet presAssocID="{0D0A09AC-0A35-45BC-A7EA-B338D27F2188}" presName="padding" presStyleLbl="node1" presStyleIdx="0" presStyleCnt="5"/>
      <dgm:spPr/>
    </dgm:pt>
    <dgm:pt modelId="{082D34BF-5B9F-4DEA-8208-F833C239E216}" type="pres">
      <dgm:prSet presAssocID="{0D0A09AC-0A35-45BC-A7EA-B338D27F2188}" presName="shape" presStyleLbl="node1" presStyleIdx="1" presStyleCnt="5" custScaleX="195454" custScaleY="110700" custLinFactNeighborX="15232" custLinFactNeighborY="1587">
        <dgm:presLayoutVars>
          <dgm:bulletEnabled val="1"/>
        </dgm:presLayoutVars>
      </dgm:prSet>
      <dgm:spPr/>
    </dgm:pt>
    <dgm:pt modelId="{8829A2BB-77FC-462E-AF96-B703D5EC2D8B}" type="pres">
      <dgm:prSet presAssocID="{A8C82F9C-493C-410C-847A-1398C45AFE81}" presName="sibTrans" presStyleLbl="sibTrans2D1" presStyleIdx="1" presStyleCnt="4"/>
      <dgm:spPr/>
    </dgm:pt>
    <dgm:pt modelId="{658F4991-3917-462C-AD3F-68DFFEDE1C56}" type="pres">
      <dgm:prSet presAssocID="{654247AB-1F19-442F-A9D0-4B4386ECD6A6}" presName="middleNode" presStyleCnt="0"/>
      <dgm:spPr/>
    </dgm:pt>
    <dgm:pt modelId="{EEF50E97-6DD1-4F55-A363-4C3F0907CCDA}" type="pres">
      <dgm:prSet presAssocID="{654247AB-1F19-442F-A9D0-4B4386ECD6A6}" presName="padding" presStyleLbl="node1" presStyleIdx="1" presStyleCnt="5"/>
      <dgm:spPr/>
    </dgm:pt>
    <dgm:pt modelId="{A258FD17-6F53-4044-9755-C597A960D811}" type="pres">
      <dgm:prSet presAssocID="{654247AB-1F19-442F-A9D0-4B4386ECD6A6}" presName="shape" presStyleLbl="node1" presStyleIdx="2" presStyleCnt="5" custScaleX="177981" custScaleY="110700" custLinFactNeighborX="7197" custLinFactNeighborY="720">
        <dgm:presLayoutVars>
          <dgm:bulletEnabled val="1"/>
        </dgm:presLayoutVars>
      </dgm:prSet>
      <dgm:spPr/>
    </dgm:pt>
    <dgm:pt modelId="{FAAB16DB-56EB-4BC1-80AB-80297BEFB1F6}" type="pres">
      <dgm:prSet presAssocID="{03836ED9-3C54-4095-8AD3-8095E82F70BF}" presName="sibTrans" presStyleLbl="sibTrans2D1" presStyleIdx="2" presStyleCnt="4"/>
      <dgm:spPr/>
    </dgm:pt>
    <dgm:pt modelId="{36061773-B163-490F-973B-81D12A77E1F8}" type="pres">
      <dgm:prSet presAssocID="{DF0524C9-B73E-4A0A-AA1B-4AE66C0DC079}" presName="middleNode" presStyleCnt="0"/>
      <dgm:spPr/>
    </dgm:pt>
    <dgm:pt modelId="{0F4A82D2-993C-4D24-9168-D3010637B580}" type="pres">
      <dgm:prSet presAssocID="{DF0524C9-B73E-4A0A-AA1B-4AE66C0DC079}" presName="padding" presStyleLbl="node1" presStyleIdx="2" presStyleCnt="5"/>
      <dgm:spPr/>
    </dgm:pt>
    <dgm:pt modelId="{936818CD-89A1-4E14-96F5-34BF5F340DEB}" type="pres">
      <dgm:prSet presAssocID="{DF0524C9-B73E-4A0A-AA1B-4AE66C0DC079}" presName="shape" presStyleLbl="node1" presStyleIdx="3" presStyleCnt="5" custScaleX="179212" custScaleY="110700" custLinFactNeighborX="3887" custLinFactNeighborY="-1536">
        <dgm:presLayoutVars>
          <dgm:bulletEnabled val="1"/>
        </dgm:presLayoutVars>
      </dgm:prSet>
      <dgm:spPr/>
    </dgm:pt>
    <dgm:pt modelId="{49A15CA4-DA5A-4F06-9DEA-9574747213EE}" type="pres">
      <dgm:prSet presAssocID="{CED2B82A-8380-440B-83EA-B37AE448C405}" presName="sibTrans" presStyleLbl="sibTrans2D1" presStyleIdx="3" presStyleCnt="4" custLinFactNeighborX="-9338"/>
      <dgm:spPr/>
    </dgm:pt>
    <dgm:pt modelId="{E7F9E5FB-E013-4C6B-A3B8-ACC6A3288719}" type="pres">
      <dgm:prSet presAssocID="{0C629E6E-FEC7-4D64-B1C0-B9AE9A7757D5}" presName="lastNode" presStyleLbl="node1" presStyleIdx="4" presStyleCnt="5" custScaleX="115554" custScaleY="105461" custLinFactNeighborX="-6562" custLinFactNeighborY="1514">
        <dgm:presLayoutVars>
          <dgm:bulletEnabled val="1"/>
        </dgm:presLayoutVars>
      </dgm:prSet>
      <dgm:spPr/>
    </dgm:pt>
  </dgm:ptLst>
  <dgm:cxnLst>
    <dgm:cxn modelId="{4D832A11-963C-4532-9155-CD1D9052DA6B}" type="presOf" srcId="{1ED6ED5A-467C-4F30-929E-41BEA3DB9D92}" destId="{ED6C6F54-CA5D-44E0-99F2-D81C845CBDBC}" srcOrd="0" destOrd="0" presId="urn:microsoft.com/office/officeart/2005/8/layout/bProcess2"/>
    <dgm:cxn modelId="{C385BA21-E96D-443E-B14D-5F7FC809CFC2}" srcId="{7E8729A7-5B1F-42FC-9F3D-CA53A3CCF221}" destId="{0D0A09AC-0A35-45BC-A7EA-B338D27F2188}" srcOrd="1" destOrd="0" parTransId="{300FD49E-A0AF-4680-B220-F20187A2188D}" sibTransId="{A8C82F9C-493C-410C-847A-1398C45AFE81}"/>
    <dgm:cxn modelId="{BA0E222E-1A4F-424C-B493-1D80A0FE3A04}" type="presOf" srcId="{D28D7E67-7ACD-4B45-974C-99BB177BE77C}" destId="{8DDBE9A6-219B-4256-A751-971F6508DCC4}" srcOrd="0" destOrd="0" presId="urn:microsoft.com/office/officeart/2005/8/layout/bProcess2"/>
    <dgm:cxn modelId="{3F07F235-2498-43F1-A3ED-5FC826AAC8BD}" type="presOf" srcId="{0D0A09AC-0A35-45BC-A7EA-B338D27F2188}" destId="{082D34BF-5B9F-4DEA-8208-F833C239E216}" srcOrd="0" destOrd="0" presId="urn:microsoft.com/office/officeart/2005/8/layout/bProcess2"/>
    <dgm:cxn modelId="{B6646E41-D37D-4264-B51B-8BFF034BD2DF}" type="presOf" srcId="{A8C82F9C-493C-410C-847A-1398C45AFE81}" destId="{8829A2BB-77FC-462E-AF96-B703D5EC2D8B}" srcOrd="0" destOrd="0" presId="urn:microsoft.com/office/officeart/2005/8/layout/bProcess2"/>
    <dgm:cxn modelId="{B56AE943-F4D4-4FB3-B770-B314276DEA89}" type="presOf" srcId="{03836ED9-3C54-4095-8AD3-8095E82F70BF}" destId="{FAAB16DB-56EB-4BC1-80AB-80297BEFB1F6}" srcOrd="0" destOrd="0" presId="urn:microsoft.com/office/officeart/2005/8/layout/bProcess2"/>
    <dgm:cxn modelId="{AE92424B-D424-4BF1-ABE4-7BF23611E3A7}" type="presOf" srcId="{7E8729A7-5B1F-42FC-9F3D-CA53A3CCF221}" destId="{377E67BD-9030-4985-BE13-A308AC74D63C}" srcOrd="0" destOrd="0" presId="urn:microsoft.com/office/officeart/2005/8/layout/bProcess2"/>
    <dgm:cxn modelId="{6F729995-4710-4CA9-8C48-E739DA1A6C9A}" type="presOf" srcId="{0C629E6E-FEC7-4D64-B1C0-B9AE9A7757D5}" destId="{E7F9E5FB-E013-4C6B-A3B8-ACC6A3288719}" srcOrd="0" destOrd="0" presId="urn:microsoft.com/office/officeart/2005/8/layout/bProcess2"/>
    <dgm:cxn modelId="{EB403E96-38B6-4D50-82DE-387F8797B0A4}" srcId="{7E8729A7-5B1F-42FC-9F3D-CA53A3CCF221}" destId="{DF0524C9-B73E-4A0A-AA1B-4AE66C0DC079}" srcOrd="3" destOrd="0" parTransId="{70EEDA2D-A388-4BE3-8B62-828DE89774C6}" sibTransId="{CED2B82A-8380-440B-83EA-B37AE448C405}"/>
    <dgm:cxn modelId="{5BD4B8B0-E313-4D9F-852A-B0FE2B874A66}" type="presOf" srcId="{CED2B82A-8380-440B-83EA-B37AE448C405}" destId="{49A15CA4-DA5A-4F06-9DEA-9574747213EE}" srcOrd="0" destOrd="0" presId="urn:microsoft.com/office/officeart/2005/8/layout/bProcess2"/>
    <dgm:cxn modelId="{F73DF2CA-25F0-4C6A-A3AC-7D3304CA77BC}" srcId="{7E8729A7-5B1F-42FC-9F3D-CA53A3CCF221}" destId="{0C629E6E-FEC7-4D64-B1C0-B9AE9A7757D5}" srcOrd="4" destOrd="0" parTransId="{96BAE23F-F3EE-4D77-9CBE-1C718D69CA63}" sibTransId="{22D24C19-85A8-4CE3-8E8E-98C79E94D015}"/>
    <dgm:cxn modelId="{6E219CD1-0DB7-45EC-9A73-4839E296C5B9}" srcId="{7E8729A7-5B1F-42FC-9F3D-CA53A3CCF221}" destId="{1ED6ED5A-467C-4F30-929E-41BEA3DB9D92}" srcOrd="0" destOrd="0" parTransId="{1ADE535A-2B16-40C1-BBBD-D27E94D38C8F}" sibTransId="{D28D7E67-7ACD-4B45-974C-99BB177BE77C}"/>
    <dgm:cxn modelId="{4E2CB0DF-A28E-46D2-A2EA-31B53322123B}" type="presOf" srcId="{DF0524C9-B73E-4A0A-AA1B-4AE66C0DC079}" destId="{936818CD-89A1-4E14-96F5-34BF5F340DEB}" srcOrd="0" destOrd="0" presId="urn:microsoft.com/office/officeart/2005/8/layout/bProcess2"/>
    <dgm:cxn modelId="{D27621E6-8FA6-4589-872C-FDCA3EFB9987}" type="presOf" srcId="{654247AB-1F19-442F-A9D0-4B4386ECD6A6}" destId="{A258FD17-6F53-4044-9755-C597A960D811}" srcOrd="0" destOrd="0" presId="urn:microsoft.com/office/officeart/2005/8/layout/bProcess2"/>
    <dgm:cxn modelId="{E353EAE8-2C9E-4C93-8845-BA8566AB4AE1}" srcId="{7E8729A7-5B1F-42FC-9F3D-CA53A3CCF221}" destId="{654247AB-1F19-442F-A9D0-4B4386ECD6A6}" srcOrd="2" destOrd="0" parTransId="{C93E671B-4576-41DA-8F70-E24942EB61CC}" sibTransId="{03836ED9-3C54-4095-8AD3-8095E82F70BF}"/>
    <dgm:cxn modelId="{B4EE77F5-7173-4315-95CC-9FB3CD5B7805}" type="presParOf" srcId="{377E67BD-9030-4985-BE13-A308AC74D63C}" destId="{ED6C6F54-CA5D-44E0-99F2-D81C845CBDBC}" srcOrd="0" destOrd="0" presId="urn:microsoft.com/office/officeart/2005/8/layout/bProcess2"/>
    <dgm:cxn modelId="{576C2DC7-8F0A-4BA5-A7FA-30019F42C3A7}" type="presParOf" srcId="{377E67BD-9030-4985-BE13-A308AC74D63C}" destId="{8DDBE9A6-219B-4256-A751-971F6508DCC4}" srcOrd="1" destOrd="0" presId="urn:microsoft.com/office/officeart/2005/8/layout/bProcess2"/>
    <dgm:cxn modelId="{EC29B215-A5D4-4B78-A54B-2C1EF83749C1}" type="presParOf" srcId="{377E67BD-9030-4985-BE13-A308AC74D63C}" destId="{D8BAE144-E790-418E-88AA-83960EBDA346}" srcOrd="2" destOrd="0" presId="urn:microsoft.com/office/officeart/2005/8/layout/bProcess2"/>
    <dgm:cxn modelId="{5F8E0690-E9C8-45F8-B5E2-708803623677}" type="presParOf" srcId="{D8BAE144-E790-418E-88AA-83960EBDA346}" destId="{56D330F2-41BF-4B23-A6A0-FB6CEDD7960C}" srcOrd="0" destOrd="0" presId="urn:microsoft.com/office/officeart/2005/8/layout/bProcess2"/>
    <dgm:cxn modelId="{F4D69F6B-BC99-4657-89BC-660168347E45}" type="presParOf" srcId="{D8BAE144-E790-418E-88AA-83960EBDA346}" destId="{082D34BF-5B9F-4DEA-8208-F833C239E216}" srcOrd="1" destOrd="0" presId="urn:microsoft.com/office/officeart/2005/8/layout/bProcess2"/>
    <dgm:cxn modelId="{2E9B6760-8000-415B-B449-829315364D69}" type="presParOf" srcId="{377E67BD-9030-4985-BE13-A308AC74D63C}" destId="{8829A2BB-77FC-462E-AF96-B703D5EC2D8B}" srcOrd="3" destOrd="0" presId="urn:microsoft.com/office/officeart/2005/8/layout/bProcess2"/>
    <dgm:cxn modelId="{A06357CD-26AD-4FAD-B4B1-3F71C81A8925}" type="presParOf" srcId="{377E67BD-9030-4985-BE13-A308AC74D63C}" destId="{658F4991-3917-462C-AD3F-68DFFEDE1C56}" srcOrd="4" destOrd="0" presId="urn:microsoft.com/office/officeart/2005/8/layout/bProcess2"/>
    <dgm:cxn modelId="{A87142A7-E481-4D7C-A2C6-F29585C91889}" type="presParOf" srcId="{658F4991-3917-462C-AD3F-68DFFEDE1C56}" destId="{EEF50E97-6DD1-4F55-A363-4C3F0907CCDA}" srcOrd="0" destOrd="0" presId="urn:microsoft.com/office/officeart/2005/8/layout/bProcess2"/>
    <dgm:cxn modelId="{460B3FCA-0079-4447-B862-AB95CE59F240}" type="presParOf" srcId="{658F4991-3917-462C-AD3F-68DFFEDE1C56}" destId="{A258FD17-6F53-4044-9755-C597A960D811}" srcOrd="1" destOrd="0" presId="urn:microsoft.com/office/officeart/2005/8/layout/bProcess2"/>
    <dgm:cxn modelId="{8D7E8819-AF93-4DC5-B10E-C743EF4F054C}" type="presParOf" srcId="{377E67BD-9030-4985-BE13-A308AC74D63C}" destId="{FAAB16DB-56EB-4BC1-80AB-80297BEFB1F6}" srcOrd="5" destOrd="0" presId="urn:microsoft.com/office/officeart/2005/8/layout/bProcess2"/>
    <dgm:cxn modelId="{F501E288-B8CF-4CD8-8FC9-2BE5A66CCC41}" type="presParOf" srcId="{377E67BD-9030-4985-BE13-A308AC74D63C}" destId="{36061773-B163-490F-973B-81D12A77E1F8}" srcOrd="6" destOrd="0" presId="urn:microsoft.com/office/officeart/2005/8/layout/bProcess2"/>
    <dgm:cxn modelId="{6D08955E-5DA5-4FD2-9B14-7B97EE5AFEAB}" type="presParOf" srcId="{36061773-B163-490F-973B-81D12A77E1F8}" destId="{0F4A82D2-993C-4D24-9168-D3010637B580}" srcOrd="0" destOrd="0" presId="urn:microsoft.com/office/officeart/2005/8/layout/bProcess2"/>
    <dgm:cxn modelId="{A49D0D89-9EAD-4B13-9D92-A681D1165EC4}" type="presParOf" srcId="{36061773-B163-490F-973B-81D12A77E1F8}" destId="{936818CD-89A1-4E14-96F5-34BF5F340DEB}" srcOrd="1" destOrd="0" presId="urn:microsoft.com/office/officeart/2005/8/layout/bProcess2"/>
    <dgm:cxn modelId="{8DBBF7A7-102E-4FDD-AF11-24339F94B95E}" type="presParOf" srcId="{377E67BD-9030-4985-BE13-A308AC74D63C}" destId="{49A15CA4-DA5A-4F06-9DEA-9574747213EE}" srcOrd="7" destOrd="0" presId="urn:microsoft.com/office/officeart/2005/8/layout/bProcess2"/>
    <dgm:cxn modelId="{2709C209-EEEB-4E09-98F2-5B6658BAD1A3}" type="presParOf" srcId="{377E67BD-9030-4985-BE13-A308AC74D63C}" destId="{E7F9E5FB-E013-4C6B-A3B8-ACC6A3288719}" srcOrd="8"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6C6F54-CA5D-44E0-99F2-D81C845CBDBC}">
      <dsp:nvSpPr>
        <dsp:cNvPr id="0" name=""/>
        <dsp:cNvSpPr/>
      </dsp:nvSpPr>
      <dsp:spPr>
        <a:xfrm>
          <a:off x="344439" y="672089"/>
          <a:ext cx="1027215" cy="10121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Text Input</a:t>
          </a:r>
        </a:p>
      </dsp:txBody>
      <dsp:txXfrm>
        <a:off x="494871" y="820312"/>
        <a:ext cx="726351" cy="715681"/>
      </dsp:txXfrm>
    </dsp:sp>
    <dsp:sp modelId="{8DDBE9A6-219B-4256-A751-971F6508DCC4}">
      <dsp:nvSpPr>
        <dsp:cNvPr id="0" name=""/>
        <dsp:cNvSpPr/>
      </dsp:nvSpPr>
      <dsp:spPr>
        <a:xfrm rot="10774831">
          <a:off x="662696" y="1838793"/>
          <a:ext cx="402203" cy="24966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2D34BF-5B9F-4DEA-8208-F833C239E216}">
      <dsp:nvSpPr>
        <dsp:cNvPr id="0" name=""/>
        <dsp:cNvSpPr/>
      </dsp:nvSpPr>
      <dsp:spPr>
        <a:xfrm>
          <a:off x="119783" y="2228915"/>
          <a:ext cx="1498124" cy="8484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Tokenization</a:t>
          </a:r>
        </a:p>
      </dsp:txBody>
      <dsp:txXfrm>
        <a:off x="339178" y="2353175"/>
        <a:ext cx="1059334" cy="599978"/>
      </dsp:txXfrm>
    </dsp:sp>
    <dsp:sp modelId="{8829A2BB-77FC-462E-AF96-B703D5EC2D8B}">
      <dsp:nvSpPr>
        <dsp:cNvPr id="0" name=""/>
        <dsp:cNvSpPr/>
      </dsp:nvSpPr>
      <dsp:spPr>
        <a:xfrm rot="5388278">
          <a:off x="1682724" y="2524870"/>
          <a:ext cx="402203" cy="24966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258FD17-6F53-4044-9755-C597A960D811}">
      <dsp:nvSpPr>
        <dsp:cNvPr id="0" name=""/>
        <dsp:cNvSpPr/>
      </dsp:nvSpPr>
      <dsp:spPr>
        <a:xfrm>
          <a:off x="2135615" y="2222270"/>
          <a:ext cx="1364196" cy="8484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Contextual Embedding</a:t>
          </a:r>
        </a:p>
      </dsp:txBody>
      <dsp:txXfrm>
        <a:off x="2335397" y="2346530"/>
        <a:ext cx="964632" cy="599978"/>
      </dsp:txXfrm>
    </dsp:sp>
    <dsp:sp modelId="{FAAB16DB-56EB-4BC1-80AB-80297BEFB1F6}">
      <dsp:nvSpPr>
        <dsp:cNvPr id="0" name=""/>
        <dsp:cNvSpPr/>
      </dsp:nvSpPr>
      <dsp:spPr>
        <a:xfrm rot="21544404">
          <a:off x="2603812" y="1730297"/>
          <a:ext cx="402203" cy="24966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6818CD-89A1-4E14-96F5-34BF5F340DEB}">
      <dsp:nvSpPr>
        <dsp:cNvPr id="0" name=""/>
        <dsp:cNvSpPr/>
      </dsp:nvSpPr>
      <dsp:spPr>
        <a:xfrm>
          <a:off x="2105526" y="653622"/>
          <a:ext cx="1373632" cy="8484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Position Embedding</a:t>
          </a:r>
        </a:p>
      </dsp:txBody>
      <dsp:txXfrm>
        <a:off x="2306690" y="777882"/>
        <a:ext cx="971304" cy="599978"/>
      </dsp:txXfrm>
    </dsp:sp>
    <dsp:sp modelId="{49A15CA4-DA5A-4F06-9DEA-9574747213EE}">
      <dsp:nvSpPr>
        <dsp:cNvPr id="0" name=""/>
        <dsp:cNvSpPr/>
      </dsp:nvSpPr>
      <dsp:spPr>
        <a:xfrm rot="5514318">
          <a:off x="3496216" y="983919"/>
          <a:ext cx="402203" cy="24966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F9E5FB-E013-4C6B-A3B8-ACC6A3288719}">
      <dsp:nvSpPr>
        <dsp:cNvPr id="0" name=""/>
        <dsp:cNvSpPr/>
      </dsp:nvSpPr>
      <dsp:spPr>
        <a:xfrm>
          <a:off x="3948534" y="532467"/>
          <a:ext cx="1327891" cy="121190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Numerical Embedding</a:t>
          </a:r>
        </a:p>
      </dsp:txBody>
      <dsp:txXfrm>
        <a:off x="4142999" y="709947"/>
        <a:ext cx="938961" cy="856947"/>
      </dsp:txXfrm>
    </dsp:sp>
  </dsp:spTree>
</dsp:drawing>
</file>

<file path=ppt/diagrams/layout1.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accent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cap="none" dirty="0">
                <a:solidFill>
                  <a:schemeClr val="accent1"/>
                </a:solidFill>
                <a:effectLst/>
                <a:latin typeface="Calibri"/>
                <a:ea typeface="Calibri"/>
                <a:cs typeface="Calibri"/>
                <a:sym typeface="Calibri"/>
              </a:rPr>
              <a:t>Hello guys, I will talk about the LLM and some real-world applications today. </a:t>
            </a:r>
            <a:endParaRPr dirty="0"/>
          </a:p>
        </p:txBody>
      </p:sp>
      <p:sp>
        <p:nvSpPr>
          <p:cNvPr id="91" name="Google Shape;9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2A47B29D-B1D8-0A44-84D4-C79C9CBFD629}"/>
            </a:ext>
          </a:extLst>
        </p:cNvPr>
        <p:cNvGrpSpPr/>
        <p:nvPr/>
      </p:nvGrpSpPr>
      <p:grpSpPr>
        <a:xfrm>
          <a:off x="0" y="0"/>
          <a:ext cx="0" cy="0"/>
          <a:chOff x="0" y="0"/>
          <a:chExt cx="0" cy="0"/>
        </a:xfrm>
      </p:grpSpPr>
      <p:sp>
        <p:nvSpPr>
          <p:cNvPr id="103" name="Google Shape;103;p17:notes">
            <a:extLst>
              <a:ext uri="{FF2B5EF4-FFF2-40B4-BE49-F238E27FC236}">
                <a16:creationId xmlns:a16="http://schemas.microsoft.com/office/drawing/2014/main" id="{F28FAB5A-6CD0-A450-F115-97BC20DD1922}"/>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cap="none" dirty="0">
                <a:solidFill>
                  <a:schemeClr val="accent1"/>
                </a:solidFill>
                <a:effectLst/>
                <a:latin typeface="Calibri"/>
                <a:ea typeface="Calibri"/>
                <a:cs typeface="Calibri"/>
                <a:sym typeface="Calibri"/>
              </a:rPr>
              <a:t>Now, lets first understand what is </a:t>
            </a:r>
            <a:r>
              <a:rPr lang="en-US" sz="1200" b="0" i="0" u="none" strike="noStrike" cap="none" dirty="0" err="1">
                <a:solidFill>
                  <a:schemeClr val="accent1"/>
                </a:solidFill>
                <a:effectLst/>
                <a:latin typeface="Calibri"/>
                <a:ea typeface="Calibri"/>
                <a:cs typeface="Calibri"/>
                <a:sym typeface="Calibri"/>
              </a:rPr>
              <a:t>llms</a:t>
            </a:r>
            <a:r>
              <a:rPr lang="en-US" sz="1200" b="0" i="0" u="none" strike="noStrike" cap="none" dirty="0">
                <a:solidFill>
                  <a:schemeClr val="accent1"/>
                </a:solidFill>
                <a:effectLst/>
                <a:latin typeface="Calibri"/>
                <a:ea typeface="Calibri"/>
                <a:cs typeface="Calibri"/>
                <a:sym typeface="Calibri"/>
              </a:rPr>
              <a:t>.</a:t>
            </a:r>
            <a:endParaRPr dirty="0"/>
          </a:p>
        </p:txBody>
      </p:sp>
      <p:sp>
        <p:nvSpPr>
          <p:cNvPr id="104" name="Google Shape;104;p17:notes">
            <a:extLst>
              <a:ext uri="{FF2B5EF4-FFF2-40B4-BE49-F238E27FC236}">
                <a16:creationId xmlns:a16="http://schemas.microsoft.com/office/drawing/2014/main" id="{98913D11-5A59-5235-F556-BEE1E2526E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48846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rtl="0"/>
            <a:r>
              <a:rPr lang="en-US" sz="1200" b="0" i="0" u="none" strike="noStrike" cap="none" dirty="0">
                <a:solidFill>
                  <a:schemeClr val="accent1"/>
                </a:solidFill>
                <a:effectLst/>
                <a:latin typeface="Calibri"/>
                <a:ea typeface="Calibri"/>
                <a:cs typeface="Calibri"/>
                <a:sym typeface="Calibri"/>
              </a:rPr>
              <a:t>We are all familiar with the </a:t>
            </a:r>
            <a:r>
              <a:rPr lang="en-US" sz="1200" b="0" i="0" u="none" strike="noStrike" cap="none" dirty="0" err="1">
                <a:solidFill>
                  <a:schemeClr val="accent1"/>
                </a:solidFill>
                <a:effectLst/>
                <a:latin typeface="Calibri"/>
                <a:ea typeface="Calibri"/>
                <a:cs typeface="Calibri"/>
                <a:sym typeface="Calibri"/>
              </a:rPr>
              <a:t>Chatgpt</a:t>
            </a:r>
            <a:r>
              <a:rPr lang="en-US" sz="1200" b="0" i="0" u="none" strike="noStrike" cap="none" dirty="0">
                <a:solidFill>
                  <a:schemeClr val="accent1"/>
                </a:solidFill>
                <a:effectLst/>
                <a:latin typeface="Calibri"/>
                <a:ea typeface="Calibri"/>
                <a:cs typeface="Calibri"/>
                <a:sym typeface="Calibri"/>
              </a:rPr>
              <a:t>, and for some people, it is already a good teacher or a good assistant that can help us improve the efficiency for many tasks. From the report, we can know that </a:t>
            </a:r>
            <a:r>
              <a:rPr lang="en-US" sz="1200" b="0" i="0" u="none" strike="noStrike" cap="none" dirty="0" err="1">
                <a:solidFill>
                  <a:schemeClr val="accent1"/>
                </a:solidFill>
                <a:effectLst/>
                <a:latin typeface="Calibri"/>
                <a:ea typeface="Calibri"/>
                <a:cs typeface="Calibri"/>
                <a:sym typeface="Calibri"/>
              </a:rPr>
              <a:t>Chatgpt</a:t>
            </a:r>
            <a:r>
              <a:rPr lang="en-US" sz="1200" b="0" i="0" u="none" strike="noStrike" cap="none" dirty="0">
                <a:solidFill>
                  <a:schemeClr val="accent1"/>
                </a:solidFill>
                <a:effectLst/>
                <a:latin typeface="Calibri"/>
                <a:ea typeface="Calibri"/>
                <a:cs typeface="Calibri"/>
                <a:sym typeface="Calibri"/>
              </a:rPr>
              <a:t> adoption by college aged students is around Top25 in Virginia.</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But, not everyone knows what is LLM looks </a:t>
            </a:r>
            <a:r>
              <a:rPr lang="en-US" sz="1200" b="0" i="0" u="none" strike="noStrike" cap="none" dirty="0" err="1">
                <a:solidFill>
                  <a:schemeClr val="accent1"/>
                </a:solidFill>
                <a:effectLst/>
                <a:latin typeface="Calibri"/>
                <a:ea typeface="Calibri"/>
                <a:cs typeface="Calibri"/>
                <a:sym typeface="Calibri"/>
              </a:rPr>
              <a:t>lke</a:t>
            </a:r>
            <a:r>
              <a:rPr lang="en-US" sz="1200" b="0" i="0" u="none" strike="noStrike" cap="none" dirty="0">
                <a:solidFill>
                  <a:schemeClr val="accent1"/>
                </a:solidFill>
                <a:effectLst/>
                <a:latin typeface="Calibri"/>
                <a:ea typeface="Calibri"/>
                <a:cs typeface="Calibri"/>
                <a:sym typeface="Calibri"/>
              </a:rPr>
              <a:t> and how does LLM reply to us. Additionally, what is the underlying task that the GPT is performing, since we can easily know it is not the classification or regression tasks we are familiar with.</a:t>
            </a:r>
            <a:endParaRPr lang="en-US" b="0" dirty="0">
              <a:effectLst/>
            </a:endParaRPr>
          </a:p>
          <a:p>
            <a:br>
              <a:rPr lang="en-US" dirty="0"/>
            </a:br>
            <a:endParaRPr dirty="0"/>
          </a:p>
        </p:txBody>
      </p:sp>
      <p:sp>
        <p:nvSpPr>
          <p:cNvPr id="133" name="Google Shape;13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To make it easy understand, let me first explain with the general language model with one of the most famous “transformer” architecture in the Natural Language Processing domain. The workflow shows how the human understandable input is converted to what  the model can process. The textual input is first converted to the different segmentations, which is called “tokenization”, then these words in the sequence gets an embedding, which is mapped to numerical representation values, capturing its meaning and position in the sentence. This conversion from tokens to the numerical embedding is performed by Encoder, and this process is known as embedding, and the process to convert back to the words is done by Decoder. </a:t>
            </a:r>
            <a:endParaRPr lang="en-US" dirty="0"/>
          </a:p>
        </p:txBody>
      </p:sp>
    </p:spTree>
    <p:extLst>
      <p:ext uri="{BB962C8B-B14F-4D97-AF65-F5344CB8AC3E}">
        <p14:creationId xmlns:p14="http://schemas.microsoft.com/office/powerpoint/2010/main" val="1613272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Now, let’s take a look at the entire architecture of the Transformer.</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What makes it so powerful is not </a:t>
            </a:r>
            <a:r>
              <a:rPr lang="en-US" sz="1200" b="0" i="0" u="none" strike="noStrike" cap="none" dirty="0" err="1">
                <a:solidFill>
                  <a:schemeClr val="accent1"/>
                </a:solidFill>
                <a:effectLst/>
                <a:latin typeface="Calibri"/>
                <a:ea typeface="Calibri"/>
                <a:cs typeface="Calibri"/>
                <a:sym typeface="Calibri"/>
              </a:rPr>
              <a:t>justit</a:t>
            </a:r>
            <a:r>
              <a:rPr lang="en-US" sz="1200" b="0" i="0" u="none" strike="noStrike" cap="none" dirty="0">
                <a:solidFill>
                  <a:schemeClr val="accent1"/>
                </a:solidFill>
                <a:effectLst/>
                <a:latin typeface="Calibri"/>
                <a:ea typeface="Calibri"/>
                <a:cs typeface="Calibri"/>
                <a:sym typeface="Calibri"/>
              </a:rPr>
              <a:t> can handle long input sequences, often up to 512 tokens or more—but also its ability to understand contextual relationships between words across a whole paragraph or even multiple sentences.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Let’s imagine a task like machine translation. If we feed in a sentence in English, the goal is to predict the corresponding sentence in another language, like French or Chinese.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To do this, the model learns to predict one word at a time in the target language. At each step, it outputs a probability distribution—that’s what we see on top of the model—a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layer, which tells us how likely each possible word is to come next.</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And during training, we use something called cross-entropy loss to compare the model’s prediction with the actual correct word. This is how the model learns.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Next, we’ll talk more details in to understand how the two main parts—the encoder and the decoder—actually work.</a:t>
            </a:r>
            <a:endParaRPr lang="en-US" b="0" dirty="0">
              <a:effectLst/>
            </a:endParaRPr>
          </a:p>
          <a:p>
            <a:br>
              <a:rPr lang="en-US" dirty="0"/>
            </a:br>
            <a:endParaRPr lang="en-US" dirty="0"/>
          </a:p>
        </p:txBody>
      </p:sp>
    </p:spTree>
    <p:extLst>
      <p:ext uri="{BB962C8B-B14F-4D97-AF65-F5344CB8AC3E}">
        <p14:creationId xmlns:p14="http://schemas.microsoft.com/office/powerpoint/2010/main" val="158536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The encoder is the first half of the transformer. Its job is to convert human-readable language into a machine-friendly representation.</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Now, to make this more efficient, the transformer uses multiple encoder blocks working in parallel—this is part of what makes it so fast and scalable. Inside each block, we use something called the attention mechanism, powered by three key components:</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Query, Key, and Value—or Q, K, and V.</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Here’s a simple way to think about them:</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Query is the current word asking a question. It says, ‘What am I looking for in this sentence?’</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Key is every word in the sentence saying who can offer the information</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Value is the actual information attached to each word, like its meaning or role.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So, every word compares its query to all the keys, and gathers information from the values it finds most relevant.</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This helps the model understand not just the meaning of individual words, but how they relate to one another in context</a:t>
            </a:r>
            <a:endParaRPr lang="en-US" b="0" dirty="0">
              <a:effectLst/>
            </a:endParaRPr>
          </a:p>
          <a:p>
            <a:br>
              <a:rPr lang="en-US" dirty="0"/>
            </a:br>
            <a:endParaRPr lang="en-US" dirty="0"/>
          </a:p>
        </p:txBody>
      </p:sp>
    </p:spTree>
    <p:extLst>
      <p:ext uri="{BB962C8B-B14F-4D97-AF65-F5344CB8AC3E}">
        <p14:creationId xmlns:p14="http://schemas.microsoft.com/office/powerpoint/2010/main" val="302939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Now, let’s move on to the decoder.</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The decoder’s job is to take that internal representation from the encoder, and generate output, one word at a time.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At each step, the decoder looks at two things:</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What words it has already generated so far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What it learned from the encoder about the input sentence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Using another round of attention, the decoder decides what the next word should be. And just like the encoder, it also uses Q, K, and V to help focus on the right context</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(read slides)</a:t>
            </a:r>
            <a:endParaRPr lang="en-US" b="0" dirty="0">
              <a:effectLst/>
            </a:endParaRPr>
          </a:p>
          <a:p>
            <a:br>
              <a:rPr lang="en-US" dirty="0"/>
            </a:br>
            <a:endParaRPr lang="en-US" dirty="0"/>
          </a:p>
        </p:txBody>
      </p:sp>
    </p:spTree>
    <p:extLst>
      <p:ext uri="{BB962C8B-B14F-4D97-AF65-F5344CB8AC3E}">
        <p14:creationId xmlns:p14="http://schemas.microsoft.com/office/powerpoint/2010/main" val="2386321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Now that we’ve covered most of the concepts on the encoder side, we basically know how the components of decoders work as well. But let’s take a look at how they work together.</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The encoder start by processing the input sequence. The output of the top encoder is then transformed into a set of attention vectors K and V. These are to be used by each decoder in its “encoder-decoder attention” layer which helps the decoder focus on appropriate places in the input sequence. The following steps repeat the process until a special symbol is reached indicating the transformer decoder has completed its output. The output of each step is fed to the bottom decoder in the next time step. And just like we did with the encoder inputs, we embed and add positional encoding to those decoder inputs to indicate the position of each word.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The decoder stack outputs a vector of numbers. How do we turn that into a word? That’s the job of the final Linear layer which is followed by a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Layer.</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The Linear layer is a simple fully connected neural network that projects the vector produced by the stack of decoders, into a much, much larger vector called a logits vector.</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Let’s assume that our model knows 10,000 unique English words (our model’s “output vocabulary”) that it’s learned from its training dataset. This would make the logits vector 10,000 cells wide – each cell corresponding to the score of a unique word. That is how we interpret the output of the model followed by the Linear layer.</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The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layer then turns those scores into probabilities (all positive, all add up to 1.0). The cell with the highest probability is chosen, and the word associated with it is produced as the output for this time step.</a:t>
            </a:r>
            <a:endParaRPr lang="en-US" b="0" dirty="0">
              <a:effectLst/>
            </a:endParaRPr>
          </a:p>
          <a:p>
            <a:br>
              <a:rPr lang="en-US" dirty="0"/>
            </a:br>
            <a:endParaRPr lang="en-US" dirty="0"/>
          </a:p>
        </p:txBody>
      </p:sp>
    </p:spTree>
    <p:extLst>
      <p:ext uri="{BB962C8B-B14F-4D97-AF65-F5344CB8AC3E}">
        <p14:creationId xmlns:p14="http://schemas.microsoft.com/office/powerpoint/2010/main" val="1059184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After learned the most important architecture, the transformer, let’s take see what is the task we are perform. Here is the category of NLP tasks. </a:t>
            </a:r>
            <a:endParaRPr lang="en-US" dirty="0"/>
          </a:p>
        </p:txBody>
      </p:sp>
    </p:spTree>
    <p:extLst>
      <p:ext uri="{BB962C8B-B14F-4D97-AF65-F5344CB8AC3E}">
        <p14:creationId xmlns:p14="http://schemas.microsoft.com/office/powerpoint/2010/main" val="4200074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When we chat with an LLM like ChatGPT, it’s doing a text generation task — predicting one word at a time to generate a full response.</a:t>
            </a:r>
          </a:p>
          <a:p>
            <a:endParaRPr lang="en-US" sz="1200" b="0" i="0" u="none" strike="noStrike" cap="none" dirty="0">
              <a:solidFill>
                <a:schemeClr val="accent1"/>
              </a:solidFill>
              <a:effectLst/>
              <a:latin typeface="Calibri"/>
              <a:cs typeface="Calibri"/>
              <a:sym typeface="Calibri"/>
            </a:endParaRPr>
          </a:p>
          <a:p>
            <a:pPr rtl="0"/>
            <a:r>
              <a:rPr lang="en-US" sz="1200" b="0" i="0" u="none" strike="noStrike" cap="none" dirty="0">
                <a:solidFill>
                  <a:schemeClr val="accent1"/>
                </a:solidFill>
                <a:effectLst/>
                <a:latin typeface="Calibri"/>
                <a:ea typeface="Calibri"/>
                <a:cs typeface="Calibri"/>
                <a:sym typeface="Calibri"/>
              </a:rPr>
              <a:t>Both </a:t>
            </a:r>
            <a:r>
              <a:rPr lang="en-US" sz="1200" b="1" i="0" u="none" strike="noStrike" cap="none" dirty="0">
                <a:solidFill>
                  <a:schemeClr val="accent1"/>
                </a:solidFill>
                <a:effectLst/>
                <a:latin typeface="Calibri"/>
                <a:ea typeface="Calibri"/>
                <a:cs typeface="Calibri"/>
                <a:sym typeface="Calibri"/>
              </a:rPr>
              <a:t>question answering</a:t>
            </a:r>
            <a:r>
              <a:rPr lang="en-US" sz="1200" b="0" i="0" u="none" strike="noStrike" cap="none" dirty="0">
                <a:solidFill>
                  <a:schemeClr val="accent1"/>
                </a:solidFill>
                <a:effectLst/>
                <a:latin typeface="Calibri"/>
                <a:ea typeface="Calibri"/>
                <a:cs typeface="Calibri"/>
                <a:sym typeface="Calibri"/>
              </a:rPr>
              <a:t> and </a:t>
            </a:r>
            <a:r>
              <a:rPr lang="en-US" sz="1200" b="1" i="0" u="none" strike="noStrike" cap="none" dirty="0">
                <a:solidFill>
                  <a:schemeClr val="accent1"/>
                </a:solidFill>
                <a:effectLst/>
                <a:latin typeface="Calibri"/>
                <a:ea typeface="Calibri"/>
                <a:cs typeface="Calibri"/>
                <a:sym typeface="Calibri"/>
              </a:rPr>
              <a:t>language generation</a:t>
            </a:r>
            <a:r>
              <a:rPr lang="en-US" sz="1200" b="0" i="0" u="none" strike="noStrike" cap="none" dirty="0">
                <a:solidFill>
                  <a:schemeClr val="accent1"/>
                </a:solidFill>
                <a:effectLst/>
                <a:latin typeface="Calibri"/>
                <a:ea typeface="Calibri"/>
                <a:cs typeface="Calibri"/>
                <a:sym typeface="Calibri"/>
              </a:rPr>
              <a:t> involve producing a response, but the goals are slightly different: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For QA task, The model tries to find a </a:t>
            </a:r>
            <a:r>
              <a:rPr lang="en-US" sz="1200" b="1" i="0" u="none" strike="noStrike" cap="none" dirty="0">
                <a:solidFill>
                  <a:schemeClr val="accent1"/>
                </a:solidFill>
                <a:effectLst/>
                <a:latin typeface="Calibri"/>
                <a:ea typeface="Calibri"/>
                <a:cs typeface="Calibri"/>
                <a:sym typeface="Calibri"/>
              </a:rPr>
              <a:t>specific answer</a:t>
            </a:r>
            <a:r>
              <a:rPr lang="en-US" sz="1200" b="0" i="0" u="none" strike="noStrike" cap="none" dirty="0">
                <a:solidFill>
                  <a:schemeClr val="accent1"/>
                </a:solidFill>
                <a:effectLst/>
                <a:latin typeface="Calibri"/>
                <a:ea typeface="Calibri"/>
                <a:cs typeface="Calibri"/>
                <a:sym typeface="Calibri"/>
              </a:rPr>
              <a:t> from a given context or its trained knowledge. </a:t>
            </a:r>
            <a:r>
              <a:rPr lang="en-US" sz="1200" b="0" i="1" u="none" strike="noStrike" cap="none" dirty="0">
                <a:solidFill>
                  <a:schemeClr val="accent1"/>
                </a:solidFill>
                <a:effectLst/>
                <a:latin typeface="Calibri"/>
                <a:ea typeface="Calibri"/>
                <a:cs typeface="Calibri"/>
                <a:sym typeface="Calibri"/>
              </a:rPr>
              <a:t>Q: What is the capital of France? A: Paris </a:t>
            </a:r>
            <a:r>
              <a:rPr lang="en-US" sz="1200" b="0" i="0" u="none" strike="noStrike" cap="none" dirty="0">
                <a:solidFill>
                  <a:schemeClr val="accent1"/>
                </a:solidFill>
                <a:effectLst/>
                <a:latin typeface="Calibri"/>
                <a:ea typeface="Calibri"/>
                <a:cs typeface="Calibri"/>
                <a:sym typeface="Calibri"/>
              </a:rPr>
              <a:t>→ The output is short and factual. </a:t>
            </a:r>
            <a:endParaRPr lang="en-US" b="0" dirty="0">
              <a:effectLst/>
            </a:endParaRPr>
          </a:p>
          <a:p>
            <a:r>
              <a:rPr lang="en-US" sz="1200" b="0" i="0" u="none" strike="noStrike" cap="none" dirty="0">
                <a:solidFill>
                  <a:schemeClr val="accent1"/>
                </a:solidFill>
                <a:effectLst/>
                <a:latin typeface="Calibri"/>
                <a:ea typeface="Calibri"/>
                <a:cs typeface="Calibri"/>
                <a:sym typeface="Calibri"/>
              </a:rPr>
              <a:t>For language generation task, The model is more open-ended — it tries to generate long tex</a:t>
            </a:r>
            <a:r>
              <a:rPr lang="en-US" sz="1200" b="1" i="0" u="none" strike="noStrike" cap="none" dirty="0">
                <a:solidFill>
                  <a:schemeClr val="accent1"/>
                </a:solidFill>
                <a:effectLst/>
                <a:latin typeface="Calibri"/>
                <a:ea typeface="Calibri"/>
                <a:cs typeface="Calibri"/>
                <a:sym typeface="Calibri"/>
              </a:rPr>
              <a:t>t</a:t>
            </a:r>
            <a:r>
              <a:rPr lang="en-US" sz="1200" b="0" i="0" u="none" strike="noStrike" cap="none" dirty="0">
                <a:solidFill>
                  <a:schemeClr val="accent1"/>
                </a:solidFill>
                <a:effectLst/>
                <a:latin typeface="Calibri"/>
                <a:ea typeface="Calibri"/>
                <a:cs typeface="Calibri"/>
                <a:sym typeface="Calibri"/>
              </a:rPr>
              <a:t> that makes sense in context. </a:t>
            </a:r>
            <a:r>
              <a:rPr lang="en-US" sz="1200" b="0" i="1" u="none" strike="noStrike" cap="none" dirty="0">
                <a:solidFill>
                  <a:schemeClr val="accent1"/>
                </a:solidFill>
                <a:effectLst/>
                <a:latin typeface="Calibri"/>
                <a:ea typeface="Calibri"/>
                <a:cs typeface="Calibri"/>
                <a:sym typeface="Calibri"/>
              </a:rPr>
              <a:t>Prompt: Tell me a story about a cat who goes to space. Response: Once upon a time, there was a curious cat named Pocky, called the worker at SpaceX… </a:t>
            </a:r>
            <a:r>
              <a:rPr lang="en-US" sz="1200" b="0" i="0" u="none" strike="noStrike" cap="none" dirty="0">
                <a:solidFill>
                  <a:schemeClr val="accent1"/>
                </a:solidFill>
                <a:effectLst/>
                <a:latin typeface="Calibri"/>
                <a:ea typeface="Calibri"/>
                <a:cs typeface="Calibri"/>
                <a:sym typeface="Calibri"/>
              </a:rPr>
              <a:t>→ There’s </a:t>
            </a:r>
            <a:r>
              <a:rPr lang="en-US" sz="1200" b="1" i="0" u="none" strike="noStrike" cap="none" dirty="0">
                <a:solidFill>
                  <a:schemeClr val="accent1"/>
                </a:solidFill>
                <a:effectLst/>
                <a:latin typeface="Calibri"/>
                <a:ea typeface="Calibri"/>
                <a:cs typeface="Calibri"/>
                <a:sym typeface="Calibri"/>
              </a:rPr>
              <a:t>no single “correct” answer</a:t>
            </a:r>
            <a:r>
              <a:rPr lang="en-US" sz="1200" b="0" i="0" u="none" strike="noStrike" cap="none" dirty="0">
                <a:solidFill>
                  <a:schemeClr val="accent1"/>
                </a:solidFill>
                <a:effectLst/>
                <a:latin typeface="Calibri"/>
                <a:ea typeface="Calibri"/>
                <a:cs typeface="Calibri"/>
                <a:sym typeface="Calibri"/>
              </a:rPr>
              <a:t>—just creativity.</a:t>
            </a:r>
            <a:endParaRPr lang="en-US" dirty="0"/>
          </a:p>
        </p:txBody>
      </p:sp>
    </p:spTree>
    <p:extLst>
      <p:ext uri="{BB962C8B-B14F-4D97-AF65-F5344CB8AC3E}">
        <p14:creationId xmlns:p14="http://schemas.microsoft.com/office/powerpoint/2010/main" val="3233344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Here are examples of the language generation task for document, email and meeting summarization. </a:t>
            </a:r>
            <a:endParaRPr lang="en-US" b="0" dirty="0">
              <a:effectLst/>
            </a:endParaRPr>
          </a:p>
          <a:p>
            <a:br>
              <a:rPr lang="en-US" dirty="0"/>
            </a:br>
            <a:endParaRPr lang="en-US" dirty="0"/>
          </a:p>
        </p:txBody>
      </p:sp>
    </p:spTree>
    <p:extLst>
      <p:ext uri="{BB962C8B-B14F-4D97-AF65-F5344CB8AC3E}">
        <p14:creationId xmlns:p14="http://schemas.microsoft.com/office/powerpoint/2010/main" val="3755796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This is an example for the Data-text generation</a:t>
            </a:r>
            <a:endParaRPr lang="en-US" b="0" dirty="0">
              <a:effectLst/>
            </a:endParaRPr>
          </a:p>
          <a:p>
            <a:br>
              <a:rPr lang="en-US" dirty="0"/>
            </a:br>
            <a:endParaRPr lang="en-US" dirty="0"/>
          </a:p>
        </p:txBody>
      </p:sp>
    </p:spTree>
    <p:extLst>
      <p:ext uri="{BB962C8B-B14F-4D97-AF65-F5344CB8AC3E}">
        <p14:creationId xmlns:p14="http://schemas.microsoft.com/office/powerpoint/2010/main" val="3640420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An example of translation.</a:t>
            </a:r>
            <a:endParaRPr lang="en-US" b="0" dirty="0">
              <a:effectLst/>
            </a:endParaRPr>
          </a:p>
          <a:p>
            <a:br>
              <a:rPr lang="en-US" dirty="0"/>
            </a:br>
            <a:endParaRPr lang="en-US" dirty="0"/>
          </a:p>
        </p:txBody>
      </p:sp>
    </p:spTree>
    <p:extLst>
      <p:ext uri="{BB962C8B-B14F-4D97-AF65-F5344CB8AC3E}">
        <p14:creationId xmlns:p14="http://schemas.microsoft.com/office/powerpoint/2010/main" val="105874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Then our most familiar task, the QA. The two examples are for a enhanced QA task, we will talk about the visual QA for the multimodal topic.</a:t>
            </a:r>
            <a:endParaRPr lang="en-US" dirty="0"/>
          </a:p>
        </p:txBody>
      </p:sp>
    </p:spTree>
    <p:extLst>
      <p:ext uri="{BB962C8B-B14F-4D97-AF65-F5344CB8AC3E}">
        <p14:creationId xmlns:p14="http://schemas.microsoft.com/office/powerpoint/2010/main" val="3993719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Now that we’ve seen how transformers work, let’s talk about how they learn generation with some math. It turns out that text generation is just next-word prediction. At each step, the model looks at all the words it’s already generated, and tries to guess what comes next.</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At each time step t, the model:</a:t>
            </a:r>
            <a:endParaRPr lang="en-US" b="0" dirty="0">
              <a:effectLst/>
            </a:endParaRPr>
          </a:p>
          <a:p>
            <a:pPr rtl="0" fontAlgn="base"/>
            <a:r>
              <a:rPr lang="en-US" sz="1200" b="0" i="0" u="none" strike="noStrike" cap="none" dirty="0">
                <a:solidFill>
                  <a:schemeClr val="accent1"/>
                </a:solidFill>
                <a:effectLst/>
                <a:latin typeface="Calibri"/>
                <a:ea typeface="Calibri"/>
                <a:cs typeface="Calibri"/>
                <a:sym typeface="Calibri"/>
              </a:rPr>
              <a:t>Takes in all previously generated tokens: {y₁, y₂, ..., yₜ₋₁}</a:t>
            </a:r>
          </a:p>
          <a:p>
            <a:pPr rtl="0" fontAlgn="base"/>
            <a:r>
              <a:rPr lang="en-US" sz="1200" b="0" i="0" u="none" strike="noStrike" cap="none" dirty="0">
                <a:solidFill>
                  <a:schemeClr val="accent1"/>
                </a:solidFill>
                <a:effectLst/>
                <a:latin typeface="Calibri"/>
                <a:ea typeface="Calibri"/>
                <a:cs typeface="Calibri"/>
                <a:sym typeface="Calibri"/>
              </a:rPr>
              <a:t>Computes a score for each word in the vocabulary — we call that vector S</a:t>
            </a:r>
          </a:p>
          <a:p>
            <a:pPr rtl="0" fontAlgn="base"/>
            <a:r>
              <a:rPr lang="en-US" sz="1200" b="0" i="0" u="none" strike="noStrike" cap="none" dirty="0">
                <a:solidFill>
                  <a:schemeClr val="accent1"/>
                </a:solidFill>
                <a:effectLst/>
                <a:latin typeface="Calibri"/>
                <a:ea typeface="Calibri"/>
                <a:cs typeface="Calibri"/>
                <a:sym typeface="Calibri"/>
              </a:rPr>
              <a:t>Converts those scores into probabilities using the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function.</a:t>
            </a:r>
          </a:p>
          <a:p>
            <a:pPr rtl="0"/>
            <a:br>
              <a:rPr lang="en-US" b="0" dirty="0">
                <a:effectLst/>
              </a:rPr>
            </a:br>
            <a:r>
              <a:rPr lang="en-US" sz="1200" b="0" i="0" u="none" strike="noStrike" cap="none" dirty="0">
                <a:solidFill>
                  <a:schemeClr val="accent1"/>
                </a:solidFill>
                <a:effectLst/>
                <a:latin typeface="Calibri"/>
                <a:ea typeface="Calibri"/>
                <a:cs typeface="Calibri"/>
                <a:sym typeface="Calibri"/>
              </a:rPr>
              <a:t>Here's the math:</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S = f({y₁, ..., yₜ₋₁}, </a:t>
            </a:r>
            <a:r>
              <a:rPr lang="el-GR" sz="1200" b="0" i="0" u="none" strike="noStrike" cap="none" dirty="0">
                <a:solidFill>
                  <a:schemeClr val="accent1"/>
                </a:solidFill>
                <a:effectLst/>
                <a:latin typeface="Calibri"/>
                <a:ea typeface="Calibri"/>
                <a:cs typeface="Calibri"/>
                <a:sym typeface="Calibri"/>
              </a:rPr>
              <a:t>θ)</a:t>
            </a:r>
            <a:endParaRPr lang="el-GR" b="0" dirty="0">
              <a:effectLst/>
            </a:endParaRPr>
          </a:p>
          <a:p>
            <a:pPr rtl="0"/>
            <a:r>
              <a:rPr lang="el-GR" sz="1200" b="0" i="0" u="none" strike="noStrike" cap="none" dirty="0">
                <a:solidFill>
                  <a:schemeClr val="accent1"/>
                </a:solidFill>
                <a:effectLst/>
                <a:latin typeface="Calibri"/>
                <a:ea typeface="Calibri"/>
                <a:cs typeface="Calibri"/>
                <a:sym typeface="Calibri"/>
              </a:rPr>
              <a:t>→ </a:t>
            </a:r>
            <a:r>
              <a:rPr lang="en-US" sz="1200" b="0" i="0" u="none" strike="noStrike" cap="none" dirty="0">
                <a:solidFill>
                  <a:schemeClr val="accent1"/>
                </a:solidFill>
                <a:effectLst/>
                <a:latin typeface="Calibri"/>
                <a:ea typeface="Calibri"/>
                <a:cs typeface="Calibri"/>
                <a:sym typeface="Calibri"/>
              </a:rPr>
              <a:t>This is your model’s output — a vector of scores for each word</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P(yₜ = w | {y₁, ..., yₜ₋₁}) = exp(</a:t>
            </a:r>
            <a:r>
              <a:rPr lang="en-US" sz="1200" b="0" i="0" u="none" strike="noStrike" cap="none" dirty="0" err="1">
                <a:solidFill>
                  <a:schemeClr val="accent1"/>
                </a:solidFill>
                <a:effectLst/>
                <a:latin typeface="Calibri"/>
                <a:ea typeface="Calibri"/>
                <a:cs typeface="Calibri"/>
                <a:sym typeface="Calibri"/>
              </a:rPr>
              <a:t>S_w</a:t>
            </a:r>
            <a:r>
              <a:rPr lang="en-US" sz="1200" b="0" i="0" u="none" strike="noStrike" cap="none" dirty="0">
                <a:solidFill>
                  <a:schemeClr val="accent1"/>
                </a:solidFill>
                <a:effectLst/>
                <a:latin typeface="Calibri"/>
                <a:ea typeface="Calibri"/>
                <a:cs typeface="Calibri"/>
                <a:sym typeface="Calibri"/>
              </a:rPr>
              <a:t>) / </a:t>
            </a:r>
            <a:r>
              <a:rPr lang="el-GR" sz="1200" b="0" i="0" u="none" strike="noStrike" cap="none" dirty="0">
                <a:solidFill>
                  <a:schemeClr val="accent1"/>
                </a:solidFill>
                <a:effectLst/>
                <a:latin typeface="Calibri"/>
                <a:ea typeface="Calibri"/>
                <a:cs typeface="Calibri"/>
                <a:sym typeface="Calibri"/>
              </a:rPr>
              <a:t>Σ₍</a:t>
            </a:r>
            <a:r>
              <a:rPr lang="en-US" sz="1200" b="0" i="0" u="none" strike="noStrike" cap="none" dirty="0">
                <a:solidFill>
                  <a:schemeClr val="accent1"/>
                </a:solidFill>
                <a:effectLst/>
                <a:latin typeface="Calibri"/>
                <a:ea typeface="Calibri"/>
                <a:cs typeface="Calibri"/>
                <a:sym typeface="Calibri"/>
              </a:rPr>
              <a:t>w′₎ exp(</a:t>
            </a:r>
            <a:r>
              <a:rPr lang="en-US" sz="1200" b="0" i="0" u="none" strike="noStrike" cap="none" dirty="0" err="1">
                <a:solidFill>
                  <a:schemeClr val="accent1"/>
                </a:solidFill>
                <a:effectLst/>
                <a:latin typeface="Calibri"/>
                <a:ea typeface="Calibri"/>
                <a:cs typeface="Calibri"/>
                <a:sym typeface="Calibri"/>
              </a:rPr>
              <a:t>S_w</a:t>
            </a:r>
            <a:r>
              <a:rPr lang="en-US" sz="1200" b="0" i="0" u="none" strike="noStrike" cap="none" dirty="0">
                <a:solidFill>
                  <a:schemeClr val="accent1"/>
                </a:solidFill>
                <a:effectLst/>
                <a:latin typeface="Calibri"/>
                <a:ea typeface="Calibri"/>
                <a:cs typeface="Calibri"/>
                <a:sym typeface="Calibri"/>
              </a:rPr>
              <a:t>′)</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 This turns the scores into probabilities over all possible next words. The right hand side is how the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looks like</a:t>
            </a:r>
            <a:endParaRPr lang="en-US" b="0" dirty="0">
              <a:effectLst/>
            </a:endParaRPr>
          </a:p>
          <a:p>
            <a:br>
              <a:rPr lang="en-US" dirty="0"/>
            </a:br>
            <a:endParaRPr lang="en-US" dirty="0"/>
          </a:p>
        </p:txBody>
      </p:sp>
    </p:spTree>
    <p:extLst>
      <p:ext uri="{BB962C8B-B14F-4D97-AF65-F5344CB8AC3E}">
        <p14:creationId xmlns:p14="http://schemas.microsoft.com/office/powerpoint/2010/main" val="4087272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We know we are try to make prediction. But how is the model learn from the iterations of predictions? Here is how the model be trained. The goal is simple: we want to train the model to maximize the probability of predicting the correct next word from the training data.</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The process is all about measuring how "wrong" the model is and then nudging it in the right direction. This "wrongness" is calculated using a loss function.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1st equation: Loss at Each Step: For every single word in a sequence, we check how well the model predicted it given the words that came before. The formula, called the negative log-likelihood, gives us a "loss" or "error score" for that single prediction. If the model was very confident about the correct word, the loss is low. If it was surprised, the loss is high.</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2nd equation: Total Loss for a Sequence: We then add up the individual loss scores for every word in the sentence to get a total loss for that entire training example.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3rd equation: After training, when we ask the model to write something, it no longer sees the "right answer." It uses what it learned to predict a probability distribution for the next token, and a decoding algorithm (g) chooses a word from that distribution.</a:t>
            </a:r>
            <a:endParaRPr lang="en-US" b="0" dirty="0">
              <a:effectLst/>
            </a:endParaRPr>
          </a:p>
          <a:p>
            <a:br>
              <a:rPr lang="en-US" dirty="0"/>
            </a:br>
            <a:endParaRPr lang="en-US" dirty="0"/>
          </a:p>
        </p:txBody>
      </p:sp>
    </p:spTree>
    <p:extLst>
      <p:ext uri="{BB962C8B-B14F-4D97-AF65-F5344CB8AC3E}">
        <p14:creationId xmlns:p14="http://schemas.microsoft.com/office/powerpoint/2010/main" val="2394336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Alright. We have learned the most famous transformer module and the generative task that LLM performs. However, encoder-decoder is not the only architecture that the language model use. </a:t>
            </a:r>
          </a:p>
          <a:p>
            <a:endParaRPr lang="en-US" sz="1200" b="0" i="0" u="none" strike="noStrike" cap="none" dirty="0">
              <a:solidFill>
                <a:schemeClr val="accent1"/>
              </a:solidFill>
              <a:effectLst/>
              <a:latin typeface="Calibri"/>
              <a:cs typeface="Calibri"/>
              <a:sym typeface="Calibri"/>
            </a:endParaRPr>
          </a:p>
          <a:p>
            <a:r>
              <a:rPr lang="en-US" sz="1200" b="0" i="0" u="none" strike="noStrike" cap="none" dirty="0">
                <a:solidFill>
                  <a:schemeClr val="accent1"/>
                </a:solidFill>
                <a:effectLst/>
                <a:latin typeface="Calibri"/>
                <a:ea typeface="Calibri"/>
                <a:cs typeface="Calibri"/>
                <a:sym typeface="Calibri"/>
              </a:rPr>
              <a:t>(read slides)</a:t>
            </a:r>
            <a:endParaRPr lang="en-US" dirty="0"/>
          </a:p>
        </p:txBody>
      </p:sp>
    </p:spTree>
    <p:extLst>
      <p:ext uri="{BB962C8B-B14F-4D97-AF65-F5344CB8AC3E}">
        <p14:creationId xmlns:p14="http://schemas.microsoft.com/office/powerpoint/2010/main" val="3257121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This slide shows a real-world example of a decoder-only large language model — </a:t>
            </a:r>
            <a:r>
              <a:rPr lang="en-US" sz="1200" b="0" i="0" u="none" strike="noStrike" cap="none" dirty="0" err="1">
                <a:solidFill>
                  <a:schemeClr val="accent1"/>
                </a:solidFill>
                <a:effectLst/>
                <a:latin typeface="Calibri"/>
                <a:ea typeface="Calibri"/>
                <a:cs typeface="Calibri"/>
                <a:sym typeface="Calibri"/>
              </a:rPr>
              <a:t>LLaMA</a:t>
            </a:r>
            <a:r>
              <a:rPr lang="en-US" sz="1200" b="0" i="0" u="none" strike="noStrike" cap="none" dirty="0">
                <a:solidFill>
                  <a:schemeClr val="accent1"/>
                </a:solidFill>
                <a:effectLst/>
                <a:latin typeface="Calibri"/>
                <a:ea typeface="Calibri"/>
                <a:cs typeface="Calibri"/>
                <a:sym typeface="Calibri"/>
              </a:rPr>
              <a:t>, which is open-sourced and widely used in research today.</a:t>
            </a:r>
            <a:endParaRPr lang="en-US" dirty="0"/>
          </a:p>
        </p:txBody>
      </p:sp>
    </p:spTree>
    <p:extLst>
      <p:ext uri="{BB962C8B-B14F-4D97-AF65-F5344CB8AC3E}">
        <p14:creationId xmlns:p14="http://schemas.microsoft.com/office/powerpoint/2010/main" val="2397800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Here’s an example of an advanced decoder-only LLM — DeepSeek. It builds on the architecture we’ve seen before, but adds new innovations to make it smarter and more efficient.</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(read slides)</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So, you can think of DeepSeek as having a smarter attention system and a modular structure that saves compute by choosing the right tools for the job.</a:t>
            </a:r>
            <a:endParaRPr lang="en-US" b="0" dirty="0">
              <a:effectLst/>
            </a:endParaRPr>
          </a:p>
          <a:p>
            <a:br>
              <a:rPr lang="en-US" dirty="0"/>
            </a:br>
            <a:endParaRPr lang="en-US" dirty="0"/>
          </a:p>
        </p:txBody>
      </p:sp>
    </p:spTree>
    <p:extLst>
      <p:ext uri="{BB962C8B-B14F-4D97-AF65-F5344CB8AC3E}">
        <p14:creationId xmlns:p14="http://schemas.microsoft.com/office/powerpoint/2010/main" val="20056519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A22DC6B1-F4AA-0BD0-5C38-24A19F51399B}"/>
            </a:ext>
          </a:extLst>
        </p:cNvPr>
        <p:cNvGrpSpPr/>
        <p:nvPr/>
      </p:nvGrpSpPr>
      <p:grpSpPr>
        <a:xfrm>
          <a:off x="0" y="0"/>
          <a:ext cx="0" cy="0"/>
          <a:chOff x="0" y="0"/>
          <a:chExt cx="0" cy="0"/>
        </a:xfrm>
      </p:grpSpPr>
      <p:sp>
        <p:nvSpPr>
          <p:cNvPr id="103" name="Google Shape;103;p17:notes">
            <a:extLst>
              <a:ext uri="{FF2B5EF4-FFF2-40B4-BE49-F238E27FC236}">
                <a16:creationId xmlns:a16="http://schemas.microsoft.com/office/drawing/2014/main" id="{A2927BE0-E827-051F-13AE-EE8EE141DACA}"/>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cap="none" dirty="0">
                <a:solidFill>
                  <a:schemeClr val="accent1"/>
                </a:solidFill>
                <a:effectLst/>
                <a:latin typeface="Calibri"/>
                <a:ea typeface="Calibri"/>
                <a:cs typeface="Calibri"/>
                <a:sym typeface="Calibri"/>
              </a:rPr>
              <a:t>We just see the mixture of expert help the DeepSeek a lot. I will briefly introduce this comprehensively used new technique to improve the efficiency of model and the integration of multiple modalities.</a:t>
            </a:r>
          </a:p>
          <a:p>
            <a:pPr marL="0" lvl="0" indent="0" algn="l" rtl="0">
              <a:lnSpc>
                <a:spcPct val="100000"/>
              </a:lnSpc>
              <a:spcBef>
                <a:spcPts val="0"/>
              </a:spcBef>
              <a:spcAft>
                <a:spcPts val="0"/>
              </a:spcAft>
              <a:buSzPts val="1400"/>
              <a:buNone/>
            </a:pPr>
            <a:endParaRPr lang="en-US" sz="1200" b="0" i="0" u="none" strike="noStrike" cap="none" dirty="0">
              <a:solidFill>
                <a:schemeClr val="accent1"/>
              </a:solidFill>
              <a:effectLst/>
              <a:latin typeface="Calibri"/>
              <a:cs typeface="Calibri"/>
              <a:sym typeface="Calibri"/>
            </a:endParaRPr>
          </a:p>
          <a:p>
            <a:pPr marL="0" lvl="0" indent="0" algn="l" rtl="0">
              <a:lnSpc>
                <a:spcPct val="100000"/>
              </a:lnSpc>
              <a:spcBef>
                <a:spcPts val="0"/>
              </a:spcBef>
              <a:spcAft>
                <a:spcPts val="0"/>
              </a:spcAft>
              <a:buSzPts val="1400"/>
              <a:buNone/>
            </a:pPr>
            <a:r>
              <a:rPr lang="en-US" sz="1200" b="0" i="0" u="none" strike="noStrike" cap="none" dirty="0">
                <a:solidFill>
                  <a:schemeClr val="accent1"/>
                </a:solidFill>
                <a:effectLst/>
                <a:latin typeface="Calibri"/>
                <a:ea typeface="Calibri"/>
                <a:cs typeface="Calibri"/>
                <a:sym typeface="Calibri"/>
              </a:rPr>
              <a:t>This approach is a breakthrough because it allows us to build models with a vast number of parameters (more knowledge), while only using a small fraction of them for any given task. This improves efficiency and is a key technique for building state-of-the-art models, including those that handle multiple modalities like text and images.</a:t>
            </a:r>
            <a:endParaRPr dirty="0"/>
          </a:p>
        </p:txBody>
      </p:sp>
      <p:sp>
        <p:nvSpPr>
          <p:cNvPr id="104" name="Google Shape;104;p17:notes">
            <a:extLst>
              <a:ext uri="{FF2B5EF4-FFF2-40B4-BE49-F238E27FC236}">
                <a16:creationId xmlns:a16="http://schemas.microsoft.com/office/drawing/2014/main" id="{6CED96AE-FB76-AA4F-3D27-6F95EA85C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7804828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02e6327ed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02e6327ed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b="0" i="0" u="none" strike="noStrike" cap="none" dirty="0">
                <a:solidFill>
                  <a:schemeClr val="accent1"/>
                </a:solidFill>
                <a:effectLst/>
                <a:latin typeface="Calibri"/>
                <a:ea typeface="Calibri"/>
                <a:cs typeface="Calibri"/>
                <a:sym typeface="Calibri"/>
              </a:rPr>
              <a:t>So, this is how the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model looks like. After all the encoding process, you can see the input goes into multiple FFN, every single token is processed by the exact same Feed-Forward Network (FFN).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So how does the model choose an expert? That's the job of the Router, also called a Gating Network. The router looks at each token and decides which expert is best suited to process it. It calculates a relevance score and sends the token to the most appropriate expert(s).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The core idea is that for each token, only a small subset of experts are activated. This is how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achieves huge efficiency gains. You will need far smaller GPU capacity to run the DeepSeek with the same size, which means same level of knowledge.</a:t>
            </a:r>
            <a:endParaRPr lang="en-US" b="0" dirty="0">
              <a:effectLst/>
            </a:endParaRPr>
          </a:p>
          <a:p>
            <a:br>
              <a:rPr lang="en-US" dirty="0"/>
            </a:b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02e6327edc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02e6327ed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sz="1200" b="0" i="0" u="none" strike="noStrike" cap="none" dirty="0">
                <a:solidFill>
                  <a:schemeClr val="accent1"/>
                </a:solidFill>
                <a:effectLst/>
                <a:latin typeface="Calibri"/>
                <a:ea typeface="Calibri"/>
                <a:cs typeface="Calibri"/>
                <a:sym typeface="Calibri"/>
              </a:rPr>
              <a:t>What you just seen is the fundamental approach of the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there are many works developed based on it to further improve the performance.</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0419c65e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0419c65e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b="0" i="0" u="none" strike="noStrike" cap="none" dirty="0">
                <a:solidFill>
                  <a:schemeClr val="accent1"/>
                </a:solidFill>
                <a:effectLst/>
                <a:latin typeface="Calibri"/>
                <a:ea typeface="Calibri"/>
                <a:cs typeface="Calibri"/>
                <a:sym typeface="Calibri"/>
              </a:rPr>
              <a:t>The key component of the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model is the router. Let's explore two advanced aspects of how it can be designed.</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In the top figure, there are two main categories for how the router can assign tokens to experts.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Token Chooses Expert (The Standard Way): This is the method we've been discussing. Each token acts independently. The router looks at a single token and decides which of the available "specialist" experts is the best fit for it.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Expert Chooses Token: Instead of tokens choosing experts, the experts choose the tokens. Here, each expert gets to scan all the incoming tokens in a batch and "claim" the top tokens it is most specialized to handle.</a:t>
            </a:r>
            <a:endParaRPr lang="en-US" b="0" dirty="0">
              <a:effectLst/>
            </a:endParaRPr>
          </a:p>
          <a:p>
            <a:pPr rtl="0"/>
            <a:br>
              <a:rPr lang="en-US" sz="1200" b="0" i="0" u="none" strike="noStrike" cap="none" dirty="0">
                <a:solidFill>
                  <a:schemeClr val="accent1"/>
                </a:solidFill>
                <a:effectLst/>
                <a:latin typeface="Calibri"/>
                <a:ea typeface="Calibri"/>
                <a:cs typeface="Calibri"/>
                <a:sym typeface="Calibri"/>
              </a:rPr>
            </a:br>
            <a:r>
              <a:rPr lang="en-US" sz="1200" b="0" i="0" u="none" strike="noStrike" cap="none" dirty="0">
                <a:solidFill>
                  <a:schemeClr val="accent1"/>
                </a:solidFill>
                <a:effectLst/>
                <a:latin typeface="Calibri"/>
                <a:ea typeface="Calibri"/>
                <a:cs typeface="Calibri"/>
                <a:sym typeface="Calibri"/>
              </a:rPr>
              <a:t>Mixture of Experts is especially powerful when a model needs to handle multiple types of data at once, like text, images, and audio. This is called multimodality. The bottom figure shows a few ways we can design the router and experts for this. </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Joint Router: All data, regardless of whether it's a piece of an image or a word from a sentence, is first mixed together. Then, a single, shared router directs this mixed traffic to a shared pool of experts. The experts need to be generalists that can handle any type of data thrown at them.</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Per-Modality Router: Each modality gets its own dedicated router. So, there's a "text router" for text and an "image router" for images. However, both of these routers send their data to the same shared pool of experts. This allows the experts to learn from all types of data, potentially finding interesting connections between them.</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Disjoint Router (VIP Service): This is the most specialized setup. Here, everything is separate. Each modality gets its own dedicated router and its own private team of experts. The text experts only ever see text, and the image experts only ever see images. They are true specialists that never cross over. </a:t>
            </a:r>
            <a:endParaRPr lang="en-US" b="0" dirty="0">
              <a:effectLst/>
            </a:endParaRPr>
          </a:p>
          <a:p>
            <a:br>
              <a:rPr lang="en-US" dirty="0"/>
            </a:b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02e6327edc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02e6327ed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0" i="0" u="none" strike="noStrike" cap="none" dirty="0">
                <a:solidFill>
                  <a:schemeClr val="accent1"/>
                </a:solidFill>
                <a:effectLst/>
                <a:latin typeface="Calibri"/>
                <a:ea typeface="Calibri"/>
                <a:cs typeface="Calibri"/>
                <a:sym typeface="Calibri"/>
              </a:rPr>
              <a:t>The advantages of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is not just the efficiency.</a:t>
            </a:r>
          </a:p>
          <a:p>
            <a:pPr marL="0" lvl="0" indent="0" algn="l" rtl="0">
              <a:spcBef>
                <a:spcPts val="0"/>
              </a:spcBef>
              <a:spcAft>
                <a:spcPts val="0"/>
              </a:spcAft>
              <a:buNone/>
            </a:pPr>
            <a:endParaRPr lang="en-US" sz="1200" b="0" i="0" u="none" strike="noStrike" cap="none" dirty="0">
              <a:solidFill>
                <a:schemeClr val="accent1"/>
              </a:solidFill>
              <a:effectLst/>
              <a:latin typeface="Calibri"/>
              <a:cs typeface="Calibri"/>
              <a:sym typeface="Calibri"/>
            </a:endParaRPr>
          </a:p>
          <a:p>
            <a:pPr marL="0" lvl="0" indent="0" algn="l" rtl="0">
              <a:spcBef>
                <a:spcPts val="0"/>
              </a:spcBef>
              <a:spcAft>
                <a:spcPts val="0"/>
              </a:spcAft>
              <a:buNone/>
            </a:pPr>
            <a:r>
              <a:rPr lang="en-US" sz="1200" b="0" i="0" u="none" strike="noStrike" cap="none" dirty="0">
                <a:solidFill>
                  <a:schemeClr val="accent1"/>
                </a:solidFill>
                <a:effectLst/>
                <a:latin typeface="Calibri"/>
                <a:cs typeface="Calibri"/>
                <a:sym typeface="Calibri"/>
              </a:rPr>
              <a:t>(read slides)</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04b12a8d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04b12a8d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b="0" i="0" u="none" strike="noStrike" cap="none" dirty="0">
                <a:solidFill>
                  <a:schemeClr val="accent1"/>
                </a:solidFill>
                <a:effectLst/>
                <a:latin typeface="Calibri"/>
                <a:ea typeface="Calibri"/>
                <a:cs typeface="Calibri"/>
                <a:sym typeface="Calibri"/>
              </a:rPr>
              <a:t>In the multimodality case, the selection of the routing strategy is a trade-off between the commonality and the specificity we want the model to learn from the multiple data sources. So, the choice of router design depends entirely on your goal. There is no single "best" answer. You have to ask:</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Is it more important for my model to have a deep, specialized understanding of each separate modality? (Choose a Disjoint design for more specificity).</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Or is it more important for my model to find the high-level, abstract connections between the modalities? (Choose a Joint design for more commonality).</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The Per-modality Router often serves as a practical compromise, trying to achieve a balance between both.</a:t>
            </a:r>
            <a:endParaRPr lang="en-US" b="0" dirty="0">
              <a:effectLst/>
            </a:endParaRPr>
          </a:p>
          <a:p>
            <a:br>
              <a:rPr lang="en-US" dirty="0"/>
            </a:b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03b3fedb5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03b3fedb5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dk1"/>
              </a:buClr>
              <a:buSzPts val="1600"/>
              <a:buAutoNum type="arabicPeriod"/>
            </a:pPr>
            <a:r>
              <a:rPr lang="en-US" sz="1200" b="0" i="0" u="none" strike="noStrike" cap="none" dirty="0">
                <a:solidFill>
                  <a:schemeClr val="accent1"/>
                </a:solidFill>
                <a:effectLst/>
                <a:latin typeface="Calibri"/>
                <a:ea typeface="Calibri"/>
                <a:cs typeface="Calibri"/>
                <a:sym typeface="Calibri"/>
              </a:rPr>
              <a:t>For example, this is a recent published </a:t>
            </a:r>
            <a:r>
              <a:rPr lang="en-US" sz="1200" b="0" i="0" u="none" strike="noStrike" cap="none" dirty="0" err="1">
                <a:solidFill>
                  <a:schemeClr val="accent1"/>
                </a:solidFill>
                <a:effectLst/>
                <a:latin typeface="Calibri"/>
                <a:ea typeface="Calibri"/>
                <a:cs typeface="Calibri"/>
                <a:sym typeface="Calibri"/>
              </a:rPr>
              <a:t>FuseMoE</a:t>
            </a:r>
            <a:r>
              <a:rPr lang="en-US" sz="1200" b="0" i="0" u="none" strike="noStrike" cap="none" dirty="0">
                <a:solidFill>
                  <a:schemeClr val="accent1"/>
                </a:solidFill>
                <a:effectLst/>
                <a:latin typeface="Calibri"/>
                <a:ea typeface="Calibri"/>
                <a:cs typeface="Calibri"/>
                <a:sym typeface="Calibri"/>
              </a:rPr>
              <a:t> – </a:t>
            </a:r>
            <a:r>
              <a:rPr lang="en-US" sz="1200" b="0" i="0" u="none" strike="noStrike" cap="none" dirty="0" err="1">
                <a:solidFill>
                  <a:schemeClr val="accent1"/>
                </a:solidFill>
                <a:effectLst/>
                <a:latin typeface="Calibri"/>
                <a:ea typeface="Calibri"/>
                <a:cs typeface="Calibri"/>
                <a:sym typeface="Calibri"/>
              </a:rPr>
              <a:t>BioMedical</a:t>
            </a:r>
            <a:r>
              <a:rPr lang="en-US" sz="1200" b="0" i="0" u="none" strike="noStrike" cap="none" dirty="0">
                <a:solidFill>
                  <a:schemeClr val="accent1"/>
                </a:solidFill>
                <a:effectLst/>
                <a:latin typeface="Calibri"/>
                <a:ea typeface="Calibri"/>
                <a:cs typeface="Calibri"/>
                <a:sym typeface="Calibri"/>
              </a:rPr>
              <a:t> Multimodal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65F07997-1048-FB66-C2C7-288A7BE3F207}"/>
            </a:ext>
          </a:extLst>
        </p:cNvPr>
        <p:cNvGrpSpPr/>
        <p:nvPr/>
      </p:nvGrpSpPr>
      <p:grpSpPr>
        <a:xfrm>
          <a:off x="0" y="0"/>
          <a:ext cx="0" cy="0"/>
          <a:chOff x="0" y="0"/>
          <a:chExt cx="0" cy="0"/>
        </a:xfrm>
      </p:grpSpPr>
      <p:sp>
        <p:nvSpPr>
          <p:cNvPr id="103" name="Google Shape;103;p17:notes">
            <a:extLst>
              <a:ext uri="{FF2B5EF4-FFF2-40B4-BE49-F238E27FC236}">
                <a16:creationId xmlns:a16="http://schemas.microsoft.com/office/drawing/2014/main" id="{A94A1B88-3C14-BC51-43F1-A935D4B8F39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cap="none" dirty="0">
                <a:solidFill>
                  <a:schemeClr val="accent1"/>
                </a:solidFill>
                <a:effectLst/>
                <a:latin typeface="Calibri"/>
                <a:ea typeface="Calibri"/>
                <a:cs typeface="Calibri"/>
                <a:sym typeface="Calibri"/>
              </a:rPr>
              <a:t>We have already see the example of multimodal and how </a:t>
            </a:r>
            <a:r>
              <a:rPr lang="en-US" sz="1200" b="0" i="0" u="none" strike="noStrike" cap="none" dirty="0" err="1">
                <a:solidFill>
                  <a:schemeClr val="accent1"/>
                </a:solidFill>
                <a:effectLst/>
                <a:latin typeface="Calibri"/>
                <a:ea typeface="Calibri"/>
                <a:cs typeface="Calibri"/>
                <a:sym typeface="Calibri"/>
              </a:rPr>
              <a:t>MoE</a:t>
            </a:r>
            <a:r>
              <a:rPr lang="en-US" sz="1200" b="0" i="0" u="none" strike="noStrike" cap="none" dirty="0">
                <a:solidFill>
                  <a:schemeClr val="accent1"/>
                </a:solidFill>
                <a:effectLst/>
                <a:latin typeface="Calibri"/>
                <a:ea typeface="Calibri"/>
                <a:cs typeface="Calibri"/>
                <a:sym typeface="Calibri"/>
              </a:rPr>
              <a:t> handle it. The multimodality is actually how human beings feel and learn the world. Let’s see how Large language model handle the multimodality.</a:t>
            </a:r>
            <a:endParaRPr dirty="0"/>
          </a:p>
        </p:txBody>
      </p:sp>
      <p:sp>
        <p:nvSpPr>
          <p:cNvPr id="104" name="Google Shape;104;p17:notes">
            <a:extLst>
              <a:ext uri="{FF2B5EF4-FFF2-40B4-BE49-F238E27FC236}">
                <a16:creationId xmlns:a16="http://schemas.microsoft.com/office/drawing/2014/main" id="{16BBED4A-B984-8AEF-C269-FE2E3DBC89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742553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What are Multimodal Large Language Models?​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It extend traditional LLMs by integrating additional modalities alongside text. This allows the models to understand, reason about, and generate content that spans multiple types of data, not just language.​</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For example, an MM-LLM can:​</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Comprehend and analyze combinations of text, images, and audio within a video​</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Generate textual descriptions (captions) for images or videos​</a:t>
            </a:r>
            <a:endParaRPr lang="en-US" b="0" dirty="0">
              <a:effectLst/>
            </a:endParaRPr>
          </a:p>
          <a:p>
            <a:pPr rtl="0"/>
            <a:r>
              <a:rPr lang="en-US" sz="1200" b="0" i="0" u="none" strike="noStrike" cap="none" dirty="0">
                <a:solidFill>
                  <a:schemeClr val="accent1"/>
                </a:solidFill>
                <a:effectLst/>
                <a:latin typeface="Calibri"/>
                <a:ea typeface="Calibri"/>
                <a:cs typeface="Calibri"/>
                <a:sym typeface="Calibri"/>
              </a:rPr>
              <a:t>Create images or videos from text prompts or combine audio narration with visuals​</a:t>
            </a:r>
            <a:endParaRPr lang="en-US" b="0" dirty="0">
              <a:effectLst/>
            </a:endParaRPr>
          </a:p>
          <a:p>
            <a:br>
              <a:rPr lang="en-US" dirty="0"/>
            </a:br>
            <a:endParaRPr lang="en-US" dirty="0"/>
          </a:p>
        </p:txBody>
      </p:sp>
    </p:spTree>
    <p:extLst>
      <p:ext uri="{BB962C8B-B14F-4D97-AF65-F5344CB8AC3E}">
        <p14:creationId xmlns:p14="http://schemas.microsoft.com/office/powerpoint/2010/main" val="900244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Alright, now let's look at a very </a:t>
            </a:r>
            <a:r>
              <a:rPr lang="en-US" sz="1200" b="0" i="0" u="none" strike="noStrike" cap="none" dirty="0" err="1">
                <a:solidFill>
                  <a:schemeClr val="accent1"/>
                </a:solidFill>
                <a:effectLst/>
                <a:latin typeface="Calibri"/>
                <a:ea typeface="Calibri"/>
                <a:cs typeface="Calibri"/>
                <a:sym typeface="Calibri"/>
              </a:rPr>
              <a:t>influencial</a:t>
            </a:r>
            <a:r>
              <a:rPr lang="en-US" sz="1200" b="0" i="0" u="none" strike="noStrike" cap="none" dirty="0">
                <a:solidFill>
                  <a:schemeClr val="accent1"/>
                </a:solidFill>
                <a:effectLst/>
                <a:latin typeface="Calibri"/>
                <a:ea typeface="Calibri"/>
                <a:cs typeface="Calibri"/>
                <a:sym typeface="Calibri"/>
              </a:rPr>
              <a:t> Multimodal Large Language Model: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which stands for Large Language and Vision Assistant.</a:t>
            </a:r>
            <a:endParaRPr lang="en-US" b="0" dirty="0">
              <a:effectLst/>
            </a:endParaRPr>
          </a:p>
          <a:p>
            <a:pPr rtl="0"/>
            <a:br>
              <a:rPr lang="en-US" b="0" dirty="0">
                <a:effectLst/>
              </a:rPr>
            </a:b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relies on the pre-trained CLIP visual encoder for visual content processing. CLIP is </a:t>
            </a:r>
            <a:r>
              <a:rPr lang="en-US" sz="1200" b="0" i="0" u="none" strike="noStrike" cap="none" dirty="0" err="1">
                <a:solidFill>
                  <a:schemeClr val="accent1"/>
                </a:solidFill>
                <a:effectLst/>
                <a:latin typeface="Calibri"/>
                <a:ea typeface="Calibri"/>
                <a:cs typeface="Calibri"/>
                <a:sym typeface="Calibri"/>
              </a:rPr>
              <a:t>ised</a:t>
            </a:r>
            <a:r>
              <a:rPr lang="en-US" sz="1200" b="0" i="0" u="none" strike="noStrike" cap="none" dirty="0">
                <a:solidFill>
                  <a:schemeClr val="accent1"/>
                </a:solidFill>
                <a:effectLst/>
                <a:latin typeface="Calibri"/>
                <a:ea typeface="Calibri"/>
                <a:cs typeface="Calibri"/>
                <a:sym typeface="Calibri"/>
              </a:rPr>
              <a:t> to process the input image. Its entire job is to look at an image and extract the important visual features—the concepts, objects, and relationships within it.</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The visual features from CLIP are in a numerical format that the text-based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model can't understand directly. They need a translator. That's the job of the Projection Matrix (W). a small, trainable layer that acts as a bridge. Its one and only purpose is to translate the visual features into the same 'language' as the text embeddings.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Now, the Language Model receives a combined sequence: The translated visual tokens from the image (H v). The regular text tokens from the language instruction (H q). From the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model's perspective, it's just getting a single prompt. It doesn't know one part came from an image and one from text; it just sees a coherent sequence of tokens. It then uses its powerful language understanding and reasoning abilities to process this combined prompt and generate a final textual response (X a).</a:t>
            </a:r>
            <a:endParaRPr lang="en-US" b="0" dirty="0">
              <a:effectLst/>
            </a:endParaRPr>
          </a:p>
          <a:p>
            <a:br>
              <a:rPr lang="en-US" dirty="0"/>
            </a:br>
            <a:endParaRPr lang="en-US" dirty="0"/>
          </a:p>
        </p:txBody>
      </p:sp>
    </p:spTree>
    <p:extLst>
      <p:ext uri="{BB962C8B-B14F-4D97-AF65-F5344CB8AC3E}">
        <p14:creationId xmlns:p14="http://schemas.microsoft.com/office/powerpoint/2010/main" val="1584239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Then, here is an example of how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works.</a:t>
            </a:r>
            <a:endParaRPr lang="en-US" b="0" dirty="0">
              <a:effectLst/>
            </a:endParaRPr>
          </a:p>
          <a:p>
            <a:br>
              <a:rPr lang="en-US" dirty="0"/>
            </a:br>
            <a:endParaRPr lang="en-US" dirty="0"/>
          </a:p>
        </p:txBody>
      </p:sp>
    </p:spTree>
    <p:extLst>
      <p:ext uri="{BB962C8B-B14F-4D97-AF65-F5344CB8AC3E}">
        <p14:creationId xmlns:p14="http://schemas.microsoft.com/office/powerpoint/2010/main" val="2661589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This is a real-world application example of the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 which is called </a:t>
            </a:r>
            <a:r>
              <a:rPr lang="en-US" sz="1200" b="0" i="0" u="none" strike="noStrike" cap="none" dirty="0" err="1">
                <a:solidFill>
                  <a:schemeClr val="accent1"/>
                </a:solidFill>
                <a:effectLst/>
                <a:latin typeface="Calibri"/>
                <a:ea typeface="Calibri"/>
                <a:cs typeface="Calibri"/>
                <a:sym typeface="Calibri"/>
              </a:rPr>
              <a:t>LLaVA</a:t>
            </a:r>
            <a:r>
              <a:rPr lang="en-US" sz="1200" b="0" i="0" u="none" strike="noStrike" cap="none" dirty="0">
                <a:solidFill>
                  <a:schemeClr val="accent1"/>
                </a:solidFill>
                <a:effectLst/>
                <a:latin typeface="Calibri"/>
                <a:ea typeface="Calibri"/>
                <a:cs typeface="Calibri"/>
                <a:sym typeface="Calibri"/>
              </a:rPr>
              <a:t>-Med.</a:t>
            </a:r>
            <a:endParaRPr lang="en-US" b="0" dirty="0">
              <a:effectLst/>
            </a:endParaRPr>
          </a:p>
          <a:p>
            <a:r>
              <a:rPr lang="en-US" sz="1400" b="0" i="0" u="none" strike="noStrike" cap="none" dirty="0">
                <a:solidFill>
                  <a:srgbClr val="292929"/>
                </a:solidFill>
                <a:effectLst/>
                <a:latin typeface="Inter"/>
                <a:cs typeface="Arial"/>
                <a:sym typeface="Arial"/>
              </a:rPr>
              <a:t>(read slides)</a:t>
            </a:r>
          </a:p>
        </p:txBody>
      </p:sp>
    </p:spTree>
    <p:extLst>
      <p:ext uri="{BB962C8B-B14F-4D97-AF65-F5344CB8AC3E}">
        <p14:creationId xmlns:p14="http://schemas.microsoft.com/office/powerpoint/2010/main" val="22820085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Here is another example, which is an application of multimodal LLM in the agriculture field for the disaster forecasting. A major challenge in predicting these events is that we have satellite images, weather data, news reports, and even social media posts. Traditional methods struggle to combine all of these sources into one holistic picture. This paper, published just last month, proposes a solution called </a:t>
            </a:r>
            <a:r>
              <a:rPr lang="en-US" sz="1200" b="0" i="0" u="none" strike="noStrike" cap="none" dirty="0" err="1">
                <a:solidFill>
                  <a:schemeClr val="accent1"/>
                </a:solidFill>
                <a:effectLst/>
                <a:latin typeface="Calibri"/>
                <a:ea typeface="Calibri"/>
                <a:cs typeface="Calibri"/>
                <a:sym typeface="Calibri"/>
              </a:rPr>
              <a:t>DisasterNet</a:t>
            </a:r>
            <a:r>
              <a:rPr lang="en-US" sz="1200" b="0" i="0" u="none" strike="noStrike" cap="none" dirty="0">
                <a:solidFill>
                  <a:schemeClr val="accent1"/>
                </a:solidFill>
                <a:effectLst/>
                <a:latin typeface="Calibri"/>
                <a:ea typeface="Calibri"/>
                <a:cs typeface="Calibri"/>
                <a:sym typeface="Calibri"/>
              </a:rPr>
              <a:t>-LLM.</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As you can see from the architecture diagram, the input module takes raw data from multiple data sources, then the multimodal data fusion step align and combine them together into a common format embedding. The cross-modal attention, figures out the relationships between different data types. We will explain this later. The adaptive transformer allows the model to dynamically change its focus depending on the specific type of disaster its seeing. Finally, the classification layer will give you the </a:t>
            </a:r>
            <a:r>
              <a:rPr lang="en-US" sz="1200" b="0" i="0" u="none" strike="noStrike" cap="none" dirty="0" err="1">
                <a:solidFill>
                  <a:schemeClr val="accent1"/>
                </a:solidFill>
                <a:effectLst/>
                <a:latin typeface="Calibri"/>
                <a:ea typeface="Calibri"/>
                <a:cs typeface="Calibri"/>
                <a:sym typeface="Calibri"/>
              </a:rPr>
              <a:t>softmax</a:t>
            </a:r>
            <a:r>
              <a:rPr lang="en-US" sz="1200" b="0" i="0" u="none" strike="noStrike" cap="none" dirty="0">
                <a:solidFill>
                  <a:schemeClr val="accent1"/>
                </a:solidFill>
                <a:effectLst/>
                <a:latin typeface="Calibri"/>
                <a:ea typeface="Calibri"/>
                <a:cs typeface="Calibri"/>
                <a:sym typeface="Calibri"/>
              </a:rPr>
              <a:t> probability to determine which event it is.</a:t>
            </a:r>
            <a:endParaRPr lang="en-US" b="0" dirty="0">
              <a:effectLst/>
            </a:endParaRPr>
          </a:p>
          <a:p>
            <a:br>
              <a:rPr lang="en-US" dirty="0"/>
            </a:br>
            <a:endParaRPr lang="en-US" dirty="0"/>
          </a:p>
        </p:txBody>
      </p:sp>
    </p:spTree>
    <p:extLst>
      <p:ext uri="{BB962C8B-B14F-4D97-AF65-F5344CB8AC3E}">
        <p14:creationId xmlns:p14="http://schemas.microsoft.com/office/powerpoint/2010/main" val="2836509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So, how does the Cross-Modal Attention Mechanism make sense of so many different data sources at once?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After the different data types—text, image, and geospatial—are converted into numerical embeddings, they are effectively concatenated into one large feature space. The attention mechanism then calculates a 'relevance score' between every single piece of information. It measures how relevant a specific word in a news article is to a specific pixel in an image or a specific set of GPS coordinates. This allows the model to understand, for example, that the word 'flood' in a text report is highly relevant to low-lying areas in the geospatial data and specific visual cues in an image. It’s this cross-referencing that allows for a holistic understanding of the event.</a:t>
            </a:r>
            <a:endParaRPr lang="en-US" b="0" dirty="0">
              <a:effectLst/>
            </a:endParaRPr>
          </a:p>
          <a:p>
            <a:br>
              <a:rPr lang="en-US" dirty="0"/>
            </a:br>
            <a:endParaRPr lang="en-US" dirty="0"/>
          </a:p>
        </p:txBody>
      </p:sp>
    </p:spTree>
    <p:extLst>
      <p:ext uri="{BB962C8B-B14F-4D97-AF65-F5344CB8AC3E}">
        <p14:creationId xmlns:p14="http://schemas.microsoft.com/office/powerpoint/2010/main" val="22392240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Now, not all data is equally important for every disaster. The model needs to adapt its focus, which it does using the Adaptive Transformers Module.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This module uses a gating mechanism to dynamically adjust the 'weight' or 'importance' of each modality for every unique event. Let's walk through the example on the slide. We have two different events. Let's say Event 1 is a flood, where the text report is very clear and important (value of 0.9). Event 2 is a wildfire, where the satellite image is the most critical piece of data (value of 0.8).</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For Event 1 (the flood), the model calculates 'gates,' which are like volume knobs for each data type. The model learns the high value of the text information. But for Event 2 (the wildfire), notice that the model computes a different set of gates: [0.711, 0.475, 0.741]. It has learned to turn up the importance of the image feature and turn down the text feature.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This shows the model isn't using a fixed recipe. It intelligently adapts and focuses on the most relevant data for the specific disaster it's analyzing, which is key for accurate prediction.</a:t>
            </a:r>
            <a:endParaRPr lang="en-US" b="0" dirty="0">
              <a:effectLst/>
            </a:endParaRPr>
          </a:p>
          <a:p>
            <a:br>
              <a:rPr lang="en-US" dirty="0"/>
            </a:br>
            <a:endParaRPr lang="en-US" dirty="0"/>
          </a:p>
        </p:txBody>
      </p:sp>
    </p:spTree>
    <p:extLst>
      <p:ext uri="{BB962C8B-B14F-4D97-AF65-F5344CB8AC3E}">
        <p14:creationId xmlns:p14="http://schemas.microsoft.com/office/powerpoint/2010/main" val="6123653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The authors first tested </a:t>
            </a:r>
            <a:r>
              <a:rPr lang="en-US" sz="1200" b="0" i="0" u="none" strike="noStrike" cap="none" dirty="0" err="1">
                <a:solidFill>
                  <a:schemeClr val="accent1"/>
                </a:solidFill>
                <a:effectLst/>
                <a:latin typeface="Calibri"/>
                <a:ea typeface="Calibri"/>
                <a:cs typeface="Calibri"/>
                <a:sym typeface="Calibri"/>
              </a:rPr>
              <a:t>DisasterNet</a:t>
            </a:r>
            <a:r>
              <a:rPr lang="en-US" sz="1200" b="0" i="0" u="none" strike="noStrike" cap="none" dirty="0">
                <a:solidFill>
                  <a:schemeClr val="accent1"/>
                </a:solidFill>
                <a:effectLst/>
                <a:latin typeface="Calibri"/>
                <a:ea typeface="Calibri"/>
                <a:cs typeface="Calibri"/>
                <a:sym typeface="Calibri"/>
              </a:rPr>
              <a:t>-LLM against other State-of-the-Art (SOTA) models on two large, image-based disaster datasets. These datasets categorize images of things like fires, floods, and infrastructure damage. The baseline models in this table are mostly traditional machine learning methods like Decision Trees and Support Vector Machines (SVM). You might heard them if you have taken a machine learning course. </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As you can see in the bottom row, the results are not even close. </a:t>
            </a:r>
            <a:r>
              <a:rPr lang="en-US" sz="1200" b="0" i="0" u="none" strike="noStrike" cap="none" dirty="0" err="1">
                <a:solidFill>
                  <a:schemeClr val="accent1"/>
                </a:solidFill>
                <a:effectLst/>
                <a:latin typeface="Calibri"/>
                <a:ea typeface="Calibri"/>
                <a:cs typeface="Calibri"/>
                <a:sym typeface="Calibri"/>
              </a:rPr>
              <a:t>DisasterNet</a:t>
            </a:r>
            <a:r>
              <a:rPr lang="en-US" sz="1200" b="0" i="0" u="none" strike="noStrike" cap="none" dirty="0">
                <a:solidFill>
                  <a:schemeClr val="accent1"/>
                </a:solidFill>
                <a:effectLst/>
                <a:latin typeface="Calibri"/>
                <a:ea typeface="Calibri"/>
                <a:cs typeface="Calibri"/>
                <a:sym typeface="Calibri"/>
              </a:rPr>
              <a:t>-LLM achieves an accuracy of 89.5% and an F1-Score of 88.0%. This demonstrates a massive improvement in the model's ability to correctly classify disasters.</a:t>
            </a:r>
            <a:endParaRPr lang="en-US" b="0" dirty="0">
              <a:effectLst/>
            </a:endParaRPr>
          </a:p>
          <a:p>
            <a:br>
              <a:rPr lang="en-US" dirty="0"/>
            </a:br>
            <a:endParaRPr lang="en-US" dirty="0"/>
          </a:p>
        </p:txBody>
      </p:sp>
    </p:spTree>
    <p:extLst>
      <p:ext uri="{BB962C8B-B14F-4D97-AF65-F5344CB8AC3E}">
        <p14:creationId xmlns:p14="http://schemas.microsoft.com/office/powerpoint/2010/main" val="2288362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accent1"/>
                </a:solidFill>
                <a:effectLst/>
                <a:latin typeface="Calibri"/>
                <a:ea typeface="Calibri"/>
                <a:cs typeface="Calibri"/>
                <a:sym typeface="Calibri"/>
              </a:rPr>
              <a:t>Next, the researchers tested the model on datasets that are more complex and highly relevant to us: a meteorological dataset with weather variables and a large environmental news dataset. Here, </a:t>
            </a:r>
            <a:r>
              <a:rPr lang="en-US" sz="1200" b="0" i="0" u="none" strike="noStrike" cap="none" dirty="0" err="1">
                <a:solidFill>
                  <a:schemeClr val="accent1"/>
                </a:solidFill>
                <a:effectLst/>
                <a:latin typeface="Calibri"/>
                <a:ea typeface="Calibri"/>
                <a:cs typeface="Calibri"/>
                <a:sym typeface="Calibri"/>
              </a:rPr>
              <a:t>DisasterNet</a:t>
            </a:r>
            <a:r>
              <a:rPr lang="en-US" sz="1200" b="0" i="0" u="none" strike="noStrike" cap="none" dirty="0">
                <a:solidFill>
                  <a:schemeClr val="accent1"/>
                </a:solidFill>
                <a:effectLst/>
                <a:latin typeface="Calibri"/>
                <a:ea typeface="Calibri"/>
                <a:cs typeface="Calibri"/>
                <a:sym typeface="Calibri"/>
              </a:rPr>
              <a:t>-LLM was compared against more modern, LLM-based models. Once again, it significantly outperforming the other models. </a:t>
            </a:r>
            <a:endParaRPr lang="en-US" dirty="0"/>
          </a:p>
        </p:txBody>
      </p:sp>
    </p:spTree>
    <p:extLst>
      <p:ext uri="{BB962C8B-B14F-4D97-AF65-F5344CB8AC3E}">
        <p14:creationId xmlns:p14="http://schemas.microsoft.com/office/powerpoint/2010/main" val="4176880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0361E4A6-1BCD-B398-EEA3-B0DE713A25EE}"/>
            </a:ext>
          </a:extLst>
        </p:cNvPr>
        <p:cNvGrpSpPr/>
        <p:nvPr/>
      </p:nvGrpSpPr>
      <p:grpSpPr>
        <a:xfrm>
          <a:off x="0" y="0"/>
          <a:ext cx="0" cy="0"/>
          <a:chOff x="0" y="0"/>
          <a:chExt cx="0" cy="0"/>
        </a:xfrm>
      </p:grpSpPr>
      <p:sp>
        <p:nvSpPr>
          <p:cNvPr id="103" name="Google Shape;103;p17:notes">
            <a:extLst>
              <a:ext uri="{FF2B5EF4-FFF2-40B4-BE49-F238E27FC236}">
                <a16:creationId xmlns:a16="http://schemas.microsoft.com/office/drawing/2014/main" id="{902C6265-F3C6-2CA3-A3E6-6F5D7C9E1CFB}"/>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rtl="0"/>
            <a:r>
              <a:rPr lang="en-US" sz="1200" b="0" i="0" u="none" strike="noStrike" cap="none" dirty="0">
                <a:solidFill>
                  <a:schemeClr val="accent1"/>
                </a:solidFill>
                <a:effectLst/>
                <a:latin typeface="Calibri"/>
                <a:ea typeface="Calibri"/>
                <a:cs typeface="Calibri"/>
                <a:sym typeface="Calibri"/>
              </a:rPr>
              <a:t>Now that we've seen how powerful these models are, let's discuss some of their real-world challenges.</a:t>
            </a:r>
            <a:endParaRPr lang="en-US" b="0" dirty="0">
              <a:effectLst/>
            </a:endParaRPr>
          </a:p>
          <a:p>
            <a:br>
              <a:rPr lang="en-US" dirty="0"/>
            </a:br>
            <a:endParaRPr dirty="0"/>
          </a:p>
        </p:txBody>
      </p:sp>
      <p:sp>
        <p:nvSpPr>
          <p:cNvPr id="104" name="Google Shape;104;p17:notes">
            <a:extLst>
              <a:ext uri="{FF2B5EF4-FFF2-40B4-BE49-F238E27FC236}">
                <a16:creationId xmlns:a16="http://schemas.microsoft.com/office/drawing/2014/main" id="{738CEC72-122E-67FC-A589-11DA8D4FB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267058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rtl="0"/>
            <a:r>
              <a:rPr lang="en-US" sz="1200" b="0" i="0" u="none" strike="noStrike" cap="none" dirty="0">
                <a:solidFill>
                  <a:schemeClr val="accent1"/>
                </a:solidFill>
                <a:effectLst/>
                <a:latin typeface="Calibri"/>
                <a:ea typeface="Calibri"/>
                <a:cs typeface="Calibri"/>
                <a:sym typeface="Calibri"/>
              </a:rPr>
              <a:t>The first, and perhaps most famous, is the problem of hallucination. A hallucination is when an LLM generates text that is factually incorrect, nonsensical, or completely disconnected from the provided context. It's important to remember the model isn't 'lying'—it has no intent. It's simply a failure in the generation process where the model predicts a sequence of words that seems probable based on its training data, but isn't factually true.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Let's look at the example on the slide. We have a math problem that requires logical steps. With a standard prompt, the model gets it wrong when use single step.</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One technique to improve this, shown on the right, is Chain-of-Thought (</a:t>
            </a:r>
            <a:r>
              <a:rPr lang="en-US" sz="1200" b="0" i="0" u="none" strike="noStrike" cap="none" dirty="0" err="1">
                <a:solidFill>
                  <a:schemeClr val="accent1"/>
                </a:solidFill>
                <a:effectLst/>
                <a:latin typeface="Calibri"/>
                <a:ea typeface="Calibri"/>
                <a:cs typeface="Calibri"/>
                <a:sym typeface="Calibri"/>
              </a:rPr>
              <a:t>CoT</a:t>
            </a:r>
            <a:r>
              <a:rPr lang="en-US" sz="1200" b="0" i="0" u="none" strike="noStrike" cap="none" dirty="0">
                <a:solidFill>
                  <a:schemeClr val="accent1"/>
                </a:solidFill>
                <a:effectLst/>
                <a:latin typeface="Calibri"/>
                <a:ea typeface="Calibri"/>
                <a:cs typeface="Calibri"/>
                <a:sym typeface="Calibri"/>
              </a:rPr>
              <a:t>) prompting. By simply asking the model to 'think step-by-step,' we force it to lay out its reasoning, which often leads to the correct answer. </a:t>
            </a:r>
            <a:endParaRPr lang="en-US" b="0" dirty="0">
              <a:effectLst/>
            </a:endParaRPr>
          </a:p>
          <a:p>
            <a:br>
              <a:rPr lang="en-US" b="0" dirty="0">
                <a:effectLst/>
              </a:rPr>
            </a:br>
            <a:r>
              <a:rPr lang="en-US" sz="1200" b="0" i="0" u="none" strike="noStrike" cap="none" dirty="0">
                <a:solidFill>
                  <a:schemeClr val="accent1"/>
                </a:solidFill>
                <a:effectLst/>
                <a:latin typeface="Calibri"/>
                <a:ea typeface="Calibri"/>
                <a:cs typeface="Calibri"/>
                <a:sym typeface="Calibri"/>
              </a:rPr>
              <a:t>But Chain-of-Thought only helps if the knowledge is already </a:t>
            </a:r>
            <a:r>
              <a:rPr lang="en-US" sz="1200" b="0" i="1" u="none" strike="noStrike" cap="none" dirty="0">
                <a:solidFill>
                  <a:schemeClr val="accent1"/>
                </a:solidFill>
                <a:effectLst/>
                <a:latin typeface="Calibri"/>
                <a:ea typeface="Calibri"/>
                <a:cs typeface="Calibri"/>
                <a:sym typeface="Calibri"/>
              </a:rPr>
              <a:t>inside</a:t>
            </a:r>
            <a:r>
              <a:rPr lang="en-US" sz="1200" b="0" i="0" u="none" strike="noStrike" cap="none" dirty="0">
                <a:solidFill>
                  <a:schemeClr val="accent1"/>
                </a:solidFill>
                <a:effectLst/>
                <a:latin typeface="Calibri"/>
                <a:ea typeface="Calibri"/>
                <a:cs typeface="Calibri"/>
                <a:sym typeface="Calibri"/>
              </a:rPr>
              <a:t> the model. What happens if the information is too new, specialized, or private for the model to know? </a:t>
            </a:r>
            <a:endParaRPr lang="en-US" dirty="0"/>
          </a:p>
        </p:txBody>
      </p:sp>
    </p:spTree>
    <p:extLst>
      <p:ext uri="{BB962C8B-B14F-4D97-AF65-F5344CB8AC3E}">
        <p14:creationId xmlns:p14="http://schemas.microsoft.com/office/powerpoint/2010/main" val="1924740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2FA5C-345D-743F-34F9-B3DAC9C2A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2BF38-6B17-C90D-E615-ADDEA99F8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16440-9510-C8DA-2F62-BAF0C5C93FB1}"/>
              </a:ext>
            </a:extLst>
          </p:cNvPr>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Then, we use a technique called Retrieval-Augmented Generation, or RAG. RAG grounds the LLM in facts by connecting it to an external knowledge base. Think of it as giving the LLM a textbook and forcing it to look up the answer before speaking.</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Here's how the workflow on the slide operates:</a:t>
            </a:r>
            <a:endParaRPr lang="en-US" b="0" dirty="0">
              <a:effectLst/>
            </a:endParaRPr>
          </a:p>
          <a:p>
            <a:pPr rtl="0" fontAlgn="base"/>
            <a:r>
              <a:rPr lang="en-US" sz="1200" b="0" i="0" u="none" strike="noStrike" cap="none" dirty="0">
                <a:solidFill>
                  <a:schemeClr val="accent1"/>
                </a:solidFill>
                <a:effectLst/>
                <a:latin typeface="Calibri"/>
                <a:ea typeface="Calibri"/>
                <a:cs typeface="Calibri"/>
                <a:sym typeface="Calibri"/>
              </a:rPr>
              <a:t>First, a user provides a prompt.</a:t>
            </a:r>
          </a:p>
          <a:p>
            <a:pPr rtl="0" fontAlgn="base"/>
            <a:r>
              <a:rPr lang="en-US" sz="1200" b="0" i="0" u="none" strike="noStrike" cap="none" dirty="0">
                <a:solidFill>
                  <a:schemeClr val="accent1"/>
                </a:solidFill>
                <a:effectLst/>
                <a:latin typeface="Calibri"/>
                <a:ea typeface="Calibri"/>
                <a:cs typeface="Calibri"/>
                <a:sym typeface="Calibri"/>
              </a:rPr>
              <a:t>Instead of going directly to the LLM, the system sends the query to a Retriever. The Retriever is like a super-fast librarian that searches a specific knowledge base—this could be recent scientific papers or a company’s internal document, and fetches the most relevant documents.</a:t>
            </a:r>
          </a:p>
          <a:p>
            <a:pPr rtl="0" fontAlgn="base"/>
            <a:r>
              <a:rPr lang="en-US" sz="1200" b="0" i="0" u="none" strike="noStrike" cap="none" dirty="0">
                <a:solidFill>
                  <a:schemeClr val="accent1"/>
                </a:solidFill>
                <a:effectLst/>
                <a:latin typeface="Calibri"/>
                <a:ea typeface="Calibri"/>
                <a:cs typeface="Calibri"/>
                <a:sym typeface="Calibri"/>
              </a:rPr>
              <a:t>The system then 'augments' the original prompt, combining the user's question with the related information it just retrieved.</a:t>
            </a:r>
          </a:p>
          <a:p>
            <a:pPr rtl="0" fontAlgn="base"/>
            <a:r>
              <a:rPr lang="en-US" sz="1200" b="0" i="0" u="none" strike="noStrike" cap="none" dirty="0">
                <a:solidFill>
                  <a:schemeClr val="accent1"/>
                </a:solidFill>
                <a:effectLst/>
                <a:latin typeface="Calibri"/>
                <a:ea typeface="Calibri"/>
                <a:cs typeface="Calibri"/>
                <a:sym typeface="Calibri"/>
              </a:rPr>
              <a:t>Finally, this augmented prompt is sent to the LLM, which now generates a response that is grounded in the provided documents.</a:t>
            </a: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This process ensures that the model's answers are up-to-date and based on a verifiable source of truth, significantly reducing the risk of hallucination. Sometimes, you can also see the </a:t>
            </a:r>
            <a:r>
              <a:rPr lang="en-US" sz="1200" b="0" i="0" u="none" strike="noStrike" cap="none" dirty="0" err="1">
                <a:solidFill>
                  <a:schemeClr val="accent1"/>
                </a:solidFill>
                <a:effectLst/>
                <a:latin typeface="Calibri"/>
                <a:ea typeface="Calibri"/>
                <a:cs typeface="Calibri"/>
                <a:sym typeface="Calibri"/>
              </a:rPr>
              <a:t>Chatgpt</a:t>
            </a:r>
            <a:r>
              <a:rPr lang="en-US" sz="1200" b="0" i="0" u="none" strike="noStrike" cap="none" dirty="0">
                <a:solidFill>
                  <a:schemeClr val="accent1"/>
                </a:solidFill>
                <a:effectLst/>
                <a:latin typeface="Calibri"/>
                <a:ea typeface="Calibri"/>
                <a:cs typeface="Calibri"/>
                <a:sym typeface="Calibri"/>
              </a:rPr>
              <a:t> search on the webpage to grab the information.</a:t>
            </a:r>
            <a:endParaRPr lang="en-US" b="0" dirty="0">
              <a:effectLst/>
            </a:endParaRPr>
          </a:p>
          <a:p>
            <a:br>
              <a:rPr lang="en-US" dirty="0"/>
            </a:br>
            <a:endParaRPr lang="en-US" dirty="0"/>
          </a:p>
        </p:txBody>
      </p:sp>
    </p:spTree>
    <p:extLst>
      <p:ext uri="{BB962C8B-B14F-4D97-AF65-F5344CB8AC3E}">
        <p14:creationId xmlns:p14="http://schemas.microsoft.com/office/powerpoint/2010/main" val="32281240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cap="none" dirty="0">
                <a:solidFill>
                  <a:schemeClr val="accent1"/>
                </a:solidFill>
                <a:effectLst/>
                <a:latin typeface="Calibri"/>
                <a:ea typeface="Calibri"/>
                <a:cs typeface="Calibri"/>
                <a:sym typeface="Calibri"/>
              </a:rPr>
              <a:t>The second major challenge is for the multimodal LLM, which is especially relevant for the multimodal models we've been discussing, is language bias. The problem is exactly what the description says: the question alone causally drives the answer. The model becomes so reliant on the statistical patterns in its text training data that it starts to ignore the visual information from the image.</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The banana example on the slide is perfect for illustrating this: We show the model a picture of green, unripe bananas, We ask, "what color are bananas?", A biased model will answer "yellow."</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Why? Because in the billions of sentences it was trained on, the association between 'banana' and 'yellow' is incredibly strong. This language-based shortcut is so powerful that it overrides the actual visual evidence in front of it. You can imagine the danger of this in an agricultural setting, where a model might misidentify a healthy crop as diseased simply because that crop type is frequently associated with disease in textbooks.</a:t>
            </a:r>
            <a:endParaRPr lang="en-US" b="0" dirty="0">
              <a:effectLst/>
            </a:endParaRPr>
          </a:p>
          <a:p>
            <a:br>
              <a:rPr lang="en-US" dirty="0"/>
            </a:br>
            <a:endParaRPr lang="en-US" dirty="0"/>
          </a:p>
        </p:txBody>
      </p:sp>
    </p:spTree>
    <p:extLst>
      <p:ext uri="{BB962C8B-B14F-4D97-AF65-F5344CB8AC3E}">
        <p14:creationId xmlns:p14="http://schemas.microsoft.com/office/powerpoint/2010/main" val="10589599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364cecdf59_0_3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rtl="0"/>
            <a:r>
              <a:rPr lang="en-US" sz="1200" b="0" i="0" u="none" strike="noStrike" cap="none" dirty="0">
                <a:solidFill>
                  <a:schemeClr val="accent1"/>
                </a:solidFill>
                <a:effectLst/>
                <a:latin typeface="Calibri"/>
                <a:ea typeface="Calibri"/>
                <a:cs typeface="Calibri"/>
                <a:sym typeface="Calibri"/>
              </a:rPr>
              <a:t>So, how can we force the model to actually look at the image? One advanced solution comes from a paper called 'Counterfactual VQA,' which uses causal inference to measure and remove this language bias.</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Let's break down the process shown in the figure.</a:t>
            </a:r>
            <a:endParaRPr lang="en-US" b="0" dirty="0">
              <a:effectLst/>
            </a:endParaRPr>
          </a:p>
          <a:p>
            <a:pPr rtl="0"/>
            <a:br>
              <a:rPr lang="en-US" b="0" dirty="0">
                <a:effectLst/>
              </a:rPr>
            </a:br>
            <a:r>
              <a:rPr lang="en-US" sz="1200" b="1" i="0" u="none" strike="noStrike" cap="none" dirty="0">
                <a:solidFill>
                  <a:schemeClr val="accent1"/>
                </a:solidFill>
                <a:effectLst/>
                <a:latin typeface="Calibri"/>
                <a:ea typeface="Calibri"/>
                <a:cs typeface="Calibri"/>
                <a:sym typeface="Calibri"/>
              </a:rPr>
              <a:t>Total Effect (TE):</a:t>
            </a:r>
            <a:r>
              <a:rPr lang="en-US" sz="1200" b="0" i="0" u="none" strike="noStrike" cap="none" dirty="0">
                <a:solidFill>
                  <a:schemeClr val="accent1"/>
                </a:solidFill>
                <a:effectLst/>
                <a:latin typeface="Calibri"/>
                <a:ea typeface="Calibri"/>
                <a:cs typeface="Calibri"/>
                <a:sym typeface="Calibri"/>
              </a:rPr>
              <a:t> First, we measure the model's normal, 'biased' performance. We give it the real image (the green banana) and the real question. The biased answer is the Total Effect.</a:t>
            </a:r>
            <a:endParaRPr lang="en-US" b="0" dirty="0">
              <a:effectLst/>
            </a:endParaRPr>
          </a:p>
          <a:p>
            <a:pPr rtl="0"/>
            <a:r>
              <a:rPr lang="en-US" sz="1200" b="1" i="0" u="none" strike="noStrike" cap="none" dirty="0">
                <a:solidFill>
                  <a:schemeClr val="accent1"/>
                </a:solidFill>
                <a:effectLst/>
                <a:latin typeface="Calibri"/>
                <a:ea typeface="Calibri"/>
                <a:cs typeface="Calibri"/>
                <a:sym typeface="Calibri"/>
              </a:rPr>
              <a:t>Language Bias (NDE):</a:t>
            </a:r>
            <a:r>
              <a:rPr lang="en-US" sz="1200" b="0" i="0" u="none" strike="noStrike" cap="none" dirty="0">
                <a:solidFill>
                  <a:schemeClr val="accent1"/>
                </a:solidFill>
                <a:effectLst/>
                <a:latin typeface="Calibri"/>
                <a:ea typeface="Calibri"/>
                <a:cs typeface="Calibri"/>
                <a:sym typeface="Calibri"/>
              </a:rPr>
              <a:t> Next, we need to isolate the bias. This is the clever part. We give the model the </a:t>
            </a:r>
            <a:r>
              <a:rPr lang="en-US" sz="1200" b="1" i="0" u="none" strike="noStrike" cap="none" dirty="0">
                <a:solidFill>
                  <a:schemeClr val="accent1"/>
                </a:solidFill>
                <a:effectLst/>
                <a:latin typeface="Calibri"/>
                <a:ea typeface="Calibri"/>
                <a:cs typeface="Calibri"/>
                <a:sym typeface="Calibri"/>
              </a:rPr>
              <a:t>real question</a:t>
            </a:r>
            <a:r>
              <a:rPr lang="en-US" sz="1200" b="0" i="0" u="none" strike="noStrike" cap="none" dirty="0">
                <a:solidFill>
                  <a:schemeClr val="accent1"/>
                </a:solidFill>
                <a:effectLst/>
                <a:latin typeface="Calibri"/>
                <a:ea typeface="Calibri"/>
                <a:cs typeface="Calibri"/>
                <a:sym typeface="Calibri"/>
              </a:rPr>
              <a:t>, but a </a:t>
            </a:r>
            <a:r>
              <a:rPr lang="en-US" sz="1200" b="1" i="0" u="none" strike="noStrike" cap="none" dirty="0">
                <a:solidFill>
                  <a:schemeClr val="accent1"/>
                </a:solidFill>
                <a:effectLst/>
                <a:latin typeface="Calibri"/>
                <a:ea typeface="Calibri"/>
                <a:cs typeface="Calibri"/>
                <a:sym typeface="Calibri"/>
              </a:rPr>
              <a:t>counterfactual image</a:t>
            </a:r>
            <a:r>
              <a:rPr lang="en-US" sz="1200" b="0" i="0" u="none" strike="noStrike" cap="none" dirty="0">
                <a:solidFill>
                  <a:schemeClr val="accent1"/>
                </a:solidFill>
                <a:effectLst/>
                <a:latin typeface="Calibri"/>
                <a:ea typeface="Calibri"/>
                <a:cs typeface="Calibri"/>
                <a:sym typeface="Calibri"/>
              </a:rPr>
              <a:t>—a random, unrelated picture, like a car. If the model </a:t>
            </a:r>
            <a:r>
              <a:rPr lang="en-US" sz="1200" b="0" i="1" u="none" strike="noStrike" cap="none" dirty="0">
                <a:solidFill>
                  <a:schemeClr val="accent1"/>
                </a:solidFill>
                <a:effectLst/>
                <a:latin typeface="Calibri"/>
                <a:ea typeface="Calibri"/>
                <a:cs typeface="Calibri"/>
                <a:sym typeface="Calibri"/>
              </a:rPr>
              <a:t>still</a:t>
            </a:r>
            <a:r>
              <a:rPr lang="en-US" sz="1200" b="0" i="0" u="none" strike="noStrike" cap="none" dirty="0">
                <a:solidFill>
                  <a:schemeClr val="accent1"/>
                </a:solidFill>
                <a:effectLst/>
                <a:latin typeface="Calibri"/>
                <a:ea typeface="Calibri"/>
                <a:cs typeface="Calibri"/>
                <a:sym typeface="Calibri"/>
              </a:rPr>
              <a:t> answers "yellow" to "what color are bananas?" while looking at a car, we know that answer is coming </a:t>
            </a:r>
            <a:r>
              <a:rPr lang="en-US" sz="1200" b="1" i="0" u="none" strike="noStrike" cap="none" dirty="0">
                <a:solidFill>
                  <a:schemeClr val="accent1"/>
                </a:solidFill>
                <a:effectLst/>
                <a:latin typeface="Calibri"/>
                <a:ea typeface="Calibri"/>
                <a:cs typeface="Calibri"/>
                <a:sym typeface="Calibri"/>
              </a:rPr>
              <a:t>100% from language bias</a:t>
            </a:r>
            <a:r>
              <a:rPr lang="en-US" sz="1200" b="0" i="0" u="none" strike="noStrike" cap="none" dirty="0">
                <a:solidFill>
                  <a:schemeClr val="accent1"/>
                </a:solidFill>
                <a:effectLst/>
                <a:latin typeface="Calibri"/>
                <a:ea typeface="Calibri"/>
                <a:cs typeface="Calibri"/>
                <a:sym typeface="Calibri"/>
              </a:rPr>
              <a:t>, because the image was irrelevant. This is called the Natural Direct Effect (NDE).</a:t>
            </a:r>
            <a:endParaRPr lang="en-US" b="0" dirty="0">
              <a:effectLst/>
            </a:endParaRPr>
          </a:p>
          <a:p>
            <a:pPr rtl="0"/>
            <a:r>
              <a:rPr lang="en-US" sz="1200" b="1" i="0" u="none" strike="noStrike" cap="none" dirty="0">
                <a:solidFill>
                  <a:schemeClr val="accent1"/>
                </a:solidFill>
                <a:effectLst/>
                <a:latin typeface="Calibri"/>
                <a:ea typeface="Calibri"/>
                <a:cs typeface="Calibri"/>
                <a:sym typeface="Calibri"/>
              </a:rPr>
              <a:t>The Fix (TIE):</a:t>
            </a:r>
            <a:r>
              <a:rPr lang="en-US" sz="1200" b="0" i="0" u="none" strike="noStrike" cap="none" dirty="0">
                <a:solidFill>
                  <a:schemeClr val="accent1"/>
                </a:solidFill>
                <a:effectLst/>
                <a:latin typeface="Calibri"/>
                <a:ea typeface="Calibri"/>
                <a:cs typeface="Calibri"/>
                <a:sym typeface="Calibri"/>
              </a:rPr>
              <a:t> Finally, we get the 'true' visual understanding of the model by subtracting the language bias (NDE) from the Total Effect (TE). During training, the model is penalized based on this bias, forcing it to pay less attention to the language shortcuts and more attention to the visual evidence to get the correct answer.</a:t>
            </a:r>
            <a:endParaRPr lang="en-US" b="0" dirty="0">
              <a:effectLst/>
            </a:endParaRPr>
          </a:p>
          <a:p>
            <a:pPr rtl="0"/>
            <a:br>
              <a:rPr lang="en-US" b="0" dirty="0">
                <a:effectLst/>
              </a:rPr>
            </a:br>
            <a:r>
              <a:rPr lang="en-US" sz="1200" b="0" i="0" u="none" strike="noStrike" cap="none" dirty="0">
                <a:solidFill>
                  <a:schemeClr val="accent1"/>
                </a:solidFill>
                <a:effectLst/>
                <a:latin typeface="Calibri"/>
                <a:ea typeface="Calibri"/>
                <a:cs typeface="Calibri"/>
                <a:sym typeface="Calibri"/>
              </a:rPr>
              <a:t>In short, this method figures out how much of the model's answer is just a 'lazy' language-based guess and subtracts that influence, forcing it to rely on what it actually sees."</a:t>
            </a:r>
            <a:endParaRPr lang="en-US" b="0" dirty="0">
              <a:effectLst/>
            </a:endParaRPr>
          </a:p>
          <a:p>
            <a:br>
              <a:rPr lang="en-US" dirty="0"/>
            </a:br>
            <a:endParaRPr dirty="0"/>
          </a:p>
        </p:txBody>
      </p:sp>
      <p:sp>
        <p:nvSpPr>
          <p:cNvPr id="295" name="Google Shape;295;g3364cecdf5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D8DC5C4F-F2FC-9BF9-A8EF-D1CCB3947D09}"/>
            </a:ext>
          </a:extLst>
        </p:cNvPr>
        <p:cNvGrpSpPr/>
        <p:nvPr/>
      </p:nvGrpSpPr>
      <p:grpSpPr>
        <a:xfrm>
          <a:off x="0" y="0"/>
          <a:ext cx="0" cy="0"/>
          <a:chOff x="0" y="0"/>
          <a:chExt cx="0" cy="0"/>
        </a:xfrm>
      </p:grpSpPr>
      <p:sp>
        <p:nvSpPr>
          <p:cNvPr id="90" name="Google Shape;90;p10:notes">
            <a:extLst>
              <a:ext uri="{FF2B5EF4-FFF2-40B4-BE49-F238E27FC236}">
                <a16:creationId xmlns:a16="http://schemas.microsoft.com/office/drawing/2014/main" id="{9D129176-F5B1-5C92-D1EF-75C8DC650FFB}"/>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10:notes">
            <a:extLst>
              <a:ext uri="{FF2B5EF4-FFF2-40B4-BE49-F238E27FC236}">
                <a16:creationId xmlns:a16="http://schemas.microsoft.com/office/drawing/2014/main" id="{55DAB9A0-9D04-4DE3-B030-382F416FF4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6115337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figures from the </a:t>
            </a:r>
            <a:r>
              <a:rPr lang="en-US" err="1"/>
              <a:t>LLaVA</a:t>
            </a:r>
            <a:r>
              <a:rPr lang="en-US"/>
              <a:t>-Med paper illustrate the </a:t>
            </a:r>
            <a:r>
              <a:rPr lang="en-US" i="1"/>
              <a:t>second step</a:t>
            </a:r>
            <a:r>
              <a:rPr lang="en-US"/>
              <a:t> of training, where the model is fine-tuned to follow medical instructions and answer questions across a variety of image types. The first stage—alignment—uses figure-caption pairs, but the charts here show how richly the model is trained to handle different tasks and questions in biomedical images.</a:t>
            </a:r>
          </a:p>
        </p:txBody>
      </p:sp>
    </p:spTree>
    <p:extLst>
      <p:ext uri="{BB962C8B-B14F-4D97-AF65-F5344CB8AC3E}">
        <p14:creationId xmlns:p14="http://schemas.microsoft.com/office/powerpoint/2010/main" val="3412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mpty background">
  <p:cSld name="empty background">
    <p:bg>
      <p:bgPr>
        <a:solidFill>
          <a:srgbClr val="FFFFFF"/>
        </a:solidFill>
        <a:effectLst/>
      </p:bgPr>
    </p:bg>
    <p:spTree>
      <p:nvGrpSpPr>
        <p:cNvPr id="1" name="Shape 6"/>
        <p:cNvGrpSpPr/>
        <p:nvPr/>
      </p:nvGrpSpPr>
      <p:grpSpPr>
        <a:xfrm>
          <a:off x="0" y="0"/>
          <a:ext cx="0" cy="0"/>
          <a:chOff x="0" y="0"/>
          <a:chExt cx="0" cy="0"/>
        </a:xfrm>
      </p:grpSpPr>
      <p:sp>
        <p:nvSpPr>
          <p:cNvPr id="7" name="Google Shape;7;p71"/>
          <p:cNvSpPr/>
          <p:nvPr/>
        </p:nvSpPr>
        <p:spPr>
          <a:xfrm>
            <a:off x="-11706" y="-482446"/>
            <a:ext cx="9167400" cy="6108300"/>
          </a:xfrm>
          <a:prstGeom prst="rect">
            <a:avLst/>
          </a:prstGeom>
          <a:noFill/>
          <a:ln>
            <a:noFill/>
          </a:ln>
        </p:spPr>
        <p:txBody>
          <a:bodyPr spcFirstLastPara="1" wrap="square" lIns="34275" tIns="45700" rIns="34275" bIns="45700" anchor="t" anchorCtr="0">
            <a:normAutofit/>
          </a:bodyPr>
          <a:lstStyle/>
          <a:p>
            <a:pPr marL="0" marR="0" lvl="0" indent="0" algn="l" rtl="0">
              <a:lnSpc>
                <a:spcPct val="100000"/>
              </a:lnSpc>
              <a:spcBef>
                <a:spcPts val="0"/>
              </a:spcBef>
              <a:spcAft>
                <a:spcPts val="0"/>
              </a:spcAft>
              <a:buClr>
                <a:schemeClr val="accent1"/>
              </a:buClr>
              <a:buSzPts val="1350"/>
              <a:buFont typeface="Calibri"/>
              <a:buNone/>
            </a:pPr>
            <a:endParaRPr sz="1350" b="0" i="0" u="none" strike="noStrike" cap="none">
              <a:solidFill>
                <a:schemeClr val="accent1"/>
              </a:solidFill>
              <a:latin typeface="Calibri"/>
              <a:ea typeface="Calibri"/>
              <a:cs typeface="Calibri"/>
              <a:sym typeface="Calibri"/>
            </a:endParaRPr>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816967806"/>
      </p:ext>
    </p:extLst>
  </p:cSld>
  <p:clrMapOvr>
    <a:masterClrMapping/>
  </p:clrMapOvr>
  <p:hf sldNum="0" hd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64" r:id="rId2"/>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arxiv.org/pdf/1706.03762.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2" Type="http://schemas.openxmlformats.org/officeDocument/2006/relationships/hyperlink" Target="https://python.plainenglish.io/attention-mechanism-in-a-large-language-model-unlocking-the-power-of-context-d797dc55f5e3"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2"/>
        <p:cNvGrpSpPr/>
        <p:nvPr/>
      </p:nvGrpSpPr>
      <p:grpSpPr>
        <a:xfrm>
          <a:off x="0" y="0"/>
          <a:ext cx="0" cy="0"/>
          <a:chOff x="0" y="0"/>
          <a:chExt cx="0" cy="0"/>
        </a:xfrm>
      </p:grpSpPr>
      <p:sp>
        <p:nvSpPr>
          <p:cNvPr id="93" name="Google Shape;93;p10"/>
          <p:cNvSpPr/>
          <p:nvPr/>
        </p:nvSpPr>
        <p:spPr>
          <a:xfrm>
            <a:off x="7002890" y="-13300"/>
            <a:ext cx="2141100" cy="478800"/>
          </a:xfrm>
          <a:prstGeom prst="rect">
            <a:avLst/>
          </a:prstGeom>
          <a:solidFill>
            <a:schemeClr val="dk1"/>
          </a:solid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chemeClr val="accent1"/>
              </a:buClr>
              <a:buSzPts val="1350"/>
              <a:buFont typeface="Calibri"/>
              <a:buNone/>
            </a:pPr>
            <a:endParaRPr sz="1350" b="0" i="0" u="none" strike="noStrike" cap="none">
              <a:solidFill>
                <a:schemeClr val="accent1"/>
              </a:solidFill>
              <a:latin typeface="Calibri"/>
              <a:ea typeface="Calibri"/>
              <a:cs typeface="Calibri"/>
              <a:sym typeface="Calibri"/>
            </a:endParaRPr>
          </a:p>
        </p:txBody>
      </p:sp>
      <p:cxnSp>
        <p:nvCxnSpPr>
          <p:cNvPr id="94" name="Google Shape;94;p10"/>
          <p:cNvCxnSpPr/>
          <p:nvPr/>
        </p:nvCxnSpPr>
        <p:spPr>
          <a:xfrm>
            <a:off x="6873527" y="-72422"/>
            <a:ext cx="0" cy="732300"/>
          </a:xfrm>
          <a:prstGeom prst="straightConnector1">
            <a:avLst/>
          </a:prstGeom>
          <a:noFill/>
          <a:ln w="9525" cap="flat" cmpd="sng">
            <a:solidFill>
              <a:schemeClr val="accent3"/>
            </a:solidFill>
            <a:prstDash val="dash"/>
            <a:miter lim="8000"/>
            <a:headEnd type="none" w="sm" len="sm"/>
            <a:tailEnd type="none" w="sm" len="sm"/>
          </a:ln>
        </p:spPr>
      </p:cxnSp>
      <p:cxnSp>
        <p:nvCxnSpPr>
          <p:cNvPr id="95" name="Google Shape;95;p10"/>
          <p:cNvCxnSpPr/>
          <p:nvPr/>
        </p:nvCxnSpPr>
        <p:spPr>
          <a:xfrm>
            <a:off x="6688364" y="539168"/>
            <a:ext cx="2816400" cy="0"/>
          </a:xfrm>
          <a:prstGeom prst="straightConnector1">
            <a:avLst/>
          </a:prstGeom>
          <a:noFill/>
          <a:ln w="9525" cap="flat" cmpd="sng">
            <a:solidFill>
              <a:schemeClr val="accent3"/>
            </a:solidFill>
            <a:prstDash val="dash"/>
            <a:miter lim="8000"/>
            <a:headEnd type="none" w="sm" len="sm"/>
            <a:tailEnd type="none" w="sm" len="sm"/>
          </a:ln>
        </p:spPr>
      </p:cxnSp>
      <p:pic>
        <p:nvPicPr>
          <p:cNvPr id="96" name="Google Shape;96;p10"/>
          <p:cNvPicPr preferRelativeResize="0"/>
          <p:nvPr/>
        </p:nvPicPr>
        <p:blipFill rotWithShape="1">
          <a:blip r:embed="rId3">
            <a:alphaModFix/>
          </a:blip>
          <a:srcRect/>
          <a:stretch/>
        </p:blipFill>
        <p:spPr>
          <a:xfrm>
            <a:off x="7114787" y="-1"/>
            <a:ext cx="1437985" cy="452150"/>
          </a:xfrm>
          <a:prstGeom prst="rect">
            <a:avLst/>
          </a:prstGeom>
          <a:noFill/>
          <a:ln>
            <a:noFill/>
          </a:ln>
        </p:spPr>
      </p:pic>
      <p:pic>
        <p:nvPicPr>
          <p:cNvPr id="97" name="Google Shape;97;p10" descr="pasted-image.pdf"/>
          <p:cNvPicPr preferRelativeResize="0"/>
          <p:nvPr/>
        </p:nvPicPr>
        <p:blipFill rotWithShape="1">
          <a:blip r:embed="rId4">
            <a:alphaModFix/>
          </a:blip>
          <a:srcRect/>
          <a:stretch/>
        </p:blipFill>
        <p:spPr>
          <a:xfrm>
            <a:off x="869958" y="2185988"/>
            <a:ext cx="129269" cy="129270"/>
          </a:xfrm>
          <a:prstGeom prst="rect">
            <a:avLst/>
          </a:prstGeom>
          <a:noFill/>
          <a:ln>
            <a:noFill/>
          </a:ln>
        </p:spPr>
      </p:pic>
      <p:sp>
        <p:nvSpPr>
          <p:cNvPr id="98" name="Google Shape;98;p10"/>
          <p:cNvSpPr/>
          <p:nvPr/>
        </p:nvSpPr>
        <p:spPr>
          <a:xfrm>
            <a:off x="1042325" y="2363100"/>
            <a:ext cx="7869900" cy="8247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1"/>
              </a:buClr>
              <a:buSzPts val="4050"/>
              <a:buFont typeface="Arial"/>
              <a:buNone/>
            </a:pPr>
            <a:r>
              <a:rPr lang="en-US" sz="4050">
                <a:solidFill>
                  <a:schemeClr val="lt1"/>
                </a:solidFill>
              </a:rPr>
              <a:t>LLM and Real-world Application </a:t>
            </a:r>
            <a:endParaRPr sz="4050">
              <a:solidFill>
                <a:schemeClr val="lt1"/>
              </a:solidFill>
            </a:endParaRPr>
          </a:p>
        </p:txBody>
      </p:sp>
      <p:sp>
        <p:nvSpPr>
          <p:cNvPr id="99" name="Google Shape;99;p10"/>
          <p:cNvSpPr/>
          <p:nvPr/>
        </p:nvSpPr>
        <p:spPr>
          <a:xfrm>
            <a:off x="1042317" y="3430711"/>
            <a:ext cx="5743800" cy="328800"/>
          </a:xfrm>
          <a:prstGeom prst="rect">
            <a:avLst/>
          </a:prstGeom>
          <a:noFill/>
          <a:ln>
            <a:noFill/>
          </a:ln>
        </p:spPr>
        <p:txBody>
          <a:bodyPr spcFirstLastPara="1" wrap="square" lIns="34275" tIns="45700" rIns="34275" bIns="45700" anchor="t" anchorCtr="0">
            <a:spAutoFit/>
          </a:bodyPr>
          <a:lstStyle/>
          <a:p>
            <a:pPr marL="0" marR="0" lvl="0" indent="0" algn="l" rtl="0">
              <a:lnSpc>
                <a:spcPct val="100000"/>
              </a:lnSpc>
              <a:spcBef>
                <a:spcPts val="0"/>
              </a:spcBef>
              <a:spcAft>
                <a:spcPts val="0"/>
              </a:spcAft>
              <a:buClr>
                <a:schemeClr val="accent2"/>
              </a:buClr>
              <a:buSzPts val="2250"/>
              <a:buFont typeface="Arial"/>
              <a:buNone/>
            </a:pPr>
            <a:r>
              <a:rPr lang="en-US" sz="2250">
                <a:solidFill>
                  <a:schemeClr val="lt1"/>
                </a:solidFill>
              </a:rPr>
              <a:t>Jun Hou </a:t>
            </a:r>
            <a:endParaRPr sz="1400" b="0" i="0" u="none" strike="noStrike" cap="none">
              <a:solidFill>
                <a:schemeClr val="lt1"/>
              </a:solidFill>
              <a:latin typeface="Arial"/>
              <a:ea typeface="Arial"/>
              <a:cs typeface="Arial"/>
              <a:sym typeface="Arial"/>
            </a:endParaRPr>
          </a:p>
        </p:txBody>
      </p:sp>
      <p:sp>
        <p:nvSpPr>
          <p:cNvPr id="100" name="Google Shape;100;p10"/>
          <p:cNvSpPr/>
          <p:nvPr/>
        </p:nvSpPr>
        <p:spPr>
          <a:xfrm>
            <a:off x="1042317" y="3809083"/>
            <a:ext cx="5743800" cy="376986"/>
          </a:xfrm>
          <a:prstGeom prst="rect">
            <a:avLst/>
          </a:prstGeom>
          <a:noFill/>
          <a:ln>
            <a:noFill/>
          </a:ln>
        </p:spPr>
        <p:txBody>
          <a:bodyPr spcFirstLastPara="1" wrap="square" lIns="34275" tIns="45700" rIns="34275" bIns="45700" anchor="t" anchorCtr="0">
            <a:spAutoFit/>
          </a:bodyPr>
          <a:lstStyle/>
          <a:p>
            <a:pPr marL="0" marR="0" lvl="0" indent="0" algn="l" rtl="0">
              <a:lnSpc>
                <a:spcPct val="100000"/>
              </a:lnSpc>
              <a:spcBef>
                <a:spcPts val="0"/>
              </a:spcBef>
              <a:spcAft>
                <a:spcPts val="0"/>
              </a:spcAft>
              <a:buClr>
                <a:schemeClr val="dk2"/>
              </a:buClr>
              <a:buSzPts val="1875"/>
              <a:buFont typeface="Arial"/>
              <a:buNone/>
            </a:pPr>
            <a:r>
              <a:rPr lang="en-US" sz="1850" b="0" i="0" u="none" strike="noStrike" cap="none">
                <a:solidFill>
                  <a:srgbClr val="75787B"/>
                </a:solidFill>
                <a:latin typeface="Arial"/>
                <a:ea typeface="Arial"/>
                <a:cs typeface="Arial"/>
                <a:sym typeface="Arial"/>
              </a:rPr>
              <a:t>JU</a:t>
            </a:r>
            <a:r>
              <a:rPr lang="en-US" sz="1850">
                <a:solidFill>
                  <a:srgbClr val="75787B"/>
                </a:solidFill>
              </a:rPr>
              <a:t>LY</a:t>
            </a:r>
            <a:r>
              <a:rPr lang="en-US" sz="1850" b="0" i="0" u="none" strike="noStrike" cap="none">
                <a:solidFill>
                  <a:srgbClr val="75787B"/>
                </a:solidFill>
                <a:latin typeface="Arial"/>
                <a:ea typeface="Arial"/>
                <a:cs typeface="Arial"/>
                <a:sym typeface="Arial"/>
              </a:rPr>
              <a:t> </a:t>
            </a:r>
            <a:r>
              <a:rPr lang="en-US" sz="1850">
                <a:solidFill>
                  <a:srgbClr val="75787B"/>
                </a:solidFill>
              </a:rPr>
              <a:t>15</a:t>
            </a:r>
            <a:r>
              <a:rPr lang="en-US" sz="1850" b="0" i="0" u="none" strike="noStrike" cap="none">
                <a:solidFill>
                  <a:srgbClr val="75787B"/>
                </a:solidFill>
                <a:latin typeface="Arial"/>
                <a:ea typeface="Arial"/>
                <a:cs typeface="Arial"/>
                <a:sym typeface="Arial"/>
              </a:rPr>
              <a:t>, 20</a:t>
            </a:r>
            <a:r>
              <a:rPr lang="en-US" sz="1850">
                <a:solidFill>
                  <a:srgbClr val="75787B"/>
                </a:solidFill>
              </a:rPr>
              <a:t>25</a:t>
            </a:r>
            <a:endParaRPr lang="en-US" sz="1850" b="0" i="0" u="none" strike="noStrike" cap="none">
              <a:solidFill>
                <a:srgbClr val="75787B"/>
              </a:solidFill>
              <a:latin typeface="Arial"/>
              <a:ea typeface="Arial"/>
              <a:cs typeface="Arial"/>
              <a:sym typeface="Arial"/>
            </a:endParaRPr>
          </a:p>
        </p:txBody>
      </p:sp>
      <p:pic>
        <p:nvPicPr>
          <p:cNvPr id="101" name="Google Shape;101;p10" descr="VT-grid-02.png"/>
          <p:cNvPicPr preferRelativeResize="0"/>
          <p:nvPr/>
        </p:nvPicPr>
        <p:blipFill rotWithShape="1">
          <a:blip r:embed="rId5">
            <a:alphaModFix/>
          </a:blip>
          <a:srcRect/>
          <a:stretch/>
        </p:blipFill>
        <p:spPr>
          <a:xfrm>
            <a:off x="1469909" y="4532656"/>
            <a:ext cx="5962954" cy="38576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p:cNvGrpSpPr/>
        <p:nvPr/>
      </p:nvGrpSpPr>
      <p:grpSpPr>
        <a:xfrm>
          <a:off x="0" y="0"/>
          <a:ext cx="0" cy="0"/>
          <a:chOff x="0" y="0"/>
          <a:chExt cx="0" cy="0"/>
        </a:xfrm>
      </p:grpSpPr>
      <p:sp>
        <p:nvSpPr>
          <p:cNvPr id="106" name="Google Shape;106;p17"/>
          <p:cNvSpPr/>
          <p:nvPr/>
        </p:nvSpPr>
        <p:spPr>
          <a:xfrm>
            <a:off x="1847388" y="2066292"/>
            <a:ext cx="418500" cy="381900"/>
          </a:xfrm>
          <a:prstGeom prst="rect">
            <a:avLst/>
          </a:prstGeom>
          <a:noFill/>
          <a:ln>
            <a:noFill/>
          </a:ln>
        </p:spPr>
        <p:txBody>
          <a:bodyPr spcFirstLastPara="1" wrap="square" lIns="34275" tIns="45700" rIns="34275" bIns="45700" anchor="b" anchorCtr="0">
            <a:spAutoFit/>
          </a:bodyPr>
          <a:lstStyle/>
          <a:p>
            <a:pPr marL="0" marR="0" lvl="0" indent="0" algn="l" rtl="0">
              <a:lnSpc>
                <a:spcPct val="90000"/>
              </a:lnSpc>
              <a:spcBef>
                <a:spcPts val="0"/>
              </a:spcBef>
              <a:spcAft>
                <a:spcPts val="0"/>
              </a:spcAft>
              <a:buClr>
                <a:schemeClr val="accent2"/>
              </a:buClr>
              <a:buSzPts val="3000"/>
              <a:buFont typeface="Arial"/>
              <a:buNone/>
            </a:pPr>
            <a:endParaRPr sz="3000" b="0" i="0" u="none" strike="noStrike" cap="none">
              <a:solidFill>
                <a:schemeClr val="accent2"/>
              </a:solidFill>
              <a:latin typeface="Arial"/>
              <a:ea typeface="Arial"/>
              <a:cs typeface="Arial"/>
              <a:sym typeface="Arial"/>
            </a:endParaRPr>
          </a:p>
        </p:txBody>
      </p:sp>
      <p:sp>
        <p:nvSpPr>
          <p:cNvPr id="107" name="Google Shape;107;p17"/>
          <p:cNvSpPr/>
          <p:nvPr/>
        </p:nvSpPr>
        <p:spPr>
          <a:xfrm>
            <a:off x="1635109" y="1553814"/>
            <a:ext cx="7509000" cy="2035800"/>
          </a:xfrm>
          <a:prstGeom prst="rect">
            <a:avLst/>
          </a:prstGeom>
          <a:noFill/>
          <a:ln>
            <a:noFill/>
          </a:ln>
        </p:spPr>
        <p:txBody>
          <a:bodyPr spcFirstLastPara="1" wrap="square" lIns="34275" tIns="45700" rIns="34275" bIns="45700" anchor="ctr" anchorCtr="0">
            <a:noAutofit/>
          </a:bodyPr>
          <a:lstStyle/>
          <a:p>
            <a:pPr marL="0" marR="0" lvl="0" indent="0" algn="ctr" rtl="0">
              <a:lnSpc>
                <a:spcPct val="100000"/>
              </a:lnSpc>
              <a:spcBef>
                <a:spcPts val="0"/>
              </a:spcBef>
              <a:spcAft>
                <a:spcPts val="0"/>
              </a:spcAft>
              <a:buClr>
                <a:schemeClr val="accent2"/>
              </a:buClr>
              <a:buSzPts val="1350"/>
              <a:buFont typeface="Calibri"/>
              <a:buNone/>
            </a:pPr>
            <a:endParaRPr sz="1350" b="0" i="0" u="none" strike="noStrike" cap="none">
              <a:solidFill>
                <a:schemeClr val="lt1"/>
              </a:solidFill>
              <a:latin typeface="Calibri"/>
              <a:ea typeface="Calibri"/>
              <a:cs typeface="Calibri"/>
              <a:sym typeface="Calibri"/>
            </a:endParaRPr>
          </a:p>
        </p:txBody>
      </p:sp>
      <p:sp>
        <p:nvSpPr>
          <p:cNvPr id="109" name="Google Shape;109;p17"/>
          <p:cNvSpPr/>
          <p:nvPr/>
        </p:nvSpPr>
        <p:spPr>
          <a:xfrm>
            <a:off x="1635108" y="1696892"/>
            <a:ext cx="6594491" cy="2564130"/>
          </a:xfrm>
          <a:prstGeom prst="rect">
            <a:avLst/>
          </a:prstGeom>
          <a:noFill/>
          <a:ln>
            <a:noFill/>
          </a:ln>
        </p:spPr>
        <p:txBody>
          <a:bodyPr spcFirstLastPara="1" wrap="square" lIns="34275" tIns="45700" rIns="34275" bIns="45700" anchor="ctr" anchorCtr="0">
            <a:noAutofit/>
          </a:bodyPr>
          <a:lstStyle/>
          <a:p>
            <a:pPr marL="213995" marR="0" lvl="0" indent="-213995" algn="l" rtl="0">
              <a:lnSpc>
                <a:spcPct val="150000"/>
              </a:lnSpc>
              <a:spcBef>
                <a:spcPts val="0"/>
              </a:spcBef>
              <a:spcAft>
                <a:spcPts val="0"/>
              </a:spcAft>
              <a:buClr>
                <a:schemeClr val="lt1"/>
              </a:buClr>
              <a:buSzPts val="1313"/>
              <a:buFont typeface="Noto Sans Symbols"/>
              <a:buChar char="▪"/>
            </a:pPr>
            <a:r>
              <a:rPr lang="en-US" sz="2000" b="0" i="0" u="none" strike="noStrike" cap="none">
                <a:solidFill>
                  <a:schemeClr val="lt1"/>
                </a:solidFill>
                <a:latin typeface="Crimson Text"/>
                <a:ea typeface="Crimson Text"/>
                <a:cs typeface="Crimson Text"/>
                <a:sym typeface="Crimson Text"/>
              </a:rPr>
              <a:t>What is Large Language Models (LLMs)?</a:t>
            </a:r>
            <a:endParaRPr lang="zh-CN" altLang="en-US">
              <a:solidFill>
                <a:schemeClr val="lt1"/>
              </a:solidFill>
            </a:endParaRPr>
          </a:p>
          <a:p>
            <a:pPr marL="213995" lvl="0" indent="-213995">
              <a:lnSpc>
                <a:spcPct val="150000"/>
              </a:lnSpc>
              <a:buClr>
                <a:schemeClr val="lt1"/>
              </a:buClr>
              <a:buSzPts val="1313"/>
              <a:buFont typeface="Noto Sans Symbols"/>
              <a:buChar char="▪"/>
            </a:pPr>
            <a:r>
              <a:rPr lang="en-US" sz="2000" b="0" i="0" u="none" strike="noStrike" cap="none">
                <a:solidFill>
                  <a:schemeClr val="lt1"/>
                </a:solidFill>
                <a:latin typeface="Crimson Text"/>
                <a:ea typeface="Crimson Text"/>
                <a:cs typeface="Crimson Text"/>
                <a:sym typeface="Crimson Text"/>
              </a:rPr>
              <a:t>LLM with </a:t>
            </a:r>
            <a:r>
              <a:rPr lang="en-US" sz="2000">
                <a:solidFill>
                  <a:schemeClr val="lt1"/>
                </a:solidFill>
                <a:latin typeface="Crimson Text"/>
                <a:ea typeface="Crimson Text"/>
                <a:cs typeface="Crimson Text"/>
                <a:sym typeface="Crimson Text"/>
              </a:rPr>
              <a:t>Mixture-of-Expert – Efficient and Powerful</a:t>
            </a:r>
            <a:endParaRPr lang="en-US" sz="2000" b="0" i="0" u="none" strike="noStrike" cap="none">
              <a:solidFill>
                <a:schemeClr val="lt1"/>
              </a:solidFill>
              <a:latin typeface="Crimson Text"/>
              <a:ea typeface="Crimson Text"/>
              <a:cs typeface="Crimson Text"/>
            </a:endParaRPr>
          </a:p>
          <a:p>
            <a:pPr marL="213995" marR="0" lvl="0" indent="-213995" algn="l" rtl="0">
              <a:lnSpc>
                <a:spcPct val="150000"/>
              </a:lnSpc>
              <a:spcBef>
                <a:spcPts val="0"/>
              </a:spcBef>
              <a:spcAft>
                <a:spcPts val="0"/>
              </a:spcAft>
              <a:buClr>
                <a:schemeClr val="lt1"/>
              </a:buClr>
              <a:buSzPts val="1313"/>
              <a:buFont typeface="Noto Sans Symbols"/>
              <a:buChar char="▪"/>
            </a:pPr>
            <a:r>
              <a:rPr lang="en-US" sz="2000" b="0" i="0" u="none" strike="noStrike" cap="none">
                <a:solidFill>
                  <a:schemeClr val="lt1"/>
                </a:solidFill>
                <a:latin typeface="Crimson Text"/>
                <a:ea typeface="Crimson Text"/>
                <a:cs typeface="Crimson Text"/>
                <a:sym typeface="Crimson Text"/>
              </a:rPr>
              <a:t>Multimodal LLM – Multimodal is how people seen the world</a:t>
            </a:r>
            <a:endParaRPr sz="2000" b="0" i="0" u="none" strike="noStrike" cap="none">
              <a:solidFill>
                <a:schemeClr val="lt1"/>
              </a:solidFill>
              <a:latin typeface="Crimson Text"/>
              <a:ea typeface="Crimson Text"/>
              <a:cs typeface="Crimson Text"/>
            </a:endParaRPr>
          </a:p>
          <a:p>
            <a:pPr marL="213995" lvl="0" indent="-213995">
              <a:lnSpc>
                <a:spcPct val="150000"/>
              </a:lnSpc>
              <a:spcBef>
                <a:spcPts val="525"/>
              </a:spcBef>
              <a:buClr>
                <a:schemeClr val="lt1"/>
              </a:buClr>
              <a:buSzPts val="1313"/>
              <a:buFont typeface="Noto Sans Symbols"/>
              <a:buChar char="▪"/>
            </a:pPr>
            <a:r>
              <a:rPr lang="en-US" sz="2000" b="0" i="0" u="none" strike="noStrike" cap="none">
                <a:solidFill>
                  <a:schemeClr val="lt1"/>
                </a:solidFill>
                <a:latin typeface="Crimson Text"/>
                <a:ea typeface="Crimson Text"/>
                <a:cs typeface="Crimson Text"/>
                <a:sym typeface="Crimson Text"/>
              </a:rPr>
              <a:t>LLM </a:t>
            </a:r>
            <a:r>
              <a:rPr lang="en-US" sz="2000">
                <a:solidFill>
                  <a:schemeClr val="lt1"/>
                </a:solidFill>
                <a:latin typeface="Crimson Text"/>
                <a:ea typeface="Crimson Text"/>
                <a:cs typeface="Crimson Text"/>
                <a:sym typeface="Crimson Text"/>
              </a:rPr>
              <a:t>Application – Real-world Challenges</a:t>
            </a:r>
            <a:endParaRPr sz="2000" b="0" i="0" u="none" strike="noStrike" cap="none">
              <a:solidFill>
                <a:schemeClr val="lt1"/>
              </a:solidFill>
              <a:latin typeface="Crimson Text"/>
              <a:ea typeface="Crimson Text"/>
              <a:cs typeface="Crimson Text"/>
            </a:endParaRPr>
          </a:p>
        </p:txBody>
      </p:sp>
      <p:sp>
        <p:nvSpPr>
          <p:cNvPr id="112" name="Google Shape;112;p17"/>
          <p:cNvSpPr/>
          <p:nvPr/>
        </p:nvSpPr>
        <p:spPr>
          <a:xfrm>
            <a:off x="1635109" y="1071728"/>
            <a:ext cx="4099064" cy="3036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2"/>
              </a:buClr>
              <a:buSzPts val="2250"/>
              <a:buFont typeface="Arial"/>
              <a:buNone/>
            </a:pPr>
            <a:r>
              <a:rPr lang="en-US" sz="2800" b="0" i="0" u="none" strike="noStrike" cap="none">
                <a:solidFill>
                  <a:schemeClr val="lt1"/>
                </a:solidFill>
                <a:latin typeface="Arial"/>
                <a:ea typeface="Arial"/>
                <a:cs typeface="Arial"/>
                <a:sym typeface="Arial"/>
              </a:rPr>
              <a:t>Agenda</a:t>
            </a:r>
            <a:endParaRPr sz="2800" b="0" i="0" u="none" strike="noStrike" cap="none">
              <a:solidFill>
                <a:schemeClr val="lt1"/>
              </a:solidFill>
              <a:latin typeface="Arial"/>
              <a:ea typeface="Arial"/>
              <a:cs typeface="Arial"/>
              <a:sym typeface="Arial"/>
            </a:endParaRPr>
          </a:p>
        </p:txBody>
      </p:sp>
      <p:cxnSp>
        <p:nvCxnSpPr>
          <p:cNvPr id="113" name="Google Shape;113;p17"/>
          <p:cNvCxnSpPr/>
          <p:nvPr/>
        </p:nvCxnSpPr>
        <p:spPr>
          <a:xfrm>
            <a:off x="1472519" y="-303796"/>
            <a:ext cx="0" cy="5751000"/>
          </a:xfrm>
          <a:prstGeom prst="straightConnector1">
            <a:avLst/>
          </a:prstGeom>
          <a:noFill/>
          <a:ln w="9525" cap="flat" cmpd="sng">
            <a:solidFill>
              <a:schemeClr val="lt2"/>
            </a:solidFill>
            <a:prstDash val="dash"/>
            <a:miter lim="8000"/>
            <a:headEnd type="none" w="sm" len="sm"/>
            <a:tailEnd type="none" w="sm" len="sm"/>
          </a:ln>
        </p:spPr>
      </p:cxnSp>
      <p:cxnSp>
        <p:nvCxnSpPr>
          <p:cNvPr id="114" name="Google Shape;114;p17"/>
          <p:cNvCxnSpPr/>
          <p:nvPr/>
        </p:nvCxnSpPr>
        <p:spPr>
          <a:xfrm>
            <a:off x="-563130" y="1425657"/>
            <a:ext cx="10270200" cy="27600"/>
          </a:xfrm>
          <a:prstGeom prst="straightConnector1">
            <a:avLst/>
          </a:prstGeom>
          <a:noFill/>
          <a:ln w="9525" cap="flat" cmpd="sng">
            <a:solidFill>
              <a:schemeClr val="lt2"/>
            </a:solidFill>
            <a:prstDash val="dash"/>
            <a:miter lim="8000"/>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a:extLst>
            <a:ext uri="{FF2B5EF4-FFF2-40B4-BE49-F238E27FC236}">
              <a16:creationId xmlns:a16="http://schemas.microsoft.com/office/drawing/2014/main" id="{5F052778-0376-88B2-8FA1-91C3530D5569}"/>
            </a:ext>
          </a:extLst>
        </p:cNvPr>
        <p:cNvGrpSpPr/>
        <p:nvPr/>
      </p:nvGrpSpPr>
      <p:grpSpPr>
        <a:xfrm>
          <a:off x="0" y="0"/>
          <a:ext cx="0" cy="0"/>
          <a:chOff x="0" y="0"/>
          <a:chExt cx="0" cy="0"/>
        </a:xfrm>
      </p:grpSpPr>
      <p:sp>
        <p:nvSpPr>
          <p:cNvPr id="107" name="Google Shape;107;p17">
            <a:extLst>
              <a:ext uri="{FF2B5EF4-FFF2-40B4-BE49-F238E27FC236}">
                <a16:creationId xmlns:a16="http://schemas.microsoft.com/office/drawing/2014/main" id="{F7D1CBFF-B7CD-64BE-92E9-AE99A9FAF4BD}"/>
              </a:ext>
            </a:extLst>
          </p:cNvPr>
          <p:cNvSpPr/>
          <p:nvPr/>
        </p:nvSpPr>
        <p:spPr>
          <a:xfrm>
            <a:off x="1635109" y="1553814"/>
            <a:ext cx="7509000" cy="2035800"/>
          </a:xfrm>
          <a:prstGeom prst="rect">
            <a:avLst/>
          </a:prstGeom>
          <a:noFill/>
          <a:ln>
            <a:noFill/>
          </a:ln>
        </p:spPr>
        <p:txBody>
          <a:bodyPr spcFirstLastPara="1" wrap="square" lIns="34275" tIns="45700" rIns="34275" bIns="45700" anchor="ctr" anchorCtr="0">
            <a:noAutofit/>
          </a:bodyPr>
          <a:lstStyle/>
          <a:p>
            <a:pPr marL="0" marR="0" lvl="0" indent="0" algn="ctr" rtl="0">
              <a:lnSpc>
                <a:spcPct val="100000"/>
              </a:lnSpc>
              <a:spcBef>
                <a:spcPts val="0"/>
              </a:spcBef>
              <a:spcAft>
                <a:spcPts val="0"/>
              </a:spcAft>
              <a:buClr>
                <a:schemeClr val="accent2"/>
              </a:buClr>
              <a:buSzPts val="1350"/>
              <a:buFont typeface="Calibri"/>
              <a:buNone/>
            </a:pPr>
            <a:endParaRPr sz="1350" b="0" i="0" u="none" strike="noStrike" cap="none">
              <a:solidFill>
                <a:schemeClr val="lt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5C247F40-D693-619E-D716-C86FCD65F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62" y="4925962"/>
            <a:ext cx="1292206" cy="11700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Google Shape;114;p17">
            <a:extLst>
              <a:ext uri="{FF2B5EF4-FFF2-40B4-BE49-F238E27FC236}">
                <a16:creationId xmlns:a16="http://schemas.microsoft.com/office/drawing/2014/main" id="{CE77679D-D92D-5312-B863-5F0369A87E1D}"/>
              </a:ext>
            </a:extLst>
          </p:cNvPr>
          <p:cNvCxnSpPr>
            <a:cxnSpLocks/>
          </p:cNvCxnSpPr>
          <p:nvPr/>
        </p:nvCxnSpPr>
        <p:spPr>
          <a:xfrm>
            <a:off x="0" y="4829585"/>
            <a:ext cx="1787505" cy="0"/>
          </a:xfrm>
          <a:prstGeom prst="straightConnector1">
            <a:avLst/>
          </a:prstGeom>
          <a:noFill/>
          <a:ln w="9525" cap="flat" cmpd="sng">
            <a:solidFill>
              <a:schemeClr val="lt2"/>
            </a:solidFill>
            <a:prstDash val="dash"/>
            <a:miter lim="8000"/>
            <a:headEnd type="none" w="sm" len="sm"/>
            <a:tailEnd type="none" w="sm" len="sm"/>
          </a:ln>
        </p:spPr>
      </p:cxnSp>
      <p:sp>
        <p:nvSpPr>
          <p:cNvPr id="6" name="Google Shape;98;p10">
            <a:extLst>
              <a:ext uri="{FF2B5EF4-FFF2-40B4-BE49-F238E27FC236}">
                <a16:creationId xmlns:a16="http://schemas.microsoft.com/office/drawing/2014/main" id="{BB8B9B38-B5AE-32B0-04DF-E27B527B0812}"/>
              </a:ext>
            </a:extLst>
          </p:cNvPr>
          <p:cNvSpPr/>
          <p:nvPr/>
        </p:nvSpPr>
        <p:spPr>
          <a:xfrm>
            <a:off x="893752" y="2044535"/>
            <a:ext cx="7869900" cy="824700"/>
          </a:xfrm>
          <a:prstGeom prst="rect">
            <a:avLst/>
          </a:prstGeom>
          <a:noFill/>
          <a:ln>
            <a:noFill/>
          </a:ln>
        </p:spPr>
        <p:txBody>
          <a:bodyPr spcFirstLastPara="1" wrap="square" lIns="34275" tIns="45700" rIns="34275" bIns="45700" anchor="b" anchorCtr="0">
            <a:noAutofit/>
          </a:bodyPr>
          <a:lstStyle/>
          <a:p>
            <a:pPr lvl="0">
              <a:lnSpc>
                <a:spcPct val="150000"/>
              </a:lnSpc>
              <a:buClr>
                <a:schemeClr val="lt1"/>
              </a:buClr>
              <a:buSzPts val="1313"/>
            </a:pPr>
            <a:r>
              <a:rPr lang="en-US" sz="3200">
                <a:solidFill>
                  <a:schemeClr val="lt1"/>
                </a:solidFill>
                <a:latin typeface="+mj-lt"/>
                <a:ea typeface="Crimson Text"/>
                <a:cs typeface="Crimson Text"/>
                <a:sym typeface="Crimson Text"/>
              </a:rPr>
              <a:t>What is Large Language Models (LLMs)?</a:t>
            </a:r>
          </a:p>
        </p:txBody>
      </p:sp>
    </p:spTree>
    <p:extLst>
      <p:ext uri="{BB962C8B-B14F-4D97-AF65-F5344CB8AC3E}">
        <p14:creationId xmlns:p14="http://schemas.microsoft.com/office/powerpoint/2010/main" val="289619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
        <p:cNvGrpSpPr/>
        <p:nvPr/>
      </p:nvGrpSpPr>
      <p:grpSpPr>
        <a:xfrm>
          <a:off x="0" y="0"/>
          <a:ext cx="0" cy="0"/>
          <a:chOff x="0" y="0"/>
          <a:chExt cx="0" cy="0"/>
        </a:xfrm>
      </p:grpSpPr>
      <p:grpSp>
        <p:nvGrpSpPr>
          <p:cNvPr id="140" name="Google Shape;140;p23"/>
          <p:cNvGrpSpPr/>
          <p:nvPr/>
        </p:nvGrpSpPr>
        <p:grpSpPr>
          <a:xfrm>
            <a:off x="6341358" y="1294284"/>
            <a:ext cx="2644368" cy="2281547"/>
            <a:chOff x="8462217" y="1508666"/>
            <a:chExt cx="3111764" cy="1409341"/>
          </a:xfrm>
        </p:grpSpPr>
        <p:sp>
          <p:nvSpPr>
            <p:cNvPr id="141" name="Google Shape;141;p23"/>
            <p:cNvSpPr/>
            <p:nvPr/>
          </p:nvSpPr>
          <p:spPr>
            <a:xfrm>
              <a:off x="8462223" y="1508666"/>
              <a:ext cx="3111758" cy="190093"/>
            </a:xfrm>
            <a:prstGeom prst="rect">
              <a:avLst/>
            </a:prstGeom>
            <a:noFill/>
            <a:ln>
              <a:noFill/>
            </a:ln>
          </p:spPr>
          <p:txBody>
            <a:bodyPr spcFirstLastPara="1" wrap="square" lIns="34275" tIns="45700" rIns="34275" bIns="45700" anchor="t" anchorCtr="0">
              <a:spAutoFit/>
            </a:bodyPr>
            <a:lstStyle/>
            <a:p>
              <a:pPr marL="0" marR="0" lvl="0" indent="0" algn="l" rtl="0">
                <a:lnSpc>
                  <a:spcPct val="100000"/>
                </a:lnSpc>
                <a:spcBef>
                  <a:spcPts val="0"/>
                </a:spcBef>
                <a:spcAft>
                  <a:spcPts val="0"/>
                </a:spcAft>
                <a:buClr>
                  <a:schemeClr val="dk1"/>
                </a:buClr>
                <a:buSzPts val="1875"/>
                <a:buFont typeface="Arial"/>
                <a:buNone/>
              </a:pPr>
              <a:r>
                <a:rPr lang="en-US">
                  <a:solidFill>
                    <a:schemeClr val="dk1"/>
                  </a:solidFill>
                </a:rPr>
                <a:t>GPT is our good teacher!</a:t>
              </a:r>
              <a:endParaRPr b="0" i="0" u="none" strike="noStrike" cap="none">
                <a:solidFill>
                  <a:srgbClr val="000000"/>
                </a:solidFill>
                <a:latin typeface="Arial"/>
                <a:ea typeface="Arial"/>
                <a:cs typeface="Arial"/>
                <a:sym typeface="Arial"/>
              </a:endParaRPr>
            </a:p>
          </p:txBody>
        </p:sp>
        <p:sp>
          <p:nvSpPr>
            <p:cNvPr id="142" name="Google Shape;142;p23"/>
            <p:cNvSpPr/>
            <p:nvPr/>
          </p:nvSpPr>
          <p:spPr>
            <a:xfrm>
              <a:off x="8462217" y="1862879"/>
              <a:ext cx="2846345" cy="1055128"/>
            </a:xfrm>
            <a:prstGeom prst="rect">
              <a:avLst/>
            </a:prstGeom>
            <a:noFill/>
            <a:ln>
              <a:noFill/>
            </a:ln>
          </p:spPr>
          <p:txBody>
            <a:bodyPr spcFirstLastPara="1" wrap="square" lIns="34275" tIns="45700" rIns="34275" bIns="45700" anchor="t" anchorCtr="0">
              <a:spAutoFit/>
            </a:bodyPr>
            <a:lstStyle/>
            <a:p>
              <a:pPr marL="0" marR="0" lvl="0" indent="0" algn="l" rtl="0">
                <a:lnSpc>
                  <a:spcPct val="150000"/>
                </a:lnSpc>
                <a:spcBef>
                  <a:spcPts val="0"/>
                </a:spcBef>
                <a:spcAft>
                  <a:spcPts val="0"/>
                </a:spcAft>
                <a:buClr>
                  <a:schemeClr val="dk2"/>
                </a:buClr>
                <a:buSzPts val="1875"/>
                <a:buFont typeface="Crimson Text"/>
                <a:buNone/>
              </a:pPr>
              <a:r>
                <a:rPr lang="en-US">
                  <a:solidFill>
                    <a:schemeClr val="dk2"/>
                  </a:solidFill>
                  <a:latin typeface="Crimson Text"/>
                  <a:ea typeface="Crimson Text"/>
                  <a:cs typeface="Crimson Text"/>
                  <a:sym typeface="Crimson Text"/>
                </a:rPr>
                <a:t>- What is LLM looks like and how does LLM reply to us?</a:t>
              </a:r>
              <a:br>
                <a:rPr lang="en-US">
                  <a:solidFill>
                    <a:schemeClr val="dk2"/>
                  </a:solidFill>
                  <a:latin typeface="Crimson Text"/>
                  <a:ea typeface="Crimson Text"/>
                  <a:cs typeface="Crimson Text"/>
                  <a:sym typeface="Crimson Text"/>
                </a:rPr>
              </a:br>
              <a:r>
                <a:rPr lang="en-US">
                  <a:solidFill>
                    <a:schemeClr val="dk2"/>
                  </a:solidFill>
                  <a:latin typeface="Crimson Text"/>
                  <a:ea typeface="Crimson Text"/>
                  <a:cs typeface="Crimson Text"/>
                  <a:sym typeface="Crimson Text"/>
                </a:rPr>
                <a:t> </a:t>
              </a:r>
            </a:p>
            <a:p>
              <a:pPr marL="0" marR="0" lvl="0" indent="0" algn="l" rtl="0">
                <a:spcBef>
                  <a:spcPts val="0"/>
                </a:spcBef>
                <a:spcAft>
                  <a:spcPts val="0"/>
                </a:spcAft>
                <a:buClr>
                  <a:schemeClr val="dk2"/>
                </a:buClr>
                <a:buSzPts val="1875"/>
                <a:buFont typeface="Crimson Text"/>
                <a:buNone/>
              </a:pPr>
              <a:r>
                <a:rPr lang="en-US">
                  <a:solidFill>
                    <a:schemeClr val="dk2"/>
                  </a:solidFill>
                  <a:latin typeface="Crimson Text"/>
                  <a:ea typeface="Crimson Text"/>
                  <a:cs typeface="Crimson Text"/>
                  <a:sym typeface="Crimson Text"/>
                </a:rPr>
                <a:t>- What is the underlying task, other than the classification and regression? </a:t>
              </a:r>
              <a:endParaRPr b="0" i="0" u="none" strike="noStrike" cap="none">
                <a:solidFill>
                  <a:srgbClr val="000000"/>
                </a:solidFill>
                <a:latin typeface="Arial"/>
                <a:ea typeface="Arial"/>
                <a:cs typeface="Arial"/>
                <a:sym typeface="Arial"/>
              </a:endParaRPr>
            </a:p>
          </p:txBody>
        </p:sp>
      </p:grpSp>
      <p:sp>
        <p:nvSpPr>
          <p:cNvPr id="143" name="Google Shape;143;p23"/>
          <p:cNvSpPr/>
          <p:nvPr/>
        </p:nvSpPr>
        <p:spPr>
          <a:xfrm>
            <a:off x="-11706" y="281103"/>
            <a:ext cx="9167400" cy="4581300"/>
          </a:xfrm>
          <a:prstGeom prst="rect">
            <a:avLst/>
          </a:prstGeom>
          <a:noFill/>
          <a:ln>
            <a:noFill/>
          </a:ln>
        </p:spPr>
        <p:txBody>
          <a:bodyPr spcFirstLastPara="1" wrap="square" lIns="34275" tIns="45700" rIns="34275" bIns="45700" anchor="t" anchorCtr="0">
            <a:normAutofit/>
          </a:bodyPr>
          <a:lstStyle/>
          <a:p>
            <a:pPr marL="0" marR="0" lvl="0" indent="0" algn="l" rtl="0">
              <a:lnSpc>
                <a:spcPct val="100000"/>
              </a:lnSpc>
              <a:spcBef>
                <a:spcPts val="0"/>
              </a:spcBef>
              <a:spcAft>
                <a:spcPts val="0"/>
              </a:spcAft>
              <a:buClr>
                <a:schemeClr val="accent1"/>
              </a:buClr>
              <a:buSzPts val="1350"/>
              <a:buFont typeface="Calibri"/>
              <a:buNone/>
            </a:pPr>
            <a:endParaRPr sz="1350" b="0" i="0" u="none" strike="noStrike" cap="none">
              <a:solidFill>
                <a:schemeClr val="accen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141ACC9-E539-69C8-A98A-9635AB224AE2}"/>
              </a:ext>
            </a:extLst>
          </p:cNvPr>
          <p:cNvPicPr>
            <a:picLocks noChangeAspect="1"/>
          </p:cNvPicPr>
          <p:nvPr/>
        </p:nvPicPr>
        <p:blipFill>
          <a:blip r:embed="rId3"/>
          <a:stretch>
            <a:fillRect/>
          </a:stretch>
        </p:blipFill>
        <p:spPr>
          <a:xfrm>
            <a:off x="251307" y="383469"/>
            <a:ext cx="5827038" cy="4376561"/>
          </a:xfrm>
          <a:prstGeom prst="rect">
            <a:avLst/>
          </a:prstGeom>
        </p:spPr>
      </p:pic>
      <p:sp>
        <p:nvSpPr>
          <p:cNvPr id="4" name="TextBox 3">
            <a:extLst>
              <a:ext uri="{FF2B5EF4-FFF2-40B4-BE49-F238E27FC236}">
                <a16:creationId xmlns:a16="http://schemas.microsoft.com/office/drawing/2014/main" id="{EA827480-CA72-6003-5495-15D181D93CAE}"/>
              </a:ext>
            </a:extLst>
          </p:cNvPr>
          <p:cNvSpPr txBox="1"/>
          <p:nvPr/>
        </p:nvSpPr>
        <p:spPr>
          <a:xfrm>
            <a:off x="0" y="4897261"/>
            <a:ext cx="7654897" cy="230832"/>
          </a:xfrm>
          <a:prstGeom prst="rect">
            <a:avLst/>
          </a:prstGeom>
          <a:noFill/>
        </p:spPr>
        <p:txBody>
          <a:bodyPr wrap="square">
            <a:spAutoFit/>
          </a:bodyPr>
          <a:lstStyle/>
          <a:p>
            <a:pPr marL="0" lvl="0" indent="0" algn="l" rtl="0">
              <a:lnSpc>
                <a:spcPct val="100000"/>
              </a:lnSpc>
              <a:spcBef>
                <a:spcPts val="0"/>
              </a:spcBef>
              <a:spcAft>
                <a:spcPts val="0"/>
              </a:spcAft>
              <a:buSzPts val="1400"/>
              <a:buNone/>
            </a:pPr>
            <a:r>
              <a:rPr lang="en-US" sz="900" i="1" dirty="0"/>
              <a:t>https://</a:t>
            </a:r>
            <a:r>
              <a:rPr lang="en-US" sz="900" i="1" dirty="0" err="1"/>
              <a:t>www.pewresearch.org</a:t>
            </a:r>
            <a:r>
              <a:rPr lang="en-US" sz="900" i="1" dirty="0"/>
              <a:t>/short-reads/2025/01/15/about-a-quarter-of-us-teens-have-used-chatgpt-for-schoolwork-double-the-share-in-2023/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3251229-9709-E069-9A4C-84B85C4B5EA0}"/>
              </a:ext>
            </a:extLst>
          </p:cNvPr>
          <p:cNvGraphicFramePr/>
          <p:nvPr>
            <p:extLst>
              <p:ext uri="{D42A27DB-BD31-4B8C-83A1-F6EECF244321}">
                <p14:modId xmlns:p14="http://schemas.microsoft.com/office/powerpoint/2010/main" val="3997672578"/>
              </p:ext>
            </p:extLst>
          </p:nvPr>
        </p:nvGraphicFramePr>
        <p:xfrm>
          <a:off x="607780" y="522392"/>
          <a:ext cx="5354866" cy="37306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Google Shape;112;p17">
            <a:extLst>
              <a:ext uri="{FF2B5EF4-FFF2-40B4-BE49-F238E27FC236}">
                <a16:creationId xmlns:a16="http://schemas.microsoft.com/office/drawing/2014/main" id="{491E93E7-CD20-5EE4-8854-F15B85B3CD3A}"/>
              </a:ext>
            </a:extLst>
          </p:cNvPr>
          <p:cNvSpPr/>
          <p:nvPr/>
        </p:nvSpPr>
        <p:spPr>
          <a:xfrm>
            <a:off x="610305" y="524908"/>
            <a:ext cx="5790495" cy="303600"/>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lang="en-US" sz="2800">
                <a:solidFill>
                  <a:schemeClr val="tx1"/>
                </a:solidFill>
              </a:rPr>
              <a:t>Prepare Input for Language Models</a:t>
            </a:r>
          </a:p>
        </p:txBody>
      </p:sp>
      <p:sp>
        <p:nvSpPr>
          <p:cNvPr id="37" name="文本框 36">
            <a:extLst>
              <a:ext uri="{FF2B5EF4-FFF2-40B4-BE49-F238E27FC236}">
                <a16:creationId xmlns:a16="http://schemas.microsoft.com/office/drawing/2014/main" id="{037B1230-866B-3A20-E6DD-9436FB1A3EB4}"/>
              </a:ext>
            </a:extLst>
          </p:cNvPr>
          <p:cNvSpPr txBox="1"/>
          <p:nvPr/>
        </p:nvSpPr>
        <p:spPr>
          <a:xfrm>
            <a:off x="146395" y="4040413"/>
            <a:ext cx="3355185" cy="523220"/>
          </a:xfrm>
          <a:prstGeom prst="rect">
            <a:avLst/>
          </a:prstGeom>
          <a:solidFill>
            <a:srgbClr val="E7F4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t>Natural Language Processing</a:t>
            </a:r>
            <a:br>
              <a:rPr lang="zh-CN" altLang="en-US"/>
            </a:br>
            <a:r>
              <a:rPr lang="zh-CN" altLang="en-US"/>
              <a:t>--&gt; ['Natural', 'Language', 'Processing']</a:t>
            </a:r>
          </a:p>
        </p:txBody>
      </p:sp>
      <p:cxnSp>
        <p:nvCxnSpPr>
          <p:cNvPr id="38" name="直接箭头连接符 37">
            <a:extLst>
              <a:ext uri="{FF2B5EF4-FFF2-40B4-BE49-F238E27FC236}">
                <a16:creationId xmlns:a16="http://schemas.microsoft.com/office/drawing/2014/main" id="{7172126A-AABC-2B12-519A-22C9AB24A55A}"/>
              </a:ext>
            </a:extLst>
          </p:cNvPr>
          <p:cNvCxnSpPr/>
          <p:nvPr/>
        </p:nvCxnSpPr>
        <p:spPr>
          <a:xfrm>
            <a:off x="1506185" y="3581135"/>
            <a:ext cx="275967" cy="4510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69" name="图片 68" descr="Embedding and positional encoding | PyTorch">
            <a:extLst>
              <a:ext uri="{FF2B5EF4-FFF2-40B4-BE49-F238E27FC236}">
                <a16:creationId xmlns:a16="http://schemas.microsoft.com/office/drawing/2014/main" id="{FDB04A8E-EA0C-A9E3-73E6-0441EB7800CF}"/>
              </a:ext>
            </a:extLst>
          </p:cNvPr>
          <p:cNvPicPr>
            <a:picLocks noChangeAspect="1"/>
          </p:cNvPicPr>
          <p:nvPr/>
        </p:nvPicPr>
        <p:blipFill>
          <a:blip r:embed="rId8"/>
          <a:srcRect l="5365" t="9091" r="4717" b="12685"/>
          <a:stretch>
            <a:fillRect/>
          </a:stretch>
        </p:blipFill>
        <p:spPr>
          <a:xfrm>
            <a:off x="4902020" y="2809361"/>
            <a:ext cx="3924935" cy="1903795"/>
          </a:xfrm>
          <a:prstGeom prst="rect">
            <a:avLst/>
          </a:prstGeom>
          <a:ln>
            <a:solidFill>
              <a:srgbClr val="4472C4"/>
            </a:solidFill>
          </a:ln>
        </p:spPr>
      </p:pic>
      <p:cxnSp>
        <p:nvCxnSpPr>
          <p:cNvPr id="80" name="直接箭头连接符 79">
            <a:extLst>
              <a:ext uri="{FF2B5EF4-FFF2-40B4-BE49-F238E27FC236}">
                <a16:creationId xmlns:a16="http://schemas.microsoft.com/office/drawing/2014/main" id="{50B3E3FF-4CD4-1119-572D-6E5829C57498}"/>
              </a:ext>
            </a:extLst>
          </p:cNvPr>
          <p:cNvCxnSpPr>
            <a:cxnSpLocks/>
          </p:cNvCxnSpPr>
          <p:nvPr/>
        </p:nvCxnSpPr>
        <p:spPr>
          <a:xfrm>
            <a:off x="3761293" y="1887229"/>
            <a:ext cx="1135790" cy="9761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1" name="直接箭头连接符 80">
            <a:extLst>
              <a:ext uri="{FF2B5EF4-FFF2-40B4-BE49-F238E27FC236}">
                <a16:creationId xmlns:a16="http://schemas.microsoft.com/office/drawing/2014/main" id="{D770077F-F287-EBF1-EA85-7DF1CAB42442}"/>
              </a:ext>
            </a:extLst>
          </p:cNvPr>
          <p:cNvCxnSpPr>
            <a:cxnSpLocks/>
          </p:cNvCxnSpPr>
          <p:nvPr/>
        </p:nvCxnSpPr>
        <p:spPr>
          <a:xfrm flipV="1">
            <a:off x="4075360" y="2904602"/>
            <a:ext cx="821723" cy="2285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70475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12565" y="0"/>
            <a:ext cx="3470147" cy="5118354"/>
          </a:xfrm>
          <a:prstGeom prst="rect">
            <a:avLst/>
          </a:prstGeom>
          <a:blipFill>
            <a:blip r:embed="rId3" cstate="print"/>
            <a:stretch>
              <a:fillRect/>
            </a:stretch>
          </a:blipFill>
        </p:spPr>
        <p:txBody>
          <a:bodyPr wrap="square" lIns="0" tIns="0" rIns="0" bIns="0" rtlCol="0"/>
          <a:lstStyle/>
          <a:p>
            <a:pPr>
              <a:defRPr/>
            </a:pPr>
            <a:endParaRPr sz="1050">
              <a:solidFill>
                <a:prstClr val="black"/>
              </a:solidFill>
              <a:latin typeface="Calibri"/>
            </a:endParaRPr>
          </a:p>
        </p:txBody>
      </p:sp>
      <p:sp>
        <p:nvSpPr>
          <p:cNvPr id="4" name="object 4"/>
          <p:cNvSpPr txBox="1"/>
          <p:nvPr/>
        </p:nvSpPr>
        <p:spPr>
          <a:xfrm>
            <a:off x="1089165" y="1193988"/>
            <a:ext cx="3141345" cy="3050194"/>
          </a:xfrm>
          <a:prstGeom prst="rect">
            <a:avLst/>
          </a:prstGeom>
        </p:spPr>
        <p:txBody>
          <a:bodyPr vert="horz" wrap="square" lIns="0" tIns="7620" rIns="0" bIns="0" rtlCol="0" anchor="t">
            <a:spAutoFit/>
          </a:bodyPr>
          <a:lstStyle/>
          <a:p>
            <a:pPr marL="9525" marR="3810">
              <a:lnSpc>
                <a:spcPct val="100600"/>
              </a:lnSpc>
              <a:spcBef>
                <a:spcPts val="60"/>
              </a:spcBef>
              <a:defRPr/>
            </a:pPr>
            <a:r>
              <a:rPr>
                <a:solidFill>
                  <a:prstClr val="black"/>
                </a:solidFill>
              </a:rPr>
              <a:t>Attention is all you need. 2017.  Aswani, </a:t>
            </a:r>
            <a:r>
              <a:rPr err="1">
                <a:solidFill>
                  <a:prstClr val="black"/>
                </a:solidFill>
              </a:rPr>
              <a:t>Shazeer</a:t>
            </a:r>
            <a:r>
              <a:rPr>
                <a:solidFill>
                  <a:prstClr val="black"/>
                </a:solidFill>
              </a:rPr>
              <a:t>, Parmar, </a:t>
            </a:r>
            <a:r>
              <a:rPr err="1">
                <a:solidFill>
                  <a:prstClr val="black"/>
                </a:solidFill>
              </a:rPr>
              <a:t>Uszkoreit</a:t>
            </a:r>
            <a:r>
              <a:rPr>
                <a:solidFill>
                  <a:prstClr val="black"/>
                </a:solidFill>
              </a:rPr>
              <a:t>,  Jones, Gomez, Kaiser, </a:t>
            </a:r>
            <a:r>
              <a:rPr err="1">
                <a:solidFill>
                  <a:prstClr val="black"/>
                </a:solidFill>
              </a:rPr>
              <a:t>Polosukhin</a:t>
            </a:r>
            <a:r>
              <a:rPr>
                <a:solidFill>
                  <a:prstClr val="black"/>
                </a:solidFill>
              </a:rPr>
              <a:t>  </a:t>
            </a:r>
            <a:r>
              <a:rPr>
                <a:solidFill>
                  <a:prstClr val="black"/>
                </a:solidFill>
                <a:hlinkClick r:id="rId4">
                  <a:extLst>
                    <a:ext uri="{A12FA001-AC4F-418D-AE19-62706E023703}">
                      <ahyp:hlinkClr xmlns:ahyp="http://schemas.microsoft.com/office/drawing/2018/hyperlinkcolor" val="tx"/>
                    </a:ext>
                  </a:extLst>
                </a:hlinkClick>
              </a:rPr>
              <a:t>https://arxiv.org/pdf/1706.03762.pdf</a:t>
            </a:r>
            <a:r>
              <a:rPr lang="en-US">
                <a:solidFill>
                  <a:prstClr val="black"/>
                </a:solidFill>
              </a:rPr>
              <a:t> </a:t>
            </a:r>
            <a:endParaRPr>
              <a:solidFill>
                <a:prstClr val="black"/>
              </a:solidFill>
            </a:endParaRPr>
          </a:p>
          <a:p>
            <a:pPr marL="266700" marR="43180" indent="-257175">
              <a:lnSpc>
                <a:spcPct val="100800"/>
              </a:lnSpc>
              <a:spcBef>
                <a:spcPts val="379"/>
              </a:spcBef>
              <a:buClr>
                <a:srgbClr val="CC0000"/>
              </a:buClr>
              <a:buFont typeface="Times New Roman"/>
              <a:buChar char="•"/>
              <a:tabLst>
                <a:tab pos="266224" algn="l"/>
                <a:tab pos="266700" algn="l"/>
              </a:tabLst>
              <a:defRPr/>
            </a:pPr>
            <a:r>
              <a:rPr lang="af-ZA" err="1">
                <a:solidFill>
                  <a:prstClr val="black"/>
                </a:solidFill>
              </a:rPr>
              <a:t>Can</a:t>
            </a:r>
            <a:r>
              <a:rPr lang="af-ZA">
                <a:solidFill>
                  <a:prstClr val="black"/>
                </a:solidFill>
              </a:rPr>
              <a:t> </a:t>
            </a:r>
            <a:r>
              <a:rPr lang="af-ZA" err="1">
                <a:solidFill>
                  <a:prstClr val="black"/>
                </a:solidFill>
              </a:rPr>
              <a:t>understand</a:t>
            </a:r>
            <a:r>
              <a:rPr lang="af-ZA">
                <a:solidFill>
                  <a:prstClr val="black"/>
                </a:solidFill>
              </a:rPr>
              <a:t> </a:t>
            </a:r>
            <a:r>
              <a:rPr lang="af-ZA" err="1">
                <a:solidFill>
                  <a:prstClr val="black"/>
                </a:solidFill>
              </a:rPr>
              <a:t>the</a:t>
            </a:r>
            <a:r>
              <a:rPr lang="af-ZA">
                <a:solidFill>
                  <a:prstClr val="black"/>
                </a:solidFill>
              </a:rPr>
              <a:t> </a:t>
            </a:r>
            <a:r>
              <a:rPr lang="af-ZA" err="1">
                <a:solidFill>
                  <a:prstClr val="black"/>
                </a:solidFill>
              </a:rPr>
              <a:t>contextual</a:t>
            </a:r>
            <a:r>
              <a:rPr lang="af-ZA">
                <a:solidFill>
                  <a:prstClr val="black"/>
                </a:solidFill>
              </a:rPr>
              <a:t> </a:t>
            </a:r>
            <a:r>
              <a:rPr lang="af-ZA" err="1">
                <a:solidFill>
                  <a:prstClr val="black"/>
                </a:solidFill>
              </a:rPr>
              <a:t>dependency</a:t>
            </a:r>
            <a:r>
              <a:rPr lang="af-ZA">
                <a:solidFill>
                  <a:prstClr val="black"/>
                </a:solidFill>
              </a:rPr>
              <a:t> </a:t>
            </a:r>
            <a:r>
              <a:rPr lang="af-ZA" err="1">
                <a:solidFill>
                  <a:prstClr val="black"/>
                </a:solidFill>
              </a:rPr>
              <a:t>between</a:t>
            </a:r>
            <a:r>
              <a:rPr lang="af-ZA">
                <a:solidFill>
                  <a:prstClr val="black"/>
                </a:solidFill>
              </a:rPr>
              <a:t> </a:t>
            </a:r>
            <a:r>
              <a:rPr lang="af-ZA" err="1">
                <a:solidFill>
                  <a:prstClr val="black"/>
                </a:solidFill>
              </a:rPr>
              <a:t>words</a:t>
            </a:r>
            <a:endParaRPr err="1">
              <a:solidFill>
                <a:prstClr val="black"/>
              </a:solidFill>
            </a:endParaRPr>
          </a:p>
          <a:p>
            <a:pPr marL="266700" marR="846455" indent="-257175">
              <a:lnSpc>
                <a:spcPct val="100800"/>
              </a:lnSpc>
              <a:spcBef>
                <a:spcPts val="450"/>
              </a:spcBef>
              <a:buClr>
                <a:srgbClr val="CC0000"/>
              </a:buClr>
              <a:buFont typeface="Times New Roman"/>
              <a:buChar char="•"/>
              <a:tabLst>
                <a:tab pos="266224" algn="l"/>
                <a:tab pos="266700" algn="l"/>
              </a:tabLst>
              <a:defRPr/>
            </a:pPr>
            <a:r>
              <a:rPr lang="en-US">
                <a:solidFill>
                  <a:prstClr val="black"/>
                </a:solidFill>
              </a:rPr>
              <a:t>Task:</a:t>
            </a:r>
            <a:r>
              <a:rPr lang="zh-CN">
                <a:solidFill>
                  <a:prstClr val="black"/>
                </a:solidFill>
              </a:rPr>
              <a:t> </a:t>
            </a:r>
            <a:r>
              <a:rPr lang="en-US">
                <a:solidFill>
                  <a:prstClr val="black"/>
                </a:solidFill>
              </a:rPr>
              <a:t>machine</a:t>
            </a:r>
            <a:r>
              <a:rPr lang="zh-CN">
                <a:solidFill>
                  <a:prstClr val="black"/>
                </a:solidFill>
              </a:rPr>
              <a:t> </a:t>
            </a:r>
            <a:r>
              <a:rPr lang="en-US">
                <a:solidFill>
                  <a:prstClr val="black"/>
                </a:solidFill>
              </a:rPr>
              <a:t>translation</a:t>
            </a:r>
            <a:r>
              <a:rPr lang="zh-CN">
                <a:solidFill>
                  <a:prstClr val="black"/>
                </a:solidFill>
              </a:rPr>
              <a:t>  </a:t>
            </a:r>
            <a:r>
              <a:rPr lang="en-US">
                <a:solidFill>
                  <a:prstClr val="black"/>
                </a:solidFill>
              </a:rPr>
              <a:t>with</a:t>
            </a:r>
            <a:r>
              <a:rPr lang="zh-CN">
                <a:solidFill>
                  <a:prstClr val="black"/>
                </a:solidFill>
              </a:rPr>
              <a:t> </a:t>
            </a:r>
            <a:r>
              <a:rPr lang="en-US">
                <a:solidFill>
                  <a:prstClr val="black"/>
                </a:solidFill>
              </a:rPr>
              <a:t>parallel</a:t>
            </a:r>
            <a:r>
              <a:rPr lang="zh-CN">
                <a:solidFill>
                  <a:prstClr val="black"/>
                </a:solidFill>
              </a:rPr>
              <a:t> </a:t>
            </a:r>
            <a:r>
              <a:rPr lang="en-US">
                <a:solidFill>
                  <a:prstClr val="black"/>
                </a:solidFill>
              </a:rPr>
              <a:t>corpus</a:t>
            </a:r>
            <a:endParaRPr lang="zh-CN">
              <a:solidFill>
                <a:prstClr val="black"/>
              </a:solidFill>
            </a:endParaRPr>
          </a:p>
          <a:p>
            <a:pPr marL="266700" indent="-257175">
              <a:spcBef>
                <a:spcPts val="379"/>
              </a:spcBef>
              <a:buClr>
                <a:srgbClr val="CC0000"/>
              </a:buClr>
              <a:buFont typeface="Times New Roman"/>
              <a:buChar char="•"/>
              <a:tabLst>
                <a:tab pos="266224" algn="l"/>
                <a:tab pos="266700" algn="l"/>
              </a:tabLst>
              <a:defRPr/>
            </a:pPr>
            <a:r>
              <a:rPr>
                <a:solidFill>
                  <a:prstClr val="black"/>
                </a:solidFill>
              </a:rPr>
              <a:t>Predict each translated word</a:t>
            </a:r>
          </a:p>
          <a:p>
            <a:pPr marL="266700" marR="544195" indent="-257175">
              <a:lnSpc>
                <a:spcPct val="99200"/>
              </a:lnSpc>
              <a:spcBef>
                <a:spcPts val="488"/>
              </a:spcBef>
              <a:buClr>
                <a:srgbClr val="CC0000"/>
              </a:buClr>
              <a:buFont typeface="Times New Roman"/>
              <a:buChar char="•"/>
              <a:tabLst>
                <a:tab pos="266224" algn="l"/>
                <a:tab pos="266700" algn="l"/>
              </a:tabLst>
              <a:defRPr/>
            </a:pPr>
            <a:r>
              <a:rPr>
                <a:solidFill>
                  <a:prstClr val="black"/>
                </a:solidFill>
              </a:rPr>
              <a:t>Final cost/error function is  standard cross-entropy error on top of a </a:t>
            </a:r>
            <a:r>
              <a:rPr err="1">
                <a:solidFill>
                  <a:prstClr val="black"/>
                </a:solidFill>
              </a:rPr>
              <a:t>softmax</a:t>
            </a:r>
            <a:r>
              <a:rPr>
                <a:solidFill>
                  <a:prstClr val="black"/>
                </a:solidFill>
              </a:rPr>
              <a:t> classifier</a:t>
            </a:r>
          </a:p>
          <a:p>
            <a:pPr>
              <a:spcBef>
                <a:spcPts val="15"/>
              </a:spcBef>
              <a:defRPr/>
            </a:pPr>
            <a:endParaRPr>
              <a:solidFill>
                <a:prstClr val="black"/>
              </a:solidFill>
            </a:endParaRPr>
          </a:p>
        </p:txBody>
      </p:sp>
      <p:sp>
        <p:nvSpPr>
          <p:cNvPr id="6" name="TextBox 5">
            <a:extLst>
              <a:ext uri="{FF2B5EF4-FFF2-40B4-BE49-F238E27FC236}">
                <a16:creationId xmlns:a16="http://schemas.microsoft.com/office/drawing/2014/main" id="{E3CFA523-29A8-4AD3-A31B-9A85DCACBC11}"/>
              </a:ext>
            </a:extLst>
          </p:cNvPr>
          <p:cNvSpPr txBox="1"/>
          <p:nvPr/>
        </p:nvSpPr>
        <p:spPr>
          <a:xfrm>
            <a:off x="1143000" y="4935752"/>
            <a:ext cx="1181734" cy="230832"/>
          </a:xfrm>
          <a:prstGeom prst="rect">
            <a:avLst/>
          </a:prstGeom>
          <a:noFill/>
        </p:spPr>
        <p:txBody>
          <a:bodyPr wrap="none" rtlCol="0">
            <a:spAutoFit/>
          </a:bodyPr>
          <a:lstStyle/>
          <a:p>
            <a:pPr>
              <a:defRPr/>
            </a:pPr>
            <a:r>
              <a:rPr lang="en-US" sz="900">
                <a:solidFill>
                  <a:prstClr val="black"/>
                </a:solidFill>
                <a:latin typeface="Calibri"/>
              </a:rPr>
              <a:t>Christopher Manning</a:t>
            </a:r>
          </a:p>
        </p:txBody>
      </p:sp>
      <p:sp>
        <p:nvSpPr>
          <p:cNvPr id="11" name="Google Shape;112;p17">
            <a:extLst>
              <a:ext uri="{FF2B5EF4-FFF2-40B4-BE49-F238E27FC236}">
                <a16:creationId xmlns:a16="http://schemas.microsoft.com/office/drawing/2014/main" id="{366C17EE-FE6D-BCE2-9544-56E539B21982}"/>
              </a:ext>
            </a:extLst>
          </p:cNvPr>
          <p:cNvSpPr/>
          <p:nvPr/>
        </p:nvSpPr>
        <p:spPr>
          <a:xfrm>
            <a:off x="610306" y="524908"/>
            <a:ext cx="4099064" cy="3036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2"/>
              </a:buClr>
              <a:buSzPts val="2250"/>
              <a:buFont typeface="Arial"/>
              <a:buNone/>
            </a:pPr>
            <a:r>
              <a:rPr lang="en-US" altLang="zh-CN" sz="2800" b="0" i="0" u="none" strike="noStrike" cap="none">
                <a:solidFill>
                  <a:schemeClr val="tx1"/>
                </a:solidFill>
                <a:latin typeface="Arial"/>
                <a:ea typeface="Arial"/>
                <a:cs typeface="Arial"/>
                <a:sym typeface="Arial"/>
              </a:rPr>
              <a:t>Transformer Overview</a:t>
            </a:r>
            <a:endParaRPr lang="en-US" sz="2800" b="0" i="0" u="none" strike="noStrike" cap="none">
              <a:solidFill>
                <a:schemeClr val="tx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54027" y="473961"/>
            <a:ext cx="4102100" cy="398462"/>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lang="en-US" sz="2800">
                <a:solidFill>
                  <a:schemeClr val="tx1"/>
                </a:solidFill>
              </a:rPr>
              <a:t>Transformer Encoder</a:t>
            </a:r>
          </a:p>
        </p:txBody>
      </p:sp>
      <p:sp>
        <p:nvSpPr>
          <p:cNvPr id="3" name="object 3"/>
          <p:cNvSpPr txBox="1"/>
          <p:nvPr/>
        </p:nvSpPr>
        <p:spPr>
          <a:xfrm>
            <a:off x="994958" y="972127"/>
            <a:ext cx="5512762" cy="702019"/>
          </a:xfrm>
          <a:prstGeom prst="rect">
            <a:avLst/>
          </a:prstGeom>
          <a:solidFill>
            <a:schemeClr val="bg1">
              <a:lumMod val="95000"/>
            </a:schemeClr>
          </a:solidFill>
        </p:spPr>
        <p:txBody>
          <a:bodyPr vert="horz" wrap="square" lIns="0" tIns="7144" rIns="0" bIns="0" rtlCol="0">
            <a:spAutoFit/>
          </a:bodyPr>
          <a:lstStyle/>
          <a:p>
            <a:pPr marL="266700" marR="3810" indent="-257175">
              <a:lnSpc>
                <a:spcPct val="100800"/>
              </a:lnSpc>
              <a:spcBef>
                <a:spcPts val="56"/>
              </a:spcBef>
              <a:buClr>
                <a:srgbClr val="CC0000"/>
              </a:buClr>
              <a:buFont typeface="Times New Roman"/>
              <a:buChar char="•"/>
              <a:tabLst>
                <a:tab pos="266224" algn="l"/>
                <a:tab pos="266700" algn="l"/>
              </a:tabLst>
              <a:defRPr/>
            </a:pPr>
            <a:r>
              <a:rPr sz="1500">
                <a:solidFill>
                  <a:prstClr val="black"/>
                </a:solidFill>
              </a:rPr>
              <a:t>For encoder, at each block, we use the same </a:t>
            </a:r>
            <a:r>
              <a:rPr sz="1500" b="1">
                <a:solidFill>
                  <a:schemeClr val="tx1"/>
                </a:solidFill>
              </a:rPr>
              <a:t>Q, K and V</a:t>
            </a:r>
          </a:p>
          <a:p>
            <a:pPr marL="266700">
              <a:spcBef>
                <a:spcPts val="19"/>
              </a:spcBef>
              <a:defRPr/>
            </a:pPr>
            <a:r>
              <a:rPr sz="1500">
                <a:solidFill>
                  <a:prstClr val="black"/>
                </a:solidFill>
              </a:rPr>
              <a:t>from the previous layer</a:t>
            </a:r>
            <a:endParaRPr sz="2400">
              <a:solidFill>
                <a:prstClr val="black"/>
              </a:solidFill>
            </a:endParaRPr>
          </a:p>
          <a:p>
            <a:pPr marL="266700" indent="-257175">
              <a:buClr>
                <a:srgbClr val="CC0000"/>
              </a:buClr>
              <a:buFont typeface="Times New Roman"/>
              <a:buChar char="•"/>
              <a:tabLst>
                <a:tab pos="266224" algn="l"/>
                <a:tab pos="266700" algn="l"/>
              </a:tabLst>
              <a:defRPr/>
            </a:pPr>
            <a:r>
              <a:rPr sz="1500">
                <a:solidFill>
                  <a:prstClr val="black"/>
                </a:solidFill>
              </a:rPr>
              <a:t>Blocks are repeated 6 times</a:t>
            </a:r>
            <a:r>
              <a:rPr lang="en-US" sz="1500">
                <a:solidFill>
                  <a:prstClr val="black"/>
                </a:solidFill>
              </a:rPr>
              <a:t> </a:t>
            </a:r>
            <a:r>
              <a:rPr sz="1500">
                <a:solidFill>
                  <a:prstClr val="black"/>
                </a:solidFill>
              </a:rPr>
              <a:t>(in vertical stack)</a:t>
            </a:r>
          </a:p>
        </p:txBody>
      </p:sp>
      <p:sp>
        <p:nvSpPr>
          <p:cNvPr id="4" name="object 4"/>
          <p:cNvSpPr/>
          <p:nvPr/>
        </p:nvSpPr>
        <p:spPr>
          <a:xfrm>
            <a:off x="6598360" y="672488"/>
            <a:ext cx="2013299" cy="4053341"/>
          </a:xfrm>
          <a:prstGeom prst="rect">
            <a:avLst/>
          </a:prstGeom>
          <a:blipFill>
            <a:blip r:embed="rId3" cstate="print"/>
            <a:stretch>
              <a:fillRect/>
            </a:stretch>
          </a:blipFill>
        </p:spPr>
        <p:txBody>
          <a:bodyPr wrap="square" lIns="0" tIns="0" rIns="0" bIns="0" rtlCol="0"/>
          <a:lstStyle/>
          <a:p>
            <a:pPr>
              <a:defRPr/>
            </a:pPr>
            <a:endParaRPr/>
          </a:p>
        </p:txBody>
      </p:sp>
      <p:sp>
        <p:nvSpPr>
          <p:cNvPr id="6" name="TextBox 5">
            <a:extLst>
              <a:ext uri="{FF2B5EF4-FFF2-40B4-BE49-F238E27FC236}">
                <a16:creationId xmlns:a16="http://schemas.microsoft.com/office/drawing/2014/main" id="{20E6C8B2-B640-4887-9B7A-5F0380425933}"/>
              </a:ext>
            </a:extLst>
          </p:cNvPr>
          <p:cNvSpPr txBox="1"/>
          <p:nvPr/>
        </p:nvSpPr>
        <p:spPr>
          <a:xfrm>
            <a:off x="1143000" y="4935752"/>
            <a:ext cx="1181734" cy="230832"/>
          </a:xfrm>
          <a:prstGeom prst="rect">
            <a:avLst/>
          </a:prstGeom>
          <a:noFill/>
        </p:spPr>
        <p:txBody>
          <a:bodyPr wrap="none" rtlCol="0">
            <a:spAutoFit/>
          </a:bodyPr>
          <a:lstStyle/>
          <a:p>
            <a:pPr>
              <a:defRPr/>
            </a:pPr>
            <a:r>
              <a:rPr lang="en-US" sz="900">
                <a:solidFill>
                  <a:prstClr val="black"/>
                </a:solidFill>
                <a:latin typeface="Calibri"/>
              </a:rPr>
              <a:t>Christopher Manning</a:t>
            </a:r>
          </a:p>
        </p:txBody>
      </p:sp>
      <p:pic>
        <p:nvPicPr>
          <p:cNvPr id="9" name="Picture 8">
            <a:extLst>
              <a:ext uri="{FF2B5EF4-FFF2-40B4-BE49-F238E27FC236}">
                <a16:creationId xmlns:a16="http://schemas.microsoft.com/office/drawing/2014/main" id="{8C01F290-CAB0-ECBD-7A45-EA686B184BFC}"/>
              </a:ext>
            </a:extLst>
          </p:cNvPr>
          <p:cNvPicPr>
            <a:picLocks noChangeAspect="1"/>
          </p:cNvPicPr>
          <p:nvPr/>
        </p:nvPicPr>
        <p:blipFill>
          <a:blip r:embed="rId4"/>
          <a:srcRect l="4450" t="12509"/>
          <a:stretch>
            <a:fillRect/>
          </a:stretch>
        </p:blipFill>
        <p:spPr>
          <a:xfrm>
            <a:off x="2324734" y="1734410"/>
            <a:ext cx="4113552" cy="3316758"/>
          </a:xfrm>
          <a:prstGeom prst="rect">
            <a:avLst/>
          </a:prstGeom>
        </p:spPr>
      </p:pic>
    </p:spTree>
    <p:extLst>
      <p:ext uri="{BB962C8B-B14F-4D97-AF65-F5344CB8AC3E}">
        <p14:creationId xmlns:p14="http://schemas.microsoft.com/office/powerpoint/2010/main" val="876132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48969" y="3218"/>
            <a:ext cx="3878263" cy="784225"/>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sz="2800">
                <a:solidFill>
                  <a:schemeClr val="tx1"/>
                </a:solidFill>
              </a:rPr>
              <a:t>Transformer Decoder</a:t>
            </a:r>
          </a:p>
        </p:txBody>
      </p:sp>
      <p:sp>
        <p:nvSpPr>
          <p:cNvPr id="3" name="object 3"/>
          <p:cNvSpPr txBox="1"/>
          <p:nvPr/>
        </p:nvSpPr>
        <p:spPr>
          <a:xfrm>
            <a:off x="1430656" y="1025163"/>
            <a:ext cx="2853214" cy="519373"/>
          </a:xfrm>
          <a:prstGeom prst="rect">
            <a:avLst/>
          </a:prstGeom>
        </p:spPr>
        <p:txBody>
          <a:bodyPr vert="horz" wrap="square" lIns="0" tIns="57150" rIns="0" bIns="0" rtlCol="0" anchor="t">
            <a:spAutoFit/>
          </a:bodyPr>
          <a:lstStyle/>
          <a:p>
            <a:pPr marL="266700" marR="3810" indent="-257175">
              <a:spcBef>
                <a:spcPts val="379"/>
              </a:spcBef>
              <a:buClr>
                <a:srgbClr val="CC0000"/>
              </a:buClr>
              <a:buFont typeface="Times New Roman"/>
              <a:buChar char="•"/>
              <a:tabLst>
                <a:tab pos="266224" algn="l"/>
                <a:tab pos="266700" algn="l"/>
              </a:tabLst>
              <a:defRPr/>
            </a:pPr>
            <a:r>
              <a:rPr lang="en-US" sz="1500" spc="-75" dirty="0">
                <a:solidFill>
                  <a:prstClr val="black"/>
                </a:solidFill>
              </a:rPr>
              <a:t>Decoder </a:t>
            </a:r>
            <a:r>
              <a:rPr sz="1500" spc="-23" dirty="0">
                <a:solidFill>
                  <a:prstClr val="black"/>
                </a:solidFill>
              </a:rPr>
              <a:t>self-attention  </a:t>
            </a:r>
            <a:r>
              <a:rPr sz="1500" spc="-49" dirty="0">
                <a:solidFill>
                  <a:prstClr val="black"/>
                </a:solidFill>
              </a:rPr>
              <a:t>on </a:t>
            </a:r>
            <a:r>
              <a:rPr sz="1500" spc="-53" dirty="0">
                <a:solidFill>
                  <a:prstClr val="black"/>
                </a:solidFill>
              </a:rPr>
              <a:t>previously </a:t>
            </a:r>
            <a:r>
              <a:rPr sz="1500" spc="-56" dirty="0">
                <a:solidFill>
                  <a:prstClr val="black"/>
                </a:solidFill>
              </a:rPr>
              <a:t>generated</a:t>
            </a:r>
            <a:r>
              <a:rPr sz="1500" spc="-172" dirty="0">
                <a:solidFill>
                  <a:prstClr val="black"/>
                </a:solidFill>
              </a:rPr>
              <a:t> </a:t>
            </a:r>
            <a:r>
              <a:rPr sz="1500" spc="-26" dirty="0">
                <a:solidFill>
                  <a:prstClr val="black"/>
                </a:solidFill>
              </a:rPr>
              <a:t>outputs:</a:t>
            </a:r>
            <a:endParaRPr lang="zh-CN" altLang="en-US" sz="1500" dirty="0">
              <a:solidFill>
                <a:prstClr val="black"/>
              </a:solidFill>
            </a:endParaRPr>
          </a:p>
        </p:txBody>
      </p:sp>
      <p:sp>
        <p:nvSpPr>
          <p:cNvPr id="4" name="object 4"/>
          <p:cNvSpPr txBox="1"/>
          <p:nvPr/>
        </p:nvSpPr>
        <p:spPr>
          <a:xfrm>
            <a:off x="1430655" y="2433447"/>
            <a:ext cx="2458403" cy="1163780"/>
          </a:xfrm>
          <a:prstGeom prst="rect">
            <a:avLst/>
          </a:prstGeom>
        </p:spPr>
        <p:txBody>
          <a:bodyPr vert="horz" wrap="square" lIns="0" tIns="9525" rIns="0" bIns="0" rtlCol="0">
            <a:spAutoFit/>
          </a:bodyPr>
          <a:lstStyle/>
          <a:p>
            <a:pPr marL="266700" marR="3810" indent="-257175">
              <a:spcBef>
                <a:spcPts val="75"/>
              </a:spcBef>
              <a:buClr>
                <a:srgbClr val="CC0000"/>
              </a:buClr>
              <a:buFont typeface="Times New Roman"/>
              <a:buChar char="•"/>
              <a:tabLst>
                <a:tab pos="266224" algn="l"/>
                <a:tab pos="266700" algn="l"/>
              </a:tabLst>
              <a:defRPr/>
            </a:pPr>
            <a:r>
              <a:rPr sz="1500" spc="-79">
                <a:solidFill>
                  <a:prstClr val="black"/>
                </a:solidFill>
              </a:rPr>
              <a:t>Encoder-Decoder </a:t>
            </a:r>
            <a:r>
              <a:rPr sz="1500" spc="-15">
                <a:solidFill>
                  <a:prstClr val="black"/>
                </a:solidFill>
              </a:rPr>
              <a:t>Attention,  </a:t>
            </a:r>
            <a:r>
              <a:rPr sz="1500" spc="-45">
                <a:solidFill>
                  <a:prstClr val="black"/>
                </a:solidFill>
              </a:rPr>
              <a:t>where </a:t>
            </a:r>
            <a:r>
              <a:rPr sz="1500" spc="-60">
                <a:solidFill>
                  <a:prstClr val="black"/>
                </a:solidFill>
              </a:rPr>
              <a:t>queries </a:t>
            </a:r>
            <a:r>
              <a:rPr sz="1500" spc="-79">
                <a:solidFill>
                  <a:prstClr val="black"/>
                </a:solidFill>
              </a:rPr>
              <a:t>come </a:t>
            </a:r>
            <a:r>
              <a:rPr sz="1500" spc="-11">
                <a:solidFill>
                  <a:prstClr val="black"/>
                </a:solidFill>
              </a:rPr>
              <a:t>from  </a:t>
            </a:r>
            <a:r>
              <a:rPr sz="1500" spc="-56">
                <a:solidFill>
                  <a:prstClr val="black"/>
                </a:solidFill>
              </a:rPr>
              <a:t>previous </a:t>
            </a:r>
            <a:r>
              <a:rPr sz="1500" spc="-60">
                <a:solidFill>
                  <a:prstClr val="black"/>
                </a:solidFill>
              </a:rPr>
              <a:t>decoder </a:t>
            </a:r>
            <a:r>
              <a:rPr sz="1500" spc="-53">
                <a:solidFill>
                  <a:prstClr val="black"/>
                </a:solidFill>
              </a:rPr>
              <a:t>layer </a:t>
            </a:r>
            <a:r>
              <a:rPr sz="1500" spc="-75">
                <a:solidFill>
                  <a:prstClr val="black"/>
                </a:solidFill>
              </a:rPr>
              <a:t>and  </a:t>
            </a:r>
            <a:r>
              <a:rPr sz="1500" spc="-101">
                <a:solidFill>
                  <a:prstClr val="black"/>
                </a:solidFill>
              </a:rPr>
              <a:t>keys </a:t>
            </a:r>
            <a:r>
              <a:rPr sz="1500" spc="-71">
                <a:solidFill>
                  <a:prstClr val="black"/>
                </a:solidFill>
              </a:rPr>
              <a:t>and </a:t>
            </a:r>
            <a:r>
              <a:rPr sz="1500" spc="-83">
                <a:solidFill>
                  <a:prstClr val="black"/>
                </a:solidFill>
              </a:rPr>
              <a:t>values </a:t>
            </a:r>
            <a:r>
              <a:rPr sz="1500" spc="-79">
                <a:solidFill>
                  <a:prstClr val="black"/>
                </a:solidFill>
              </a:rPr>
              <a:t>come </a:t>
            </a:r>
            <a:r>
              <a:rPr sz="1500" spc="-11">
                <a:solidFill>
                  <a:prstClr val="black"/>
                </a:solidFill>
              </a:rPr>
              <a:t>from  </a:t>
            </a:r>
            <a:r>
              <a:rPr sz="1500" spc="-8">
                <a:solidFill>
                  <a:prstClr val="black"/>
                </a:solidFill>
              </a:rPr>
              <a:t>output </a:t>
            </a:r>
            <a:r>
              <a:rPr sz="1500" spc="-4">
                <a:solidFill>
                  <a:prstClr val="black"/>
                </a:solidFill>
              </a:rPr>
              <a:t>of</a:t>
            </a:r>
            <a:r>
              <a:rPr sz="1500" spc="-158">
                <a:solidFill>
                  <a:prstClr val="black"/>
                </a:solidFill>
              </a:rPr>
              <a:t> </a:t>
            </a:r>
            <a:r>
              <a:rPr sz="1500" spc="-60">
                <a:solidFill>
                  <a:prstClr val="black"/>
                </a:solidFill>
              </a:rPr>
              <a:t>encoder</a:t>
            </a:r>
            <a:endParaRPr sz="1500">
              <a:solidFill>
                <a:prstClr val="black"/>
              </a:solidFill>
            </a:endParaRPr>
          </a:p>
        </p:txBody>
      </p:sp>
      <p:sp>
        <p:nvSpPr>
          <p:cNvPr id="6" name="object 6"/>
          <p:cNvSpPr txBox="1"/>
          <p:nvPr/>
        </p:nvSpPr>
        <p:spPr>
          <a:xfrm>
            <a:off x="1687830" y="4719447"/>
            <a:ext cx="2227898" cy="240450"/>
          </a:xfrm>
          <a:prstGeom prst="rect">
            <a:avLst/>
          </a:prstGeom>
        </p:spPr>
        <p:txBody>
          <a:bodyPr vert="horz" wrap="square" lIns="0" tIns="9525" rIns="0" bIns="0" rtlCol="0">
            <a:spAutoFit/>
          </a:bodyPr>
          <a:lstStyle/>
          <a:p>
            <a:pPr marL="9525">
              <a:spcBef>
                <a:spcPts val="75"/>
              </a:spcBef>
              <a:defRPr/>
            </a:pPr>
            <a:r>
              <a:rPr sz="1500" spc="-98">
                <a:solidFill>
                  <a:prstClr val="black"/>
                </a:solidFill>
              </a:rPr>
              <a:t>Blocks </a:t>
            </a:r>
            <a:r>
              <a:rPr sz="1500" spc="-49">
                <a:solidFill>
                  <a:prstClr val="black"/>
                </a:solidFill>
              </a:rPr>
              <a:t>repeated </a:t>
            </a:r>
            <a:r>
              <a:rPr sz="1500" spc="-75">
                <a:solidFill>
                  <a:prstClr val="black"/>
                </a:solidFill>
              </a:rPr>
              <a:t>6 </a:t>
            </a:r>
            <a:r>
              <a:rPr sz="1500" spc="-41">
                <a:solidFill>
                  <a:prstClr val="black"/>
                </a:solidFill>
              </a:rPr>
              <a:t>times</a:t>
            </a:r>
            <a:r>
              <a:rPr sz="1500" spc="-124">
                <a:solidFill>
                  <a:prstClr val="black"/>
                </a:solidFill>
              </a:rPr>
              <a:t> </a:t>
            </a:r>
            <a:r>
              <a:rPr sz="1500" spc="-79">
                <a:solidFill>
                  <a:prstClr val="black"/>
                </a:solidFill>
              </a:rPr>
              <a:t>also</a:t>
            </a:r>
            <a:endParaRPr sz="1500">
              <a:solidFill>
                <a:prstClr val="black"/>
              </a:solidFill>
            </a:endParaRPr>
          </a:p>
        </p:txBody>
      </p:sp>
      <p:sp>
        <p:nvSpPr>
          <p:cNvPr id="7" name="object 7"/>
          <p:cNvSpPr/>
          <p:nvPr/>
        </p:nvSpPr>
        <p:spPr>
          <a:xfrm>
            <a:off x="4512565" y="5392"/>
            <a:ext cx="3470147" cy="5143500"/>
          </a:xfrm>
          <a:prstGeom prst="rect">
            <a:avLst/>
          </a:prstGeom>
          <a:blipFill>
            <a:blip r:embed="rId3" cstate="print"/>
            <a:stretch>
              <a:fillRect/>
            </a:stretch>
          </a:blipFill>
        </p:spPr>
        <p:txBody>
          <a:bodyPr wrap="square" lIns="0" tIns="0" rIns="0" bIns="0" rtlCol="0"/>
          <a:lstStyle/>
          <a:p>
            <a:pPr>
              <a:defRPr/>
            </a:pPr>
            <a:endParaRPr sz="1050">
              <a:solidFill>
                <a:prstClr val="black"/>
              </a:solidFill>
              <a:latin typeface="Calibri"/>
            </a:endParaRPr>
          </a:p>
        </p:txBody>
      </p:sp>
      <p:sp>
        <p:nvSpPr>
          <p:cNvPr id="8" name="object 8"/>
          <p:cNvSpPr/>
          <p:nvPr/>
        </p:nvSpPr>
        <p:spPr>
          <a:xfrm>
            <a:off x="1725930" y="1657350"/>
            <a:ext cx="1915668" cy="706374"/>
          </a:xfrm>
          <a:prstGeom prst="rect">
            <a:avLst/>
          </a:prstGeom>
          <a:blipFill>
            <a:blip r:embed="rId4" cstate="print"/>
            <a:stretch>
              <a:fillRect/>
            </a:stretch>
          </a:blipFill>
        </p:spPr>
        <p:txBody>
          <a:bodyPr wrap="square" lIns="0" tIns="0" rIns="0" bIns="0" rtlCol="0"/>
          <a:lstStyle/>
          <a:p>
            <a:pPr>
              <a:defRPr/>
            </a:pPr>
            <a:endParaRPr sz="1050">
              <a:solidFill>
                <a:prstClr val="black"/>
              </a:solidFill>
              <a:latin typeface="Calibri"/>
            </a:endParaRPr>
          </a:p>
        </p:txBody>
      </p:sp>
      <p:sp>
        <p:nvSpPr>
          <p:cNvPr id="9" name="object 9"/>
          <p:cNvSpPr/>
          <p:nvPr/>
        </p:nvSpPr>
        <p:spPr>
          <a:xfrm>
            <a:off x="1627632" y="3790188"/>
            <a:ext cx="2377440" cy="836676"/>
          </a:xfrm>
          <a:prstGeom prst="rect">
            <a:avLst/>
          </a:prstGeom>
          <a:blipFill>
            <a:blip r:embed="rId5" cstate="print"/>
            <a:stretch>
              <a:fillRect/>
            </a:stretch>
          </a:blipFill>
        </p:spPr>
        <p:txBody>
          <a:bodyPr wrap="square" lIns="0" tIns="0" rIns="0" bIns="0" rtlCol="0"/>
          <a:lstStyle/>
          <a:p>
            <a:pPr>
              <a:defRPr/>
            </a:pPr>
            <a:endParaRPr sz="1050">
              <a:solidFill>
                <a:prstClr val="black"/>
              </a:solidFill>
              <a:latin typeface="Calibri"/>
            </a:endParaRPr>
          </a:p>
        </p:txBody>
      </p:sp>
      <p:sp>
        <p:nvSpPr>
          <p:cNvPr id="10" name="TextBox 9">
            <a:extLst>
              <a:ext uri="{FF2B5EF4-FFF2-40B4-BE49-F238E27FC236}">
                <a16:creationId xmlns:a16="http://schemas.microsoft.com/office/drawing/2014/main" id="{830B8BD5-C8A6-4F14-977E-F6F4C2A5422B}"/>
              </a:ext>
            </a:extLst>
          </p:cNvPr>
          <p:cNvSpPr txBox="1"/>
          <p:nvPr/>
        </p:nvSpPr>
        <p:spPr>
          <a:xfrm>
            <a:off x="1143000" y="4935752"/>
            <a:ext cx="1181734" cy="230832"/>
          </a:xfrm>
          <a:prstGeom prst="rect">
            <a:avLst/>
          </a:prstGeom>
          <a:noFill/>
        </p:spPr>
        <p:txBody>
          <a:bodyPr wrap="none" rtlCol="0">
            <a:spAutoFit/>
          </a:bodyPr>
          <a:lstStyle/>
          <a:p>
            <a:pPr>
              <a:defRPr/>
            </a:pPr>
            <a:r>
              <a:rPr lang="en-US" sz="900">
                <a:solidFill>
                  <a:prstClr val="black"/>
                </a:solidFill>
                <a:latin typeface="Calibri"/>
              </a:rPr>
              <a:t>Christopher Manning</a:t>
            </a:r>
          </a:p>
        </p:txBody>
      </p:sp>
    </p:spTree>
    <p:extLst>
      <p:ext uri="{BB962C8B-B14F-4D97-AF65-F5344CB8AC3E}">
        <p14:creationId xmlns:p14="http://schemas.microsoft.com/office/powerpoint/2010/main" val="3509963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44B2A-A03E-3138-C765-14788A30AF1B}"/>
            </a:ext>
          </a:extLst>
        </p:cNvPr>
        <p:cNvGrpSpPr/>
        <p:nvPr/>
      </p:nvGrpSpPr>
      <p:grpSpPr>
        <a:xfrm>
          <a:off x="0" y="0"/>
          <a:ext cx="0" cy="0"/>
          <a:chOff x="0" y="0"/>
          <a:chExt cx="0" cy="0"/>
        </a:xfrm>
      </p:grpSpPr>
      <p:sp>
        <p:nvSpPr>
          <p:cNvPr id="15" name="Google Shape;112;p17">
            <a:extLst>
              <a:ext uri="{FF2B5EF4-FFF2-40B4-BE49-F238E27FC236}">
                <a16:creationId xmlns:a16="http://schemas.microsoft.com/office/drawing/2014/main" id="{BB31C155-D7F9-C5C4-EC2D-E6DE5059C360}"/>
              </a:ext>
            </a:extLst>
          </p:cNvPr>
          <p:cNvSpPr/>
          <p:nvPr/>
        </p:nvSpPr>
        <p:spPr>
          <a:xfrm>
            <a:off x="610306" y="524908"/>
            <a:ext cx="4099064" cy="303600"/>
          </a:xfrm>
          <a:prstGeom prst="rect">
            <a:avLst/>
          </a:prstGeom>
          <a:noFill/>
          <a:ln>
            <a:noFill/>
          </a:ln>
        </p:spPr>
        <p:txBody>
          <a:bodyPr spcFirstLastPara="1" wrap="square" lIns="34275" tIns="45700" rIns="34275" bIns="45700" anchor="b" anchorCtr="0">
            <a:noAutofit/>
          </a:bodyPr>
          <a:lstStyle/>
          <a:p>
            <a:pPr>
              <a:lnSpc>
                <a:spcPct val="90000"/>
              </a:lnSpc>
            </a:pPr>
            <a:r>
              <a:rPr lang="en-US" sz="2800">
                <a:solidFill>
                  <a:schemeClr val="tx1"/>
                </a:solidFill>
              </a:rPr>
              <a:t>Encoder-Decoder </a:t>
            </a:r>
            <a:endParaRPr lang="zh-CN">
              <a:solidFill>
                <a:schemeClr val="tx1"/>
              </a:solidFill>
            </a:endParaRPr>
          </a:p>
        </p:txBody>
      </p:sp>
      <p:sp>
        <p:nvSpPr>
          <p:cNvPr id="3" name="文本框 2">
            <a:extLst>
              <a:ext uri="{FF2B5EF4-FFF2-40B4-BE49-F238E27FC236}">
                <a16:creationId xmlns:a16="http://schemas.microsoft.com/office/drawing/2014/main" id="{2B47BABD-ACF9-D7E9-9EB9-1439FA10E371}"/>
              </a:ext>
            </a:extLst>
          </p:cNvPr>
          <p:cNvSpPr txBox="1"/>
          <p:nvPr/>
        </p:nvSpPr>
        <p:spPr>
          <a:xfrm>
            <a:off x="81412" y="4763938"/>
            <a:ext cx="274320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900" i="1"/>
              <a:t>https://jalammar.github.io/illustrated-transformer/</a:t>
            </a:r>
          </a:p>
        </p:txBody>
      </p:sp>
      <p:pic>
        <p:nvPicPr>
          <p:cNvPr id="4" name="图片 3">
            <a:extLst>
              <a:ext uri="{FF2B5EF4-FFF2-40B4-BE49-F238E27FC236}">
                <a16:creationId xmlns:a16="http://schemas.microsoft.com/office/drawing/2014/main" id="{D0BC52ED-2E13-1234-E9F4-001E61510D04}"/>
              </a:ext>
            </a:extLst>
          </p:cNvPr>
          <p:cNvPicPr>
            <a:picLocks noChangeAspect="1"/>
          </p:cNvPicPr>
          <p:nvPr/>
        </p:nvPicPr>
        <p:blipFill>
          <a:blip r:embed="rId3"/>
          <a:stretch>
            <a:fillRect/>
          </a:stretch>
        </p:blipFill>
        <p:spPr>
          <a:xfrm>
            <a:off x="120178" y="1016300"/>
            <a:ext cx="5488122" cy="3283430"/>
          </a:xfrm>
          <a:prstGeom prst="rect">
            <a:avLst/>
          </a:prstGeom>
        </p:spPr>
      </p:pic>
      <p:pic>
        <p:nvPicPr>
          <p:cNvPr id="6" name="图片 5" descr="图示&#10;&#10;AI 生成的内容可能不正确。">
            <a:extLst>
              <a:ext uri="{FF2B5EF4-FFF2-40B4-BE49-F238E27FC236}">
                <a16:creationId xmlns:a16="http://schemas.microsoft.com/office/drawing/2014/main" id="{21CBAD69-8CDB-E6A2-AA67-5352EED65734}"/>
              </a:ext>
            </a:extLst>
          </p:cNvPr>
          <p:cNvPicPr>
            <a:picLocks noChangeAspect="1"/>
          </p:cNvPicPr>
          <p:nvPr/>
        </p:nvPicPr>
        <p:blipFill>
          <a:blip r:embed="rId4"/>
          <a:stretch>
            <a:fillRect/>
          </a:stretch>
        </p:blipFill>
        <p:spPr>
          <a:xfrm>
            <a:off x="5321420" y="1062831"/>
            <a:ext cx="3639270" cy="2260329"/>
          </a:xfrm>
          <a:prstGeom prst="rect">
            <a:avLst/>
          </a:prstGeom>
        </p:spPr>
      </p:pic>
    </p:spTree>
    <p:extLst>
      <p:ext uri="{BB962C8B-B14F-4D97-AF65-F5344CB8AC3E}">
        <p14:creationId xmlns:p14="http://schemas.microsoft.com/office/powerpoint/2010/main" val="239954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F0AB6-1797-08BA-EB96-DB32204BAC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F05CC3-B26D-F83F-CF6B-5DD385F23F0F}"/>
              </a:ext>
            </a:extLst>
          </p:cNvPr>
          <p:cNvSpPr txBox="1"/>
          <p:nvPr/>
        </p:nvSpPr>
        <p:spPr>
          <a:xfrm>
            <a:off x="774971" y="4865504"/>
            <a:ext cx="7135287" cy="230832"/>
          </a:xfrm>
          <a:prstGeom prst="rect">
            <a:avLst/>
          </a:prstGeom>
          <a:noFill/>
        </p:spPr>
        <p:txBody>
          <a:bodyPr wrap="none" rtlCol="0">
            <a:spAutoFit/>
          </a:bodyPr>
          <a:lstStyle/>
          <a:p>
            <a:r>
              <a:rPr lang="en-US" sz="900"/>
              <a:t>https://</a:t>
            </a:r>
            <a:r>
              <a:rPr lang="en-US" sz="900" err="1"/>
              <a:t>www.researchgate.net</a:t>
            </a:r>
            <a:r>
              <a:rPr lang="en-US" sz="900"/>
              <a:t>/figure/NLP-Tasks-Categorized-in-Two-Broader-Categories-Analysis-Tasks-light-blue-and_fig4_343323519</a:t>
            </a:r>
          </a:p>
        </p:txBody>
      </p:sp>
      <p:grpSp>
        <p:nvGrpSpPr>
          <p:cNvPr id="16" name="Group 15">
            <a:extLst>
              <a:ext uri="{FF2B5EF4-FFF2-40B4-BE49-F238E27FC236}">
                <a16:creationId xmlns:a16="http://schemas.microsoft.com/office/drawing/2014/main" id="{39F9295A-1CAE-2B7F-3CD0-449A43EA4DD5}"/>
              </a:ext>
            </a:extLst>
          </p:cNvPr>
          <p:cNvGrpSpPr/>
          <p:nvPr/>
        </p:nvGrpSpPr>
        <p:grpSpPr>
          <a:xfrm>
            <a:off x="998212" y="1257005"/>
            <a:ext cx="7233535" cy="3055105"/>
            <a:chOff x="515916" y="1675859"/>
            <a:chExt cx="7233535" cy="3055105"/>
          </a:xfrm>
        </p:grpSpPr>
        <p:pic>
          <p:nvPicPr>
            <p:cNvPr id="2050" name="Picture 2" descr="NLP Tasks Categorized in Two Broader Categories: Analysis Tasks (light... |  Download Scientific Diagram">
              <a:extLst>
                <a:ext uri="{FF2B5EF4-FFF2-40B4-BE49-F238E27FC236}">
                  <a16:creationId xmlns:a16="http://schemas.microsoft.com/office/drawing/2014/main" id="{BA6BCD02-A823-7304-5D78-5C34A57A6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16" y="1675859"/>
              <a:ext cx="7233535" cy="30551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29EECF7-5043-44DA-D03F-60419AEF7B1F}"/>
                </a:ext>
              </a:extLst>
            </p:cNvPr>
            <p:cNvSpPr txBox="1"/>
            <p:nvPr/>
          </p:nvSpPr>
          <p:spPr>
            <a:xfrm>
              <a:off x="3072564" y="2612610"/>
              <a:ext cx="2034279" cy="307777"/>
            </a:xfrm>
            <a:prstGeom prst="rect">
              <a:avLst/>
            </a:prstGeom>
            <a:solidFill>
              <a:schemeClr val="tx1">
                <a:lumMod val="20000"/>
                <a:lumOff val="80000"/>
              </a:schemeClr>
            </a:solidFill>
          </p:spPr>
          <p:txBody>
            <a:bodyPr wrap="square">
              <a:spAutoFit/>
            </a:bodyPr>
            <a:lstStyle/>
            <a:p>
              <a:pPr algn="ctr"/>
              <a:r>
                <a:rPr lang="en-US" altLang="zh-CN"/>
                <a:t>Two</a:t>
              </a:r>
              <a:r>
                <a:rPr lang="zh-CN" altLang="en-US"/>
                <a:t> </a:t>
              </a:r>
              <a:r>
                <a:rPr lang="en-US" altLang="zh-CN"/>
                <a:t>Broad</a:t>
              </a:r>
              <a:r>
                <a:rPr lang="zh-CN" altLang="en-US"/>
                <a:t> </a:t>
              </a:r>
              <a:r>
                <a:rPr lang="en-US" altLang="zh-CN"/>
                <a:t>Categories</a:t>
              </a:r>
              <a:endParaRPr lang="en-US"/>
            </a:p>
          </p:txBody>
        </p:sp>
      </p:grpSp>
      <p:sp>
        <p:nvSpPr>
          <p:cNvPr id="15" name="Google Shape;112;p17">
            <a:extLst>
              <a:ext uri="{FF2B5EF4-FFF2-40B4-BE49-F238E27FC236}">
                <a16:creationId xmlns:a16="http://schemas.microsoft.com/office/drawing/2014/main" id="{C8D87195-15D0-54C8-8B5B-1C05FB203CE0}"/>
              </a:ext>
            </a:extLst>
          </p:cNvPr>
          <p:cNvSpPr/>
          <p:nvPr/>
        </p:nvSpPr>
        <p:spPr>
          <a:xfrm>
            <a:off x="610306" y="524908"/>
            <a:ext cx="4099064" cy="3036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2"/>
              </a:buClr>
              <a:buSzPts val="2250"/>
              <a:buFont typeface="Arial"/>
              <a:buNone/>
            </a:pPr>
            <a:r>
              <a:rPr lang="en-US" sz="2800" b="0" i="0" u="none" strike="noStrike" cap="none">
                <a:solidFill>
                  <a:schemeClr val="tx1"/>
                </a:solidFill>
                <a:latin typeface="Arial"/>
                <a:ea typeface="Arial"/>
                <a:cs typeface="Arial"/>
                <a:sym typeface="Arial"/>
              </a:rPr>
              <a:t>Category of NLP Tasks</a:t>
            </a:r>
          </a:p>
        </p:txBody>
      </p:sp>
    </p:spTree>
    <p:extLst>
      <p:ext uri="{BB962C8B-B14F-4D97-AF65-F5344CB8AC3E}">
        <p14:creationId xmlns:p14="http://schemas.microsoft.com/office/powerpoint/2010/main" val="1040762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3CC78-E513-7E09-C089-8F6A09B3E6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26F595-D1F8-AD10-ACDA-8CCB3E353936}"/>
              </a:ext>
            </a:extLst>
          </p:cNvPr>
          <p:cNvSpPr txBox="1"/>
          <p:nvPr/>
        </p:nvSpPr>
        <p:spPr>
          <a:xfrm>
            <a:off x="774971" y="4865504"/>
            <a:ext cx="7135287" cy="230832"/>
          </a:xfrm>
          <a:prstGeom prst="rect">
            <a:avLst/>
          </a:prstGeom>
          <a:noFill/>
        </p:spPr>
        <p:txBody>
          <a:bodyPr wrap="none" rtlCol="0">
            <a:spAutoFit/>
          </a:bodyPr>
          <a:lstStyle/>
          <a:p>
            <a:r>
              <a:rPr lang="en-US" sz="900"/>
              <a:t>https://</a:t>
            </a:r>
            <a:r>
              <a:rPr lang="en-US" sz="900" err="1"/>
              <a:t>www.researchgate.net</a:t>
            </a:r>
            <a:r>
              <a:rPr lang="en-US" sz="900"/>
              <a:t>/figure/NLP-Tasks-Categorized-in-Two-Broader-Categories-Analysis-Tasks-light-blue-and_fig4_343323519</a:t>
            </a:r>
          </a:p>
        </p:txBody>
      </p:sp>
      <p:pic>
        <p:nvPicPr>
          <p:cNvPr id="2050" name="Picture 2" descr="NLP Tasks Categorized in Two Broader Categories: Analysis Tasks (light... |  Download Scientific Diagram">
            <a:extLst>
              <a:ext uri="{FF2B5EF4-FFF2-40B4-BE49-F238E27FC236}">
                <a16:creationId xmlns:a16="http://schemas.microsoft.com/office/drawing/2014/main" id="{E5BAD9FB-15BF-6DBE-652C-894417A88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212" y="1257005"/>
            <a:ext cx="7233535" cy="3055105"/>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112;p17">
            <a:extLst>
              <a:ext uri="{FF2B5EF4-FFF2-40B4-BE49-F238E27FC236}">
                <a16:creationId xmlns:a16="http://schemas.microsoft.com/office/drawing/2014/main" id="{C4EB669F-BAAA-7D5E-F148-4CEC681E4BB8}"/>
              </a:ext>
            </a:extLst>
          </p:cNvPr>
          <p:cNvSpPr/>
          <p:nvPr/>
        </p:nvSpPr>
        <p:spPr>
          <a:xfrm>
            <a:off x="610305" y="551811"/>
            <a:ext cx="4099064" cy="3036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2"/>
              </a:buClr>
              <a:buSzPts val="2250"/>
              <a:buFont typeface="Arial"/>
              <a:buNone/>
            </a:pPr>
            <a:r>
              <a:rPr lang="en-US" sz="2800" b="0" i="0" u="none" strike="noStrike" cap="none">
                <a:solidFill>
                  <a:schemeClr val="tx1"/>
                </a:solidFill>
                <a:latin typeface="Arial"/>
                <a:ea typeface="Arial"/>
                <a:cs typeface="Arial"/>
                <a:sym typeface="Arial"/>
              </a:rPr>
              <a:t>Category of NLP Tasks</a:t>
            </a:r>
          </a:p>
        </p:txBody>
      </p:sp>
      <p:sp>
        <p:nvSpPr>
          <p:cNvPr id="2" name="Rectangle 1">
            <a:extLst>
              <a:ext uri="{FF2B5EF4-FFF2-40B4-BE49-F238E27FC236}">
                <a16:creationId xmlns:a16="http://schemas.microsoft.com/office/drawing/2014/main" id="{D53B006F-B460-BB87-F700-AB0465EB316A}"/>
              </a:ext>
            </a:extLst>
          </p:cNvPr>
          <p:cNvSpPr/>
          <p:nvPr/>
        </p:nvSpPr>
        <p:spPr>
          <a:xfrm>
            <a:off x="4507107" y="2141466"/>
            <a:ext cx="3828681" cy="18936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9458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20404-9A41-4F0E-E467-FC424E28EE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773E8F-E7EB-4543-B520-162F7DC6F818}"/>
              </a:ext>
            </a:extLst>
          </p:cNvPr>
          <p:cNvPicPr>
            <a:picLocks noChangeAspect="1"/>
          </p:cNvPicPr>
          <p:nvPr/>
        </p:nvPicPr>
        <p:blipFill>
          <a:blip r:embed="rId3"/>
          <a:stretch>
            <a:fillRect/>
          </a:stretch>
        </p:blipFill>
        <p:spPr>
          <a:xfrm>
            <a:off x="450056" y="1288416"/>
            <a:ext cx="8243888" cy="2931160"/>
          </a:xfrm>
          <a:prstGeom prst="rect">
            <a:avLst/>
          </a:prstGeom>
        </p:spPr>
      </p:pic>
      <p:sp>
        <p:nvSpPr>
          <p:cNvPr id="2" name="TextBox 1">
            <a:extLst>
              <a:ext uri="{FF2B5EF4-FFF2-40B4-BE49-F238E27FC236}">
                <a16:creationId xmlns:a16="http://schemas.microsoft.com/office/drawing/2014/main" id="{120121A9-F2B0-3C1E-979E-FB92988813E5}"/>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ltLang="zh-CN"/>
              <a:t>NLG Example – Language Generation</a:t>
            </a:r>
            <a:endParaRPr lang="en-US"/>
          </a:p>
        </p:txBody>
      </p:sp>
    </p:spTree>
    <p:extLst>
      <p:ext uri="{BB962C8B-B14F-4D97-AF65-F5344CB8AC3E}">
        <p14:creationId xmlns:p14="http://schemas.microsoft.com/office/powerpoint/2010/main" val="3128653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8DF96-9160-892E-E491-A9CDB93482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3BF4BD-9A6D-8B41-9A7C-A1546CB42DF4}"/>
              </a:ext>
            </a:extLst>
          </p:cNvPr>
          <p:cNvPicPr>
            <a:picLocks noChangeAspect="1"/>
          </p:cNvPicPr>
          <p:nvPr/>
        </p:nvPicPr>
        <p:blipFill>
          <a:blip r:embed="rId3"/>
          <a:stretch>
            <a:fillRect/>
          </a:stretch>
        </p:blipFill>
        <p:spPr>
          <a:xfrm>
            <a:off x="808136" y="790576"/>
            <a:ext cx="7527728" cy="4114253"/>
          </a:xfrm>
          <a:prstGeom prst="rect">
            <a:avLst/>
          </a:prstGeom>
        </p:spPr>
      </p:pic>
      <p:sp>
        <p:nvSpPr>
          <p:cNvPr id="9" name="TextBox 8">
            <a:extLst>
              <a:ext uri="{FF2B5EF4-FFF2-40B4-BE49-F238E27FC236}">
                <a16:creationId xmlns:a16="http://schemas.microsoft.com/office/drawing/2014/main" id="{39FA53CB-2A5C-67DA-E322-F9FC82772318}"/>
              </a:ext>
            </a:extLst>
          </p:cNvPr>
          <p:cNvSpPr txBox="1"/>
          <p:nvPr/>
        </p:nvSpPr>
        <p:spPr>
          <a:xfrm>
            <a:off x="75139" y="1613767"/>
            <a:ext cx="2359742" cy="307777"/>
          </a:xfrm>
          <a:prstGeom prst="rect">
            <a:avLst/>
          </a:prstGeom>
          <a:noFill/>
        </p:spPr>
        <p:txBody>
          <a:bodyPr wrap="square">
            <a:spAutoFit/>
          </a:bodyPr>
          <a:lstStyle/>
          <a:p>
            <a:pPr algn="ctr"/>
            <a:r>
              <a:rPr lang="en-US" altLang="zh-CN" b="1">
                <a:solidFill>
                  <a:schemeClr val="accent6">
                    <a:lumMod val="60000"/>
                    <a:lumOff val="40000"/>
                  </a:schemeClr>
                </a:solidFill>
              </a:rPr>
              <a:t>Data-to-Text</a:t>
            </a:r>
            <a:r>
              <a:rPr lang="zh-CN" altLang="en-US" b="1">
                <a:solidFill>
                  <a:schemeClr val="accent6">
                    <a:lumMod val="60000"/>
                    <a:lumOff val="40000"/>
                  </a:schemeClr>
                </a:solidFill>
              </a:rPr>
              <a:t> </a:t>
            </a:r>
            <a:r>
              <a:rPr lang="en-US" altLang="zh-CN" b="1">
                <a:solidFill>
                  <a:schemeClr val="accent6">
                    <a:lumMod val="60000"/>
                    <a:lumOff val="40000"/>
                  </a:schemeClr>
                </a:solidFill>
              </a:rPr>
              <a:t>Generation</a:t>
            </a:r>
            <a:endParaRPr lang="en-US" b="1">
              <a:solidFill>
                <a:schemeClr val="accent6">
                  <a:lumMod val="60000"/>
                  <a:lumOff val="40000"/>
                </a:schemeClr>
              </a:solidFill>
            </a:endParaRPr>
          </a:p>
        </p:txBody>
      </p:sp>
      <p:sp>
        <p:nvSpPr>
          <p:cNvPr id="3" name="TextBox 2">
            <a:extLst>
              <a:ext uri="{FF2B5EF4-FFF2-40B4-BE49-F238E27FC236}">
                <a16:creationId xmlns:a16="http://schemas.microsoft.com/office/drawing/2014/main" id="{763DB663-8DCC-14EA-84BC-823EB3187594}"/>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ltLang="zh-CN"/>
              <a:t>NLG Example – Language Generation</a:t>
            </a:r>
            <a:endParaRPr lang="en-US"/>
          </a:p>
        </p:txBody>
      </p:sp>
    </p:spTree>
    <p:extLst>
      <p:ext uri="{BB962C8B-B14F-4D97-AF65-F5344CB8AC3E}">
        <p14:creationId xmlns:p14="http://schemas.microsoft.com/office/powerpoint/2010/main" val="3971814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EC94-5CF5-48BE-05B3-8ED02C323509}"/>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8E600587-B8B6-2B07-3FFB-3F3C691D4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52" y="948215"/>
            <a:ext cx="5232728" cy="18550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7F094753-9853-AF9F-0FB7-6AA68D61D2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2886"/>
          <a:stretch>
            <a:fillRect/>
          </a:stretch>
        </p:blipFill>
        <p:spPr bwMode="auto">
          <a:xfrm>
            <a:off x="3703822" y="2921267"/>
            <a:ext cx="4995611" cy="19491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425902D-45A1-42F0-7AAE-92CC517D3D20}"/>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ltLang="zh-CN"/>
              <a:t>NLG Example – Machine Translation</a:t>
            </a:r>
            <a:endParaRPr lang="en-US"/>
          </a:p>
        </p:txBody>
      </p:sp>
    </p:spTree>
    <p:extLst>
      <p:ext uri="{BB962C8B-B14F-4D97-AF65-F5344CB8AC3E}">
        <p14:creationId xmlns:p14="http://schemas.microsoft.com/office/powerpoint/2010/main" val="106053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D7727-B4AD-47FF-6D27-DD86B7FF51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523DFE-14C4-5144-A3A3-278D1BD1774E}"/>
              </a:ext>
            </a:extLst>
          </p:cNvPr>
          <p:cNvPicPr>
            <a:picLocks noChangeAspect="1"/>
          </p:cNvPicPr>
          <p:nvPr/>
        </p:nvPicPr>
        <p:blipFill>
          <a:blip r:embed="rId3"/>
          <a:stretch>
            <a:fillRect/>
          </a:stretch>
        </p:blipFill>
        <p:spPr>
          <a:xfrm>
            <a:off x="4422808" y="1578543"/>
            <a:ext cx="4493321" cy="2491176"/>
          </a:xfrm>
          <a:prstGeom prst="rect">
            <a:avLst/>
          </a:prstGeom>
        </p:spPr>
      </p:pic>
      <p:pic>
        <p:nvPicPr>
          <p:cNvPr id="6" name="Picture 5">
            <a:extLst>
              <a:ext uri="{FF2B5EF4-FFF2-40B4-BE49-F238E27FC236}">
                <a16:creationId xmlns:a16="http://schemas.microsoft.com/office/drawing/2014/main" id="{D3CC7FF7-4621-1145-BB76-2FF45B8F5D25}"/>
              </a:ext>
            </a:extLst>
          </p:cNvPr>
          <p:cNvPicPr>
            <a:picLocks noChangeAspect="1"/>
          </p:cNvPicPr>
          <p:nvPr/>
        </p:nvPicPr>
        <p:blipFill>
          <a:blip r:embed="rId4"/>
          <a:stretch>
            <a:fillRect/>
          </a:stretch>
        </p:blipFill>
        <p:spPr>
          <a:xfrm>
            <a:off x="132943" y="1578543"/>
            <a:ext cx="4068887" cy="2280812"/>
          </a:xfrm>
          <a:prstGeom prst="rect">
            <a:avLst/>
          </a:prstGeom>
        </p:spPr>
      </p:pic>
      <p:sp>
        <p:nvSpPr>
          <p:cNvPr id="7" name="TextBox 6">
            <a:extLst>
              <a:ext uri="{FF2B5EF4-FFF2-40B4-BE49-F238E27FC236}">
                <a16:creationId xmlns:a16="http://schemas.microsoft.com/office/drawing/2014/main" id="{099E27CC-0C96-43B2-D6C0-C02FAD7A1088}"/>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ltLang="zh-CN"/>
              <a:t>NLG Example – Question Answering</a:t>
            </a:r>
            <a:endParaRPr lang="en-US"/>
          </a:p>
        </p:txBody>
      </p:sp>
    </p:spTree>
    <p:extLst>
      <p:ext uri="{BB962C8B-B14F-4D97-AF65-F5344CB8AC3E}">
        <p14:creationId xmlns:p14="http://schemas.microsoft.com/office/powerpoint/2010/main" val="4010034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28A1-9A39-C588-18FE-5E05FE927A0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6A62D7-129F-A747-8704-E85EEC382C2D}"/>
                  </a:ext>
                </a:extLst>
              </p:cNvPr>
              <p:cNvSpPr txBox="1">
                <a:spLocks/>
              </p:cNvSpPr>
              <p:nvPr/>
            </p:nvSpPr>
            <p:spPr>
              <a:xfrm>
                <a:off x="563413" y="1109064"/>
                <a:ext cx="4654550" cy="3708400"/>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At each time step </a:t>
                </a:r>
                <a14:m>
                  <m:oMath xmlns:m="http://schemas.openxmlformats.org/officeDocument/2006/math">
                    <m:r>
                      <a:rPr lang="en-US" i="1" smtClean="0">
                        <a:latin typeface="Cambria Math" panose="02040503050406030204" pitchFamily="18" charset="0"/>
                      </a:rPr>
                      <m:t>𝑡</m:t>
                    </m:r>
                  </m:oMath>
                </a14:m>
                <a:r>
                  <a:rPr lang="en-US" i="1"/>
                  <a:t>, </a:t>
                </a:r>
                <a:r>
                  <a:rPr lang="en-US"/>
                  <a:t>our model computes a vector of scores for each token in our vocabulary, </a:t>
                </a:r>
                <a14:m>
                  <m:oMath xmlns:m="http://schemas.openxmlformats.org/officeDocument/2006/math">
                    <m:r>
                      <a:rPr lang="en-US" i="1" smtClean="0">
                        <a:solidFill>
                          <a:schemeClr val="accent6">
                            <a:lumMod val="75000"/>
                          </a:schemeClr>
                        </a:solidFill>
                        <a:latin typeface="Cambria Math" panose="02040503050406030204" pitchFamily="18" charset="0"/>
                      </a:rPr>
                      <m:t>𝑆</m:t>
                    </m:r>
                    <m:r>
                      <a:rPr lang="en-US" i="1" smtClean="0">
                        <a:solidFill>
                          <a:schemeClr val="accent6">
                            <a:lumMod val="75000"/>
                          </a:schemeClr>
                        </a:solidFill>
                        <a:latin typeface="Cambria Math" panose="02040503050406030204" pitchFamily="18" charset="0"/>
                        <a:ea typeface="Cambria Math" panose="02040503050406030204" pitchFamily="18" charset="0"/>
                      </a:rPr>
                      <m:t>∈</m:t>
                    </m:r>
                    <m:sSup>
                      <m:sSupPr>
                        <m:ctrlPr>
                          <a:rPr lang="en-US" i="1" smtClean="0">
                            <a:solidFill>
                              <a:schemeClr val="accent6">
                                <a:lumMod val="75000"/>
                              </a:schemeClr>
                            </a:solidFill>
                            <a:latin typeface="Cambria Math" panose="02040503050406030204" pitchFamily="18" charset="0"/>
                            <a:ea typeface="Cambria Math" panose="02040503050406030204" pitchFamily="18" charset="0"/>
                          </a:rPr>
                        </m:ctrlPr>
                      </m:sSupPr>
                      <m:e>
                        <m:r>
                          <a:rPr lang="en-US" i="1" smtClean="0">
                            <a:solidFill>
                              <a:schemeClr val="accent6">
                                <a:lumMod val="75000"/>
                              </a:schemeClr>
                            </a:solidFill>
                            <a:latin typeface="Cambria Math" panose="02040503050406030204" pitchFamily="18" charset="0"/>
                            <a:ea typeface="Cambria Math" panose="02040503050406030204" pitchFamily="18" charset="0"/>
                          </a:rPr>
                          <m:t>𝑅</m:t>
                        </m:r>
                      </m:e>
                      <m:sup>
                        <m:r>
                          <a:rPr lang="en-US" i="1" smtClean="0">
                            <a:solidFill>
                              <a:schemeClr val="accent6">
                                <a:lumMod val="75000"/>
                              </a:schemeClr>
                            </a:solidFill>
                            <a:latin typeface="Cambria Math" panose="02040503050406030204" pitchFamily="18" charset="0"/>
                            <a:ea typeface="Cambria Math" panose="02040503050406030204" pitchFamily="18" charset="0"/>
                          </a:rPr>
                          <m:t>𝑉</m:t>
                        </m:r>
                      </m:sup>
                    </m:sSup>
                  </m:oMath>
                </a14:m>
                <a:r>
                  <a:rPr lang="en-US"/>
                  <a:t>): </a:t>
                </a:r>
              </a:p>
              <a:p>
                <a:endParaRPr lang="en-US"/>
              </a:p>
              <a:p>
                <a:r>
                  <a:rPr lang="en-US"/>
                  <a:t>Then, we compute a probability distribution </a:t>
                </a:r>
                <a:r>
                  <a:rPr lang="en-US">
                    <a:solidFill>
                      <a:srgbClr val="7030A0"/>
                    </a:solidFill>
                  </a:rPr>
                  <a:t>𝑃</a:t>
                </a:r>
                <a:r>
                  <a:rPr lang="en-US"/>
                  <a:t> over </a:t>
                </a:r>
                <a:r>
                  <a:rPr lang="en-US">
                    <a:solidFill>
                      <a:srgbClr val="7030A0"/>
                    </a:solidFill>
                  </a:rPr>
                  <a:t>𝑤 ∈ 𝑉 </a:t>
                </a:r>
                <a:r>
                  <a:rPr lang="en-US"/>
                  <a:t>using these scores: </a:t>
                </a:r>
              </a:p>
              <a:p>
                <a:endParaRPr lang="en-US"/>
              </a:p>
            </p:txBody>
          </p:sp>
        </mc:Choice>
        <mc:Fallback xmlns="">
          <p:sp>
            <p:nvSpPr>
              <p:cNvPr id="3" name="Content Placeholder 2">
                <a:extLst>
                  <a:ext uri="{FF2B5EF4-FFF2-40B4-BE49-F238E27FC236}">
                    <a16:creationId xmlns:a16="http://schemas.microsoft.com/office/drawing/2014/main" id="{296A62D7-129F-A747-8704-E85EEC382C2D}"/>
                  </a:ext>
                </a:extLst>
              </p:cNvPr>
              <p:cNvSpPr txBox="1">
                <a:spLocks noRot="1" noChangeAspect="1" noMove="1" noResize="1" noEditPoints="1" noAdjustHandles="1" noChangeArrowheads="1" noChangeShapeType="1" noTextEdit="1"/>
              </p:cNvSpPr>
              <p:nvPr/>
            </p:nvSpPr>
            <p:spPr>
              <a:xfrm>
                <a:off x="563413" y="1109064"/>
                <a:ext cx="4654550" cy="3708400"/>
              </a:xfrm>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B6EF1DF-B788-F545-AC2E-79ED92453E6A}"/>
              </a:ext>
            </a:extLst>
          </p:cNvPr>
          <p:cNvPicPr>
            <a:picLocks noChangeAspect="1"/>
          </p:cNvPicPr>
          <p:nvPr/>
        </p:nvPicPr>
        <p:blipFill>
          <a:blip r:embed="rId4"/>
          <a:stretch>
            <a:fillRect/>
          </a:stretch>
        </p:blipFill>
        <p:spPr>
          <a:xfrm>
            <a:off x="628650" y="2571750"/>
            <a:ext cx="4076700" cy="609600"/>
          </a:xfrm>
          <a:prstGeom prst="rect">
            <a:avLst/>
          </a:prstGeom>
        </p:spPr>
      </p:pic>
      <p:pic>
        <p:nvPicPr>
          <p:cNvPr id="6" name="Picture 5">
            <a:extLst>
              <a:ext uri="{FF2B5EF4-FFF2-40B4-BE49-F238E27FC236}">
                <a16:creationId xmlns:a16="http://schemas.microsoft.com/office/drawing/2014/main" id="{EEB9D2EA-992F-884D-9376-034B986CA102}"/>
              </a:ext>
            </a:extLst>
          </p:cNvPr>
          <p:cNvPicPr>
            <a:picLocks noChangeAspect="1"/>
          </p:cNvPicPr>
          <p:nvPr/>
        </p:nvPicPr>
        <p:blipFill>
          <a:blip r:embed="rId5"/>
          <a:stretch>
            <a:fillRect/>
          </a:stretch>
        </p:blipFill>
        <p:spPr>
          <a:xfrm>
            <a:off x="628650" y="3324440"/>
            <a:ext cx="3943350" cy="885825"/>
          </a:xfrm>
          <a:prstGeom prst="rect">
            <a:avLst/>
          </a:prstGeom>
        </p:spPr>
      </p:pic>
      <p:grpSp>
        <p:nvGrpSpPr>
          <p:cNvPr id="14" name="Group 13">
            <a:extLst>
              <a:ext uri="{FF2B5EF4-FFF2-40B4-BE49-F238E27FC236}">
                <a16:creationId xmlns:a16="http://schemas.microsoft.com/office/drawing/2014/main" id="{3A63B762-5FC2-A2EF-C70E-5A3668A346A0}"/>
              </a:ext>
            </a:extLst>
          </p:cNvPr>
          <p:cNvGrpSpPr/>
          <p:nvPr/>
        </p:nvGrpSpPr>
        <p:grpSpPr>
          <a:xfrm>
            <a:off x="5010527" y="1905520"/>
            <a:ext cx="3940969" cy="1602341"/>
            <a:chOff x="5203032" y="1510884"/>
            <a:chExt cx="3940969" cy="1602341"/>
          </a:xfrm>
        </p:grpSpPr>
        <p:pic>
          <p:nvPicPr>
            <p:cNvPr id="7" name="Picture 6">
              <a:extLst>
                <a:ext uri="{FF2B5EF4-FFF2-40B4-BE49-F238E27FC236}">
                  <a16:creationId xmlns:a16="http://schemas.microsoft.com/office/drawing/2014/main" id="{FF600554-015C-554D-B07D-D26B538D44B7}"/>
                </a:ext>
              </a:extLst>
            </p:cNvPr>
            <p:cNvPicPr>
              <a:picLocks noChangeAspect="1"/>
            </p:cNvPicPr>
            <p:nvPr/>
          </p:nvPicPr>
          <p:blipFill>
            <a:blip r:embed="rId6"/>
            <a:stretch>
              <a:fillRect/>
            </a:stretch>
          </p:blipFill>
          <p:spPr>
            <a:xfrm>
              <a:off x="5203032" y="1755662"/>
              <a:ext cx="3940969" cy="1240278"/>
            </a:xfrm>
            <a:prstGeom prst="rect">
              <a:avLst/>
            </a:prstGeom>
          </p:spPr>
        </p:pic>
        <p:pic>
          <p:nvPicPr>
            <p:cNvPr id="8" name="Picture 7">
              <a:extLst>
                <a:ext uri="{FF2B5EF4-FFF2-40B4-BE49-F238E27FC236}">
                  <a16:creationId xmlns:a16="http://schemas.microsoft.com/office/drawing/2014/main" id="{6C85AD82-775C-3542-B04E-E80B7A31229F}"/>
                </a:ext>
              </a:extLst>
            </p:cNvPr>
            <p:cNvPicPr>
              <a:picLocks noChangeAspect="1"/>
            </p:cNvPicPr>
            <p:nvPr/>
          </p:nvPicPr>
          <p:blipFill>
            <a:blip r:embed="rId7"/>
            <a:stretch>
              <a:fillRect/>
            </a:stretch>
          </p:blipFill>
          <p:spPr>
            <a:xfrm>
              <a:off x="5867403" y="2942361"/>
              <a:ext cx="1526381" cy="170864"/>
            </a:xfrm>
            <a:prstGeom prst="rect">
              <a:avLst/>
            </a:prstGeom>
          </p:spPr>
        </p:pic>
        <p:pic>
          <p:nvPicPr>
            <p:cNvPr id="9" name="Picture 8">
              <a:extLst>
                <a:ext uri="{FF2B5EF4-FFF2-40B4-BE49-F238E27FC236}">
                  <a16:creationId xmlns:a16="http://schemas.microsoft.com/office/drawing/2014/main" id="{77DDFD99-A174-9E4D-A622-B72661051A35}"/>
                </a:ext>
              </a:extLst>
            </p:cNvPr>
            <p:cNvPicPr>
              <a:picLocks noChangeAspect="1"/>
            </p:cNvPicPr>
            <p:nvPr/>
          </p:nvPicPr>
          <p:blipFill>
            <a:blip r:embed="rId8"/>
            <a:stretch>
              <a:fillRect/>
            </a:stretch>
          </p:blipFill>
          <p:spPr>
            <a:xfrm>
              <a:off x="6838950" y="1510884"/>
              <a:ext cx="661988" cy="191791"/>
            </a:xfrm>
            <a:prstGeom prst="rect">
              <a:avLst/>
            </a:prstGeom>
          </p:spPr>
        </p:pic>
      </p:grpSp>
      <p:sp>
        <p:nvSpPr>
          <p:cNvPr id="13" name="TextBox 12">
            <a:extLst>
              <a:ext uri="{FF2B5EF4-FFF2-40B4-BE49-F238E27FC236}">
                <a16:creationId xmlns:a16="http://schemas.microsoft.com/office/drawing/2014/main" id="{B9DAA590-7885-DBCF-BCAD-A6F01E98F09F}"/>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t>Text Generation – Next Word Prediction</a:t>
            </a:r>
          </a:p>
        </p:txBody>
      </p:sp>
    </p:spTree>
    <p:extLst>
      <p:ext uri="{BB962C8B-B14F-4D97-AF65-F5344CB8AC3E}">
        <p14:creationId xmlns:p14="http://schemas.microsoft.com/office/powerpoint/2010/main" val="75995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73CA6-4F0A-B225-5202-4070F2CA49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98BDC12-E04C-244E-8799-6338F8192CC9}"/>
              </a:ext>
            </a:extLst>
          </p:cNvPr>
          <p:cNvPicPr>
            <a:picLocks noChangeAspect="1"/>
          </p:cNvPicPr>
          <p:nvPr/>
        </p:nvPicPr>
        <p:blipFill>
          <a:blip r:embed="rId3"/>
          <a:stretch>
            <a:fillRect/>
          </a:stretch>
        </p:blipFill>
        <p:spPr>
          <a:xfrm>
            <a:off x="4131598" y="3523887"/>
            <a:ext cx="4714875" cy="619125"/>
          </a:xfrm>
          <a:prstGeom prst="rect">
            <a:avLst/>
          </a:prstGeom>
        </p:spPr>
      </p:pic>
      <p:pic>
        <p:nvPicPr>
          <p:cNvPr id="6" name="Picture 5">
            <a:extLst>
              <a:ext uri="{FF2B5EF4-FFF2-40B4-BE49-F238E27FC236}">
                <a16:creationId xmlns:a16="http://schemas.microsoft.com/office/drawing/2014/main" id="{2149A08F-A402-D84C-B81A-DF166FE11BB3}"/>
              </a:ext>
            </a:extLst>
          </p:cNvPr>
          <p:cNvPicPr>
            <a:picLocks noChangeAspect="1"/>
          </p:cNvPicPr>
          <p:nvPr/>
        </p:nvPicPr>
        <p:blipFill>
          <a:blip r:embed="rId4"/>
          <a:stretch>
            <a:fillRect/>
          </a:stretch>
        </p:blipFill>
        <p:spPr>
          <a:xfrm>
            <a:off x="4075038" y="1230452"/>
            <a:ext cx="4781550" cy="619125"/>
          </a:xfrm>
          <a:prstGeom prst="rect">
            <a:avLst/>
          </a:prstGeom>
        </p:spPr>
      </p:pic>
      <p:sp>
        <p:nvSpPr>
          <p:cNvPr id="9" name="TextBox 8">
            <a:extLst>
              <a:ext uri="{FF2B5EF4-FFF2-40B4-BE49-F238E27FC236}">
                <a16:creationId xmlns:a16="http://schemas.microsoft.com/office/drawing/2014/main" id="{4BD322A5-01C3-0972-C7FF-671678A991AA}"/>
              </a:ext>
            </a:extLst>
          </p:cNvPr>
          <p:cNvSpPr txBox="1"/>
          <p:nvPr/>
        </p:nvSpPr>
        <p:spPr>
          <a:xfrm>
            <a:off x="602928" y="1303532"/>
            <a:ext cx="3271979" cy="738664"/>
          </a:xfrm>
          <a:prstGeom prst="rect">
            <a:avLst/>
          </a:prstGeom>
          <a:noFill/>
        </p:spPr>
        <p:txBody>
          <a:bodyPr wrap="square">
            <a:spAutoFit/>
          </a:bodyPr>
          <a:lstStyle/>
          <a:p>
            <a:r>
              <a:rPr lang="en-US"/>
              <a:t>We train the model to minimize the negative loglikelihood of predicting the next token in the sequence: </a:t>
            </a:r>
          </a:p>
        </p:txBody>
      </p:sp>
      <p:sp>
        <p:nvSpPr>
          <p:cNvPr id="11" name="TextBox 10">
            <a:extLst>
              <a:ext uri="{FF2B5EF4-FFF2-40B4-BE49-F238E27FC236}">
                <a16:creationId xmlns:a16="http://schemas.microsoft.com/office/drawing/2014/main" id="{9FD8BDD2-20B8-2EB4-F13C-945E7CFC158D}"/>
              </a:ext>
            </a:extLst>
          </p:cNvPr>
          <p:cNvSpPr txBox="1"/>
          <p:nvPr/>
        </p:nvSpPr>
        <p:spPr>
          <a:xfrm>
            <a:off x="592813" y="3523887"/>
            <a:ext cx="3226869" cy="738664"/>
          </a:xfrm>
          <a:prstGeom prst="rect">
            <a:avLst/>
          </a:prstGeom>
          <a:noFill/>
        </p:spPr>
        <p:txBody>
          <a:bodyPr wrap="square">
            <a:spAutoFit/>
          </a:bodyPr>
          <a:lstStyle/>
          <a:p>
            <a:r>
              <a:rPr lang="en-US"/>
              <a:t>At inference time, our decoding algorithm defines a function to select a token from this distribution: </a:t>
            </a:r>
          </a:p>
        </p:txBody>
      </p:sp>
      <p:sp>
        <p:nvSpPr>
          <p:cNvPr id="14" name="TextBox 13">
            <a:extLst>
              <a:ext uri="{FF2B5EF4-FFF2-40B4-BE49-F238E27FC236}">
                <a16:creationId xmlns:a16="http://schemas.microsoft.com/office/drawing/2014/main" id="{BC1B28B0-BE97-8EB1-D416-E92CABBEB623}"/>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t>Text Generation – Train the Model</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3EE77F1-D9CC-1B0F-FA15-DF1D5ED53622}"/>
                  </a:ext>
                </a:extLst>
              </p:cNvPr>
              <p:cNvSpPr txBox="1"/>
              <p:nvPr/>
            </p:nvSpPr>
            <p:spPr>
              <a:xfrm>
                <a:off x="602928" y="2411027"/>
                <a:ext cx="3226869" cy="738664"/>
              </a:xfrm>
              <a:prstGeom prst="rect">
                <a:avLst/>
              </a:prstGeom>
              <a:noFill/>
            </p:spPr>
            <p:txBody>
              <a:bodyPr wrap="square">
                <a:spAutoFit/>
              </a:bodyPr>
              <a:lstStyle/>
              <a:p>
                <a:r>
                  <a:rPr lang="en-US" b="1">
                    <a:solidFill>
                      <a:schemeClr val="tx1"/>
                    </a:solidFill>
                  </a:rPr>
                  <a:t>Maximum Likelihood Training:</a:t>
                </a:r>
                <a:br>
                  <a:rPr lang="en-US"/>
                </a:br>
                <a:r>
                  <a:rPr lang="en-US"/>
                  <a:t>Trained to generate the next word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oMath>
                </a14:m>
                <a:r>
                  <a:rPr lang="en-US"/>
                  <a:t> given a set of preceding words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 </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m:t>
                        </m:r>
                      </m:e>
                      <m:sub>
                        <m:r>
                          <a:rPr lang="en-US" b="0" i="1" smtClean="0">
                            <a:latin typeface="Cambria Math" panose="02040503050406030204" pitchFamily="18" charset="0"/>
                          </a:rPr>
                          <m:t>&lt;</m:t>
                        </m:r>
                        <m:r>
                          <a:rPr lang="en-US" b="0" i="1" smtClean="0">
                            <a:latin typeface="Cambria Math" panose="02040503050406030204" pitchFamily="18" charset="0"/>
                          </a:rPr>
                          <m:t>𝑡</m:t>
                        </m:r>
                      </m:sub>
                    </m:sSub>
                  </m:oMath>
                </a14:m>
                <a:endParaRPr lang="en-US"/>
              </a:p>
            </p:txBody>
          </p:sp>
        </mc:Choice>
        <mc:Fallback xmlns="">
          <p:sp>
            <p:nvSpPr>
              <p:cNvPr id="16" name="TextBox 15">
                <a:extLst>
                  <a:ext uri="{FF2B5EF4-FFF2-40B4-BE49-F238E27FC236}">
                    <a16:creationId xmlns:a16="http://schemas.microsoft.com/office/drawing/2014/main" id="{D3EE77F1-D9CC-1B0F-FA15-DF1D5ED53622}"/>
                  </a:ext>
                </a:extLst>
              </p:cNvPr>
              <p:cNvSpPr txBox="1">
                <a:spLocks noRot="1" noChangeAspect="1" noMove="1" noResize="1" noEditPoints="1" noAdjustHandles="1" noChangeArrowheads="1" noChangeShapeType="1" noTextEdit="1"/>
              </p:cNvSpPr>
              <p:nvPr/>
            </p:nvSpPr>
            <p:spPr>
              <a:xfrm>
                <a:off x="602928" y="2411027"/>
                <a:ext cx="3226869" cy="738664"/>
              </a:xfrm>
              <a:prstGeom prst="rect">
                <a:avLst/>
              </a:prstGeom>
              <a:blipFill>
                <a:blip r:embed="rId5"/>
                <a:stretch>
                  <a:fillRect l="-567" t="-1653" b="-7438"/>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B0D7A7BD-402B-2406-4F52-E9C27EC2B42A}"/>
              </a:ext>
            </a:extLst>
          </p:cNvPr>
          <p:cNvPicPr>
            <a:picLocks noChangeAspect="1"/>
          </p:cNvPicPr>
          <p:nvPr/>
        </p:nvPicPr>
        <p:blipFill>
          <a:blip r:embed="rId6"/>
          <a:stretch>
            <a:fillRect/>
          </a:stretch>
        </p:blipFill>
        <p:spPr>
          <a:xfrm>
            <a:off x="4137059" y="2264867"/>
            <a:ext cx="2963143" cy="962754"/>
          </a:xfrm>
          <a:prstGeom prst="rect">
            <a:avLst/>
          </a:prstGeom>
        </p:spPr>
      </p:pic>
    </p:spTree>
    <p:extLst>
      <p:ext uri="{BB962C8B-B14F-4D97-AF65-F5344CB8AC3E}">
        <p14:creationId xmlns:p14="http://schemas.microsoft.com/office/powerpoint/2010/main" val="3695832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4A326-FDCD-8B54-1433-D1839E9B9F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6598BD-8294-E6F7-F3A0-231513CA148A}"/>
              </a:ext>
            </a:extLst>
          </p:cNvPr>
          <p:cNvSpPr txBox="1"/>
          <p:nvPr/>
        </p:nvSpPr>
        <p:spPr>
          <a:xfrm>
            <a:off x="562465" y="1020937"/>
            <a:ext cx="3850103" cy="1323439"/>
          </a:xfrm>
          <a:prstGeom prst="rect">
            <a:avLst/>
          </a:prstGeom>
          <a:solidFill>
            <a:srgbClr val="E7F4FF"/>
          </a:solidFill>
        </p:spPr>
        <p:txBody>
          <a:bodyPr wrap="square" lIns="91440" tIns="45720" rIns="91440" bIns="45720" anchor="t">
            <a:spAutoFit/>
          </a:bodyPr>
          <a:lstStyle/>
          <a:p>
            <a:pPr algn="l">
              <a:lnSpc>
                <a:spcPts val="1600"/>
              </a:lnSpc>
              <a:buNone/>
            </a:pPr>
            <a:r>
              <a:rPr lang="en-US" b="1" i="0">
                <a:solidFill>
                  <a:srgbClr val="242424"/>
                </a:solidFill>
                <a:effectLst/>
                <a:latin typeface="sohne"/>
              </a:rPr>
              <a:t>Encoder-Only Models</a:t>
            </a:r>
          </a:p>
          <a:p>
            <a:pPr algn="l">
              <a:lnSpc>
                <a:spcPts val="1600"/>
              </a:lnSpc>
              <a:buFont typeface="Arial" panose="020B0604020202020204" pitchFamily="34" charset="0"/>
              <a:buChar char="•"/>
            </a:pPr>
            <a:r>
              <a:rPr lang="en-US" b="0" i="0">
                <a:solidFill>
                  <a:srgbClr val="242424"/>
                </a:solidFill>
                <a:effectLst/>
                <a:latin typeface="source-serif-pro"/>
              </a:rPr>
              <a:t>Example: BERT-based models</a:t>
            </a:r>
          </a:p>
          <a:p>
            <a:pPr algn="l">
              <a:lnSpc>
                <a:spcPts val="1600"/>
              </a:lnSpc>
              <a:buFont typeface="Arial" panose="020B0604020202020204" pitchFamily="34" charset="0"/>
              <a:buChar char="•"/>
            </a:pPr>
            <a:r>
              <a:rPr lang="en-US" b="0" i="0">
                <a:solidFill>
                  <a:srgbClr val="242424"/>
                </a:solidFill>
                <a:effectLst/>
                <a:latin typeface="source-serif-pro"/>
              </a:rPr>
              <a:t>Use Case: Tasks that require a deep understanding of input data. These models are effective for classification, sentiment analysis, and information extraction.</a:t>
            </a:r>
          </a:p>
        </p:txBody>
      </p:sp>
      <p:sp>
        <p:nvSpPr>
          <p:cNvPr id="4" name="TextBox 3">
            <a:extLst>
              <a:ext uri="{FF2B5EF4-FFF2-40B4-BE49-F238E27FC236}">
                <a16:creationId xmlns:a16="http://schemas.microsoft.com/office/drawing/2014/main" id="{B18B1624-7A89-11A2-21C1-88688FF5A21B}"/>
              </a:ext>
            </a:extLst>
          </p:cNvPr>
          <p:cNvSpPr txBox="1"/>
          <p:nvPr/>
        </p:nvSpPr>
        <p:spPr>
          <a:xfrm>
            <a:off x="562468" y="280599"/>
            <a:ext cx="7068263" cy="578342"/>
          </a:xfrm>
          <a:prstGeom prst="rect">
            <a:avLst/>
          </a:prstGeom>
          <a:noFill/>
          <a:ln>
            <a:noFill/>
          </a:ln>
        </p:spPr>
        <p:txBody>
          <a:bodyPr spcFirstLastPara="1" wrap="square" lIns="34275" tIns="45700" rIns="34275" bIns="45700" anchor="b" anchorCtr="0">
            <a:noAutofit/>
          </a:bodyPr>
          <a:lstStyle>
            <a:defPPr marR="0" lvl="0" algn="l" rtl="0">
              <a:lnSpc>
                <a:spcPct val="100000"/>
              </a:lnSpc>
              <a:spcBef>
                <a:spcPts val="0"/>
              </a:spcBef>
              <a:spcAft>
                <a:spcPts val="0"/>
              </a:spcAft>
            </a:defPPr>
            <a:lvl1pPr marL="0" indent="0">
              <a:lnSpc>
                <a:spcPct val="90000"/>
              </a:lnSpc>
              <a:buClr>
                <a:schemeClr val="dk2"/>
              </a:buClr>
              <a:buSzPts val="2250"/>
              <a:buNone/>
              <a:defRPr sz="2800">
                <a:solidFill>
                  <a:schemeClr val="tx1"/>
                </a:solidFill>
              </a:defRPr>
            </a:lvl1pPr>
          </a:lstStyle>
          <a:p>
            <a:r>
              <a:rPr lang="en-US" altLang="zh-CN"/>
              <a:t>Language Model Architectures</a:t>
            </a:r>
            <a:endParaRPr lang="en-US"/>
          </a:p>
        </p:txBody>
      </p:sp>
      <p:sp>
        <p:nvSpPr>
          <p:cNvPr id="6" name="TextBox 5">
            <a:extLst>
              <a:ext uri="{FF2B5EF4-FFF2-40B4-BE49-F238E27FC236}">
                <a16:creationId xmlns:a16="http://schemas.microsoft.com/office/drawing/2014/main" id="{C4992D4D-88CA-ED57-0790-874180ED6E4C}"/>
              </a:ext>
            </a:extLst>
          </p:cNvPr>
          <p:cNvSpPr txBox="1"/>
          <p:nvPr/>
        </p:nvSpPr>
        <p:spPr>
          <a:xfrm>
            <a:off x="4731431" y="2754745"/>
            <a:ext cx="3850103" cy="1528624"/>
          </a:xfrm>
          <a:prstGeom prst="rect">
            <a:avLst/>
          </a:prstGeom>
          <a:solidFill>
            <a:srgbClr val="F7DDE6"/>
          </a:solidFill>
        </p:spPr>
        <p:txBody>
          <a:bodyPr wrap="square" lIns="91440" tIns="45720" rIns="91440" bIns="45720" anchor="t">
            <a:spAutoFit/>
          </a:bodyPr>
          <a:lstStyle/>
          <a:p>
            <a:pPr algn="l">
              <a:lnSpc>
                <a:spcPts val="1600"/>
              </a:lnSpc>
              <a:buNone/>
            </a:pPr>
            <a:r>
              <a:rPr lang="en-US" b="1" i="0">
                <a:solidFill>
                  <a:srgbClr val="242424"/>
                </a:solidFill>
                <a:effectLst/>
                <a:latin typeface="sohne"/>
              </a:rPr>
              <a:t>Decoder-Only Models</a:t>
            </a:r>
          </a:p>
          <a:p>
            <a:pPr algn="l">
              <a:lnSpc>
                <a:spcPts val="1600"/>
              </a:lnSpc>
              <a:buFont typeface="Arial" panose="020B0604020202020204" pitchFamily="34" charset="0"/>
              <a:buChar char="•"/>
            </a:pPr>
            <a:r>
              <a:rPr lang="en-US" b="0" i="0">
                <a:solidFill>
                  <a:srgbClr val="242424"/>
                </a:solidFill>
                <a:effectLst/>
                <a:latin typeface="source-serif-pro"/>
              </a:rPr>
              <a:t>Example: GPT, </a:t>
            </a:r>
            <a:r>
              <a:rPr lang="en-US" b="0" i="0" err="1">
                <a:solidFill>
                  <a:srgbClr val="242424"/>
                </a:solidFill>
                <a:effectLst/>
                <a:latin typeface="source-serif-pro"/>
              </a:rPr>
              <a:t>XLNet</a:t>
            </a:r>
          </a:p>
          <a:p>
            <a:pPr algn="l">
              <a:lnSpc>
                <a:spcPts val="1600"/>
              </a:lnSpc>
              <a:buFont typeface="Arial" panose="020B0604020202020204" pitchFamily="34" charset="0"/>
              <a:buChar char="•"/>
            </a:pPr>
            <a:r>
              <a:rPr lang="en-US" b="0" i="0">
                <a:solidFill>
                  <a:srgbClr val="242424"/>
                </a:solidFill>
                <a:effectLst/>
                <a:latin typeface="source-serif-pro"/>
              </a:rPr>
              <a:t>Use Case: </a:t>
            </a:r>
            <a:r>
              <a:rPr lang="en-US" b="1" i="0">
                <a:solidFill>
                  <a:schemeClr val="tx1"/>
                </a:solidFill>
                <a:effectLst/>
                <a:latin typeface="source-serif-pro"/>
              </a:rPr>
              <a:t>Generative tasks</a:t>
            </a:r>
            <a:r>
              <a:rPr lang="en-US" b="0" i="0">
                <a:solidFill>
                  <a:srgbClr val="242424"/>
                </a:solidFill>
                <a:effectLst/>
                <a:latin typeface="source-serif-pro"/>
              </a:rPr>
              <a:t>. They work by predicting subsequent text based on the provided context in an auto-regressive fashion. Their primary function is output generation without a separate encoding phase.</a:t>
            </a:r>
          </a:p>
        </p:txBody>
      </p:sp>
      <p:sp>
        <p:nvSpPr>
          <p:cNvPr id="8" name="TextBox 7">
            <a:extLst>
              <a:ext uri="{FF2B5EF4-FFF2-40B4-BE49-F238E27FC236}">
                <a16:creationId xmlns:a16="http://schemas.microsoft.com/office/drawing/2014/main" id="{4F4C0F70-4250-C9DF-DD87-B3120B91C68D}"/>
              </a:ext>
            </a:extLst>
          </p:cNvPr>
          <p:cNvSpPr txBox="1"/>
          <p:nvPr/>
        </p:nvSpPr>
        <p:spPr>
          <a:xfrm>
            <a:off x="562466" y="2959929"/>
            <a:ext cx="3850103" cy="1323439"/>
          </a:xfrm>
          <a:prstGeom prst="rect">
            <a:avLst/>
          </a:prstGeom>
          <a:solidFill>
            <a:srgbClr val="E6F2F1"/>
          </a:solidFill>
        </p:spPr>
        <p:txBody>
          <a:bodyPr wrap="square" lIns="91440" tIns="45720" rIns="91440" bIns="45720" anchor="t">
            <a:spAutoFit/>
          </a:bodyPr>
          <a:lstStyle/>
          <a:p>
            <a:pPr algn="l">
              <a:lnSpc>
                <a:spcPts val="1600"/>
              </a:lnSpc>
              <a:buNone/>
            </a:pPr>
            <a:r>
              <a:rPr lang="en-US" b="1" i="0">
                <a:solidFill>
                  <a:srgbClr val="242424"/>
                </a:solidFill>
                <a:effectLst/>
                <a:latin typeface="sohne"/>
              </a:rPr>
              <a:t>Encoder-Decoder Models</a:t>
            </a:r>
          </a:p>
          <a:p>
            <a:pPr algn="l">
              <a:lnSpc>
                <a:spcPts val="1600"/>
              </a:lnSpc>
              <a:buFont typeface="Arial" panose="020B0604020202020204" pitchFamily="34" charset="0"/>
              <a:buChar char="•"/>
            </a:pPr>
            <a:r>
              <a:rPr lang="en-US" b="0" i="0">
                <a:solidFill>
                  <a:srgbClr val="242424"/>
                </a:solidFill>
                <a:effectLst/>
                <a:latin typeface="source-serif-pro"/>
              </a:rPr>
              <a:t>Example: T5, BART</a:t>
            </a:r>
            <a:endParaRPr lang="en-US">
              <a:solidFill>
                <a:srgbClr val="242424"/>
              </a:solidFill>
              <a:latin typeface="source-serif-pro"/>
            </a:endParaRPr>
          </a:p>
          <a:p>
            <a:pPr algn="l">
              <a:lnSpc>
                <a:spcPts val="1600"/>
              </a:lnSpc>
              <a:buFont typeface="Arial" panose="020B0604020202020204" pitchFamily="34" charset="0"/>
              <a:buChar char="•"/>
            </a:pPr>
            <a:r>
              <a:rPr lang="en-US" b="0" i="0">
                <a:solidFill>
                  <a:srgbClr val="242424"/>
                </a:solidFill>
                <a:effectLst/>
                <a:latin typeface="source-serif-pro"/>
              </a:rPr>
              <a:t>Use Case: Tasks that involve both understanding and generating data. They first encode an input sequence into an internal representation and then decode </a:t>
            </a:r>
            <a:r>
              <a:rPr lang="en-US" altLang="zh-CN" b="0" i="0">
                <a:solidFill>
                  <a:srgbClr val="242424"/>
                </a:solidFill>
                <a:effectLst/>
                <a:latin typeface="source-serif-pro"/>
              </a:rPr>
              <a:t>it </a:t>
            </a:r>
            <a:r>
              <a:rPr lang="en-US" b="0" i="0">
                <a:solidFill>
                  <a:srgbClr val="242424"/>
                </a:solidFill>
                <a:effectLst/>
                <a:latin typeface="source-serif-pro"/>
              </a:rPr>
              <a:t>into an output sequence.</a:t>
            </a:r>
          </a:p>
        </p:txBody>
      </p:sp>
      <p:sp>
        <p:nvSpPr>
          <p:cNvPr id="10" name="TextBox 9">
            <a:extLst>
              <a:ext uri="{FF2B5EF4-FFF2-40B4-BE49-F238E27FC236}">
                <a16:creationId xmlns:a16="http://schemas.microsoft.com/office/drawing/2014/main" id="{33F771AC-5029-E419-C553-EC80AF5933E7}"/>
              </a:ext>
            </a:extLst>
          </p:cNvPr>
          <p:cNvSpPr txBox="1"/>
          <p:nvPr/>
        </p:nvSpPr>
        <p:spPr>
          <a:xfrm>
            <a:off x="0" y="4862901"/>
            <a:ext cx="4581624" cy="230832"/>
          </a:xfrm>
          <a:prstGeom prst="rect">
            <a:avLst/>
          </a:prstGeom>
          <a:noFill/>
        </p:spPr>
        <p:txBody>
          <a:bodyPr wrap="square">
            <a:spAutoFit/>
          </a:bodyPr>
          <a:lstStyle/>
          <a:p>
            <a:r>
              <a:rPr lang="en-US" sz="900" i="1"/>
              <a:t>https://medium.com/@yumo-bai/why-are-most-llms-decoder-only-590c903e4789</a:t>
            </a:r>
          </a:p>
        </p:txBody>
      </p:sp>
      <p:sp>
        <p:nvSpPr>
          <p:cNvPr id="11" name="Speech Bubble: Rectangle with Corners Rounded 10">
            <a:extLst>
              <a:ext uri="{FF2B5EF4-FFF2-40B4-BE49-F238E27FC236}">
                <a16:creationId xmlns:a16="http://schemas.microsoft.com/office/drawing/2014/main" id="{01B50A09-E32A-CAD8-EBDB-F72C46B51BE7}"/>
              </a:ext>
            </a:extLst>
          </p:cNvPr>
          <p:cNvSpPr/>
          <p:nvPr/>
        </p:nvSpPr>
        <p:spPr>
          <a:xfrm>
            <a:off x="4985886" y="1196928"/>
            <a:ext cx="3739415" cy="1381826"/>
          </a:xfrm>
          <a:prstGeom prst="wedgeRoundRectCallout">
            <a:avLst>
              <a:gd name="adj1" fmla="val 10628"/>
              <a:gd name="adj2" fmla="val 6889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50000"/>
              </a:lnSpc>
              <a:spcBef>
                <a:spcPct val="0"/>
              </a:spcBef>
              <a:spcAft>
                <a:spcPct val="0"/>
              </a:spcAft>
              <a:buClrTx/>
            </a:pPr>
            <a:r>
              <a:rPr lang="en-US" altLang="zh-CN" dirty="0"/>
              <a:t>Large Language Model is “Large”:</a:t>
            </a:r>
            <a:endParaRPr lang="en-US" altLang="en-US" dirty="0">
              <a:solidFill>
                <a:schemeClr val="bg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bg1"/>
                </a:solidFill>
                <a:latin typeface="Arial" panose="020B0604020202020204" pitchFamily="34" charset="0"/>
              </a:rPr>
              <a:t>  Trained on massive corpora of text data</a:t>
            </a:r>
          </a:p>
          <a:p>
            <a:pPr lvl="0" eaLnBrk="0" fontAlgn="base" hangingPunct="0">
              <a:spcBef>
                <a:spcPct val="0"/>
              </a:spcBef>
              <a:spcAft>
                <a:spcPct val="0"/>
              </a:spcAft>
              <a:buClrTx/>
              <a:buFontTx/>
              <a:buChar char="•"/>
            </a:pPr>
            <a:r>
              <a:rPr lang="en-US" altLang="en-US" dirty="0">
                <a:solidFill>
                  <a:schemeClr val="bg1"/>
                </a:solidFill>
                <a:latin typeface="Arial" panose="020B0604020202020204" pitchFamily="34" charset="0"/>
              </a:rPr>
              <a:t>  Large number of parameters </a:t>
            </a:r>
            <a:br>
              <a:rPr lang="en-US" altLang="en-US" dirty="0">
                <a:solidFill>
                  <a:schemeClr val="bg1"/>
                </a:solidFill>
                <a:latin typeface="Arial" panose="020B0604020202020204" pitchFamily="34" charset="0"/>
              </a:rPr>
            </a:br>
            <a:r>
              <a:rPr lang="en-US" altLang="en-US" dirty="0">
                <a:solidFill>
                  <a:schemeClr val="bg1"/>
                </a:solidFill>
                <a:latin typeface="Arial" panose="020B0604020202020204" pitchFamily="34" charset="0"/>
              </a:rPr>
              <a:t>(often billions or even trillions)</a:t>
            </a:r>
          </a:p>
          <a:p>
            <a:endParaRPr lang="en-US" dirty="0"/>
          </a:p>
        </p:txBody>
      </p:sp>
    </p:spTree>
    <p:extLst>
      <p:ext uri="{BB962C8B-B14F-4D97-AF65-F5344CB8AC3E}">
        <p14:creationId xmlns:p14="http://schemas.microsoft.com/office/powerpoint/2010/main" val="63731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5AB06-FC9E-CDC1-AFBD-E16EA3812AFD}"/>
            </a:ext>
          </a:extLst>
        </p:cNvPr>
        <p:cNvGrpSpPr/>
        <p:nvPr/>
      </p:nvGrpSpPr>
      <p:grpSpPr>
        <a:xfrm>
          <a:off x="0" y="0"/>
          <a:ext cx="0" cy="0"/>
          <a:chOff x="0" y="0"/>
          <a:chExt cx="0" cy="0"/>
        </a:xfrm>
      </p:grpSpPr>
      <p:sp>
        <p:nvSpPr>
          <p:cNvPr id="5" name="Google Shape;112;p17">
            <a:extLst>
              <a:ext uri="{FF2B5EF4-FFF2-40B4-BE49-F238E27FC236}">
                <a16:creationId xmlns:a16="http://schemas.microsoft.com/office/drawing/2014/main" id="{6676492C-380C-59E7-A15D-D26E7C3A48B1}"/>
              </a:ext>
            </a:extLst>
          </p:cNvPr>
          <p:cNvSpPr/>
          <p:nvPr/>
        </p:nvSpPr>
        <p:spPr>
          <a:xfrm>
            <a:off x="610305" y="524908"/>
            <a:ext cx="7707785" cy="303600"/>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lang="en-US" sz="2800" err="1">
                <a:solidFill>
                  <a:schemeClr val="tx1"/>
                </a:solidFill>
              </a:rPr>
              <a:t>LLaMA</a:t>
            </a:r>
            <a:endParaRPr lang="en-US" sz="2800">
              <a:solidFill>
                <a:schemeClr val="tx1"/>
              </a:solidFill>
            </a:endParaRPr>
          </a:p>
        </p:txBody>
      </p:sp>
      <p:sp>
        <p:nvSpPr>
          <p:cNvPr id="3" name="TextBox 2">
            <a:extLst>
              <a:ext uri="{FF2B5EF4-FFF2-40B4-BE49-F238E27FC236}">
                <a16:creationId xmlns:a16="http://schemas.microsoft.com/office/drawing/2014/main" id="{D54CC4B5-4EF9-E523-79E5-77809D538E3D}"/>
              </a:ext>
            </a:extLst>
          </p:cNvPr>
          <p:cNvSpPr txBox="1"/>
          <p:nvPr/>
        </p:nvSpPr>
        <p:spPr>
          <a:xfrm>
            <a:off x="495701" y="4798872"/>
            <a:ext cx="4572000" cy="230832"/>
          </a:xfrm>
          <a:prstGeom prst="rect">
            <a:avLst/>
          </a:prstGeom>
          <a:noFill/>
        </p:spPr>
        <p:txBody>
          <a:bodyPr wrap="square" lIns="91440" tIns="45720" rIns="91440" bIns="45720" anchor="t">
            <a:spAutoFit/>
          </a:bodyPr>
          <a:lstStyle/>
          <a:p>
            <a:r>
              <a:rPr lang="en-US" sz="900" i="1"/>
              <a:t>https://medium.com/@-0f7141c83d9e</a:t>
            </a:r>
          </a:p>
        </p:txBody>
      </p:sp>
      <p:pic>
        <p:nvPicPr>
          <p:cNvPr id="1026" name="Picture 2">
            <a:extLst>
              <a:ext uri="{FF2B5EF4-FFF2-40B4-BE49-F238E27FC236}">
                <a16:creationId xmlns:a16="http://schemas.microsoft.com/office/drawing/2014/main" id="{D4919CEB-D3DA-D1A9-5102-4A0B54CC6C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410"/>
          <a:stretch>
            <a:fillRect/>
          </a:stretch>
        </p:blipFill>
        <p:spPr bwMode="auto">
          <a:xfrm>
            <a:off x="5426220" y="0"/>
            <a:ext cx="3494495" cy="479887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C4BF86B-7262-2C69-8466-2E68319FC0CA}"/>
              </a:ext>
            </a:extLst>
          </p:cNvPr>
          <p:cNvSpPr/>
          <p:nvPr/>
        </p:nvSpPr>
        <p:spPr>
          <a:xfrm>
            <a:off x="5563402" y="4798872"/>
            <a:ext cx="2844266" cy="23083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Input Block</a:t>
            </a:r>
            <a:endParaRPr lang="en-US"/>
          </a:p>
        </p:txBody>
      </p:sp>
      <p:pic>
        <p:nvPicPr>
          <p:cNvPr id="1028" name="Picture 4">
            <a:extLst>
              <a:ext uri="{FF2B5EF4-FFF2-40B4-BE49-F238E27FC236}">
                <a16:creationId xmlns:a16="http://schemas.microsoft.com/office/drawing/2014/main" id="{76007289-8D84-770F-42F0-73952A09CE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01" y="1029743"/>
            <a:ext cx="4348530" cy="3444801"/>
          </a:xfrm>
          <a:prstGeom prst="rect">
            <a:avLst/>
          </a:prstGeom>
          <a:noFill/>
          <a:ln>
            <a:solidFill>
              <a:schemeClr val="tx1">
                <a:lumMod val="60000"/>
                <a:lumOff val="40000"/>
              </a:schemeClr>
            </a:solidFill>
          </a:ln>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1558110-43F3-F9E6-BD28-D08CFDC0EFF4}"/>
              </a:ext>
            </a:extLst>
          </p:cNvPr>
          <p:cNvCxnSpPr>
            <a:cxnSpLocks/>
          </p:cNvCxnSpPr>
          <p:nvPr/>
        </p:nvCxnSpPr>
        <p:spPr>
          <a:xfrm>
            <a:off x="5067701" y="202131"/>
            <a:ext cx="0" cy="4037797"/>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sp>
        <p:nvSpPr>
          <p:cNvPr id="11" name="Arrow: Right 10">
            <a:extLst>
              <a:ext uri="{FF2B5EF4-FFF2-40B4-BE49-F238E27FC236}">
                <a16:creationId xmlns:a16="http://schemas.microsoft.com/office/drawing/2014/main" id="{BEF235D6-0CB1-3C3C-C9DF-CCF7F7B1FB05}"/>
              </a:ext>
            </a:extLst>
          </p:cNvPr>
          <p:cNvSpPr/>
          <p:nvPr/>
        </p:nvSpPr>
        <p:spPr>
          <a:xfrm rot="1194880">
            <a:off x="4437516" y="4434797"/>
            <a:ext cx="1248755" cy="488790"/>
          </a:xfrm>
          <a:prstGeom prst="rightArrow">
            <a:avLst/>
          </a:prstGeom>
          <a:solidFill>
            <a:schemeClr val="tx1">
              <a:lumMod val="60000"/>
              <a:lumOff val="40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9844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2;p17">
            <a:extLst>
              <a:ext uri="{FF2B5EF4-FFF2-40B4-BE49-F238E27FC236}">
                <a16:creationId xmlns:a16="http://schemas.microsoft.com/office/drawing/2014/main" id="{884CA639-80FA-5D6B-3C5D-94005AE12C51}"/>
              </a:ext>
            </a:extLst>
          </p:cNvPr>
          <p:cNvSpPr/>
          <p:nvPr/>
        </p:nvSpPr>
        <p:spPr>
          <a:xfrm>
            <a:off x="610305" y="524908"/>
            <a:ext cx="7707785" cy="303600"/>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lang="en-US" sz="2800">
                <a:solidFill>
                  <a:schemeClr val="tx1"/>
                </a:solidFill>
              </a:rPr>
              <a:t>DeepSeek</a:t>
            </a:r>
          </a:p>
        </p:txBody>
      </p:sp>
      <p:pic>
        <p:nvPicPr>
          <p:cNvPr id="2052" name="Picture 4">
            <a:extLst>
              <a:ext uri="{FF2B5EF4-FFF2-40B4-BE49-F238E27FC236}">
                <a16:creationId xmlns:a16="http://schemas.microsoft.com/office/drawing/2014/main" id="{36EB2079-2034-7B95-4FD3-E1111BA61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577" y="248652"/>
            <a:ext cx="5106471" cy="44392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2566843-EFF5-32D7-F1A1-9C3975EE1A55}"/>
              </a:ext>
            </a:extLst>
          </p:cNvPr>
          <p:cNvSpPr txBox="1"/>
          <p:nvPr/>
        </p:nvSpPr>
        <p:spPr>
          <a:xfrm>
            <a:off x="500514" y="4822762"/>
            <a:ext cx="4572000" cy="230832"/>
          </a:xfrm>
          <a:prstGeom prst="rect">
            <a:avLst/>
          </a:prstGeom>
          <a:noFill/>
        </p:spPr>
        <p:txBody>
          <a:bodyPr wrap="square">
            <a:spAutoFit/>
          </a:bodyPr>
          <a:lstStyle/>
          <a:p>
            <a:r>
              <a:rPr lang="en-US" sz="900" i="1"/>
              <a:t>https://medium.com/@YanAIx/deepseek-v3-architecture-and-design-a3bafb9b2df6</a:t>
            </a:r>
          </a:p>
        </p:txBody>
      </p:sp>
      <p:sp>
        <p:nvSpPr>
          <p:cNvPr id="4" name="object 3">
            <a:extLst>
              <a:ext uri="{FF2B5EF4-FFF2-40B4-BE49-F238E27FC236}">
                <a16:creationId xmlns:a16="http://schemas.microsoft.com/office/drawing/2014/main" id="{82195088-8B4E-C5FA-FFA2-1647EFE97B3B}"/>
              </a:ext>
            </a:extLst>
          </p:cNvPr>
          <p:cNvSpPr txBox="1"/>
          <p:nvPr/>
        </p:nvSpPr>
        <p:spPr>
          <a:xfrm>
            <a:off x="377641" y="991377"/>
            <a:ext cx="3246092" cy="3696493"/>
          </a:xfrm>
          <a:prstGeom prst="rect">
            <a:avLst/>
          </a:prstGeom>
          <a:solidFill>
            <a:schemeClr val="bg1">
              <a:lumMod val="95000"/>
            </a:schemeClr>
          </a:solidFill>
        </p:spPr>
        <p:txBody>
          <a:bodyPr vert="horz" wrap="square" lIns="0" tIns="7144" rIns="0" bIns="0" rtlCol="0">
            <a:spAutoFit/>
          </a:bodyPr>
          <a:lstStyle/>
          <a:p>
            <a:pPr marL="266700" marR="3810" indent="-257175">
              <a:lnSpc>
                <a:spcPts val="1800"/>
              </a:lnSpc>
              <a:spcBef>
                <a:spcPts val="56"/>
              </a:spcBef>
              <a:buClr>
                <a:srgbClr val="CC0000"/>
              </a:buClr>
              <a:buFont typeface="Times New Roman"/>
              <a:buChar char="•"/>
              <a:tabLst>
                <a:tab pos="266224" algn="l"/>
                <a:tab pos="266700" algn="l"/>
              </a:tabLst>
              <a:defRPr/>
            </a:pPr>
            <a:r>
              <a:rPr lang="en-US" b="1"/>
              <a:t>Multi-head Latent Attention (MLA) </a:t>
            </a:r>
            <a:br>
              <a:rPr lang="en-US" b="1"/>
            </a:br>
            <a:br>
              <a:rPr lang="en-US" b="1"/>
            </a:br>
            <a:r>
              <a:rPr lang="en-US"/>
              <a:t>Enhances attention mechanism for richer context understanding. Allows model to “focus” on different parts of input more flexibly</a:t>
            </a:r>
            <a:br>
              <a:rPr lang="en-US" b="1"/>
            </a:br>
            <a:endParaRPr lang="en-US" b="1"/>
          </a:p>
          <a:p>
            <a:pPr marL="266700" marR="3810" indent="-257175">
              <a:lnSpc>
                <a:spcPts val="1800"/>
              </a:lnSpc>
              <a:spcBef>
                <a:spcPts val="56"/>
              </a:spcBef>
              <a:buClr>
                <a:srgbClr val="CC0000"/>
              </a:buClr>
              <a:buFont typeface="Times New Roman"/>
              <a:buChar char="•"/>
              <a:tabLst>
                <a:tab pos="266224" algn="l"/>
                <a:tab pos="266700" algn="l"/>
              </a:tabLst>
              <a:defRPr/>
            </a:pPr>
            <a:r>
              <a:rPr lang="en-US" b="1" err="1">
                <a:solidFill>
                  <a:schemeClr val="tx1"/>
                </a:solidFill>
              </a:rPr>
              <a:t>DeepSeekMoE</a:t>
            </a:r>
            <a:r>
              <a:rPr lang="en-US" b="1">
                <a:solidFill>
                  <a:schemeClr val="tx1"/>
                </a:solidFill>
              </a:rPr>
              <a:t> (Mixture of Experts)</a:t>
            </a:r>
            <a:br>
              <a:rPr lang="en-US" b="1">
                <a:solidFill>
                  <a:schemeClr val="tx1"/>
                </a:solidFill>
              </a:rPr>
            </a:br>
            <a:br>
              <a:rPr lang="en-US" b="1">
                <a:solidFill>
                  <a:schemeClr val="tx1"/>
                </a:solidFill>
              </a:rPr>
            </a:br>
            <a:r>
              <a:rPr lang="en-US">
                <a:solidFill>
                  <a:schemeClr val="accent5">
                    <a:lumMod val="10000"/>
                  </a:schemeClr>
                </a:solidFill>
              </a:rPr>
              <a:t>Instead of one giant model, uses many smaller “experts”. Each “expert” specializes in certain types of knowledge or tasks. Model dynamically chooses which experts to use for each input</a:t>
            </a:r>
            <a:br>
              <a:rPr lang="en-US" b="1">
                <a:solidFill>
                  <a:schemeClr val="tx1"/>
                </a:solidFill>
              </a:rPr>
            </a:br>
            <a:endParaRPr lang="en-US" b="1">
              <a:solidFill>
                <a:schemeClr val="tx1"/>
              </a:solidFill>
            </a:endParaRPr>
          </a:p>
        </p:txBody>
      </p:sp>
    </p:spTree>
    <p:extLst>
      <p:ext uri="{BB962C8B-B14F-4D97-AF65-F5344CB8AC3E}">
        <p14:creationId xmlns:p14="http://schemas.microsoft.com/office/powerpoint/2010/main" val="2068209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a:extLst>
            <a:ext uri="{FF2B5EF4-FFF2-40B4-BE49-F238E27FC236}">
              <a16:creationId xmlns:a16="http://schemas.microsoft.com/office/drawing/2014/main" id="{47259D44-F936-B628-07F3-65B21F148B31}"/>
            </a:ext>
          </a:extLst>
        </p:cNvPr>
        <p:cNvGrpSpPr/>
        <p:nvPr/>
      </p:nvGrpSpPr>
      <p:grpSpPr>
        <a:xfrm>
          <a:off x="0" y="0"/>
          <a:ext cx="0" cy="0"/>
          <a:chOff x="0" y="0"/>
          <a:chExt cx="0" cy="0"/>
        </a:xfrm>
      </p:grpSpPr>
      <p:sp>
        <p:nvSpPr>
          <p:cNvPr id="107" name="Google Shape;107;p17">
            <a:extLst>
              <a:ext uri="{FF2B5EF4-FFF2-40B4-BE49-F238E27FC236}">
                <a16:creationId xmlns:a16="http://schemas.microsoft.com/office/drawing/2014/main" id="{0DF35848-B51D-61A2-6AC3-461B03F56FD3}"/>
              </a:ext>
            </a:extLst>
          </p:cNvPr>
          <p:cNvSpPr/>
          <p:nvPr/>
        </p:nvSpPr>
        <p:spPr>
          <a:xfrm>
            <a:off x="1635109" y="1553814"/>
            <a:ext cx="7509000" cy="2035800"/>
          </a:xfrm>
          <a:prstGeom prst="rect">
            <a:avLst/>
          </a:prstGeom>
          <a:noFill/>
          <a:ln>
            <a:noFill/>
          </a:ln>
        </p:spPr>
        <p:txBody>
          <a:bodyPr spcFirstLastPara="1" wrap="square" lIns="34275" tIns="45700" rIns="34275" bIns="45700" anchor="ctr" anchorCtr="0">
            <a:noAutofit/>
          </a:bodyPr>
          <a:lstStyle/>
          <a:p>
            <a:pPr marL="0" marR="0" lvl="0" indent="0" algn="ctr" rtl="0">
              <a:lnSpc>
                <a:spcPct val="100000"/>
              </a:lnSpc>
              <a:spcBef>
                <a:spcPts val="0"/>
              </a:spcBef>
              <a:spcAft>
                <a:spcPts val="0"/>
              </a:spcAft>
              <a:buClr>
                <a:schemeClr val="accent2"/>
              </a:buClr>
              <a:buSzPts val="1350"/>
              <a:buFont typeface="Calibri"/>
              <a:buNone/>
            </a:pPr>
            <a:endParaRPr sz="1350" b="0" i="0" u="none" strike="noStrike" cap="none">
              <a:solidFill>
                <a:schemeClr val="lt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3E3A9024-2280-D0BE-7F5B-2A9FF00FA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62" y="4925962"/>
            <a:ext cx="1292206" cy="11700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Google Shape;114;p17">
            <a:extLst>
              <a:ext uri="{FF2B5EF4-FFF2-40B4-BE49-F238E27FC236}">
                <a16:creationId xmlns:a16="http://schemas.microsoft.com/office/drawing/2014/main" id="{28793BF3-D30F-052A-108E-82E498EC1514}"/>
              </a:ext>
            </a:extLst>
          </p:cNvPr>
          <p:cNvCxnSpPr>
            <a:cxnSpLocks/>
          </p:cNvCxnSpPr>
          <p:nvPr/>
        </p:nvCxnSpPr>
        <p:spPr>
          <a:xfrm>
            <a:off x="0" y="4829585"/>
            <a:ext cx="1787505" cy="0"/>
          </a:xfrm>
          <a:prstGeom prst="straightConnector1">
            <a:avLst/>
          </a:prstGeom>
          <a:noFill/>
          <a:ln w="9525" cap="flat" cmpd="sng">
            <a:solidFill>
              <a:schemeClr val="lt2"/>
            </a:solidFill>
            <a:prstDash val="dash"/>
            <a:miter lim="8000"/>
            <a:headEnd type="none" w="sm" len="sm"/>
            <a:tailEnd type="none" w="sm" len="sm"/>
          </a:ln>
        </p:spPr>
      </p:cxnSp>
      <p:sp>
        <p:nvSpPr>
          <p:cNvPr id="6" name="Google Shape;98;p10">
            <a:extLst>
              <a:ext uri="{FF2B5EF4-FFF2-40B4-BE49-F238E27FC236}">
                <a16:creationId xmlns:a16="http://schemas.microsoft.com/office/drawing/2014/main" id="{7A7E6523-5A6A-359E-10BE-83C615F9F16F}"/>
              </a:ext>
            </a:extLst>
          </p:cNvPr>
          <p:cNvSpPr/>
          <p:nvPr/>
        </p:nvSpPr>
        <p:spPr>
          <a:xfrm>
            <a:off x="1937939" y="2492886"/>
            <a:ext cx="7869900" cy="824700"/>
          </a:xfrm>
          <a:prstGeom prst="rect">
            <a:avLst/>
          </a:prstGeom>
          <a:noFill/>
          <a:ln>
            <a:noFill/>
          </a:ln>
        </p:spPr>
        <p:txBody>
          <a:bodyPr spcFirstLastPara="1" wrap="square" lIns="34275" tIns="45700" rIns="34275" bIns="45700" anchor="b" anchorCtr="0">
            <a:noAutofit/>
          </a:bodyPr>
          <a:lstStyle/>
          <a:p>
            <a:pPr lvl="0">
              <a:lnSpc>
                <a:spcPct val="150000"/>
              </a:lnSpc>
              <a:buClr>
                <a:schemeClr val="lt1"/>
              </a:buClr>
              <a:buSzPts val="1313"/>
            </a:pPr>
            <a:r>
              <a:rPr lang="en-US" sz="3200">
                <a:solidFill>
                  <a:schemeClr val="lt1"/>
                </a:solidFill>
                <a:latin typeface="+mj-lt"/>
                <a:ea typeface="Crimson Text"/>
                <a:cs typeface="Crimson Text"/>
                <a:sym typeface="Crimson Text"/>
              </a:rPr>
              <a:t>LLM with Mixture-of-Expert </a:t>
            </a:r>
            <a:br>
              <a:rPr lang="en-US" sz="3200">
                <a:solidFill>
                  <a:schemeClr val="lt1"/>
                </a:solidFill>
                <a:latin typeface="+mj-lt"/>
                <a:ea typeface="Crimson Text"/>
                <a:cs typeface="Crimson Text"/>
                <a:sym typeface="Crimson Text"/>
              </a:rPr>
            </a:br>
            <a:r>
              <a:rPr lang="en-US" sz="3200">
                <a:solidFill>
                  <a:schemeClr val="lt1"/>
                </a:solidFill>
                <a:latin typeface="+mj-lt"/>
                <a:ea typeface="Crimson Text"/>
                <a:cs typeface="Crimson Text"/>
                <a:sym typeface="Crimson Text"/>
              </a:rPr>
              <a:t>– Efficient and Powerful</a:t>
            </a:r>
          </a:p>
        </p:txBody>
      </p:sp>
    </p:spTree>
    <p:extLst>
      <p:ext uri="{BB962C8B-B14F-4D97-AF65-F5344CB8AC3E}">
        <p14:creationId xmlns:p14="http://schemas.microsoft.com/office/powerpoint/2010/main" val="1762300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699" y="247325"/>
            <a:ext cx="8520600" cy="572700"/>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r>
              <a:rPr lang="en" sz="2800">
                <a:solidFill>
                  <a:schemeClr val="tx1"/>
                </a:solidFill>
              </a:rPr>
              <a:t>Mixture of Experts </a:t>
            </a:r>
            <a:r>
              <a:rPr lang="en-US" sz="2800">
                <a:solidFill>
                  <a:schemeClr val="tx1"/>
                </a:solidFill>
              </a:rPr>
              <a:t>in Deep Learning</a:t>
            </a:r>
            <a:endParaRPr sz="2800">
              <a:solidFill>
                <a:schemeClr val="tx1"/>
              </a:solidFill>
            </a:endParaRPr>
          </a:p>
        </p:txBody>
      </p:sp>
      <p:pic>
        <p:nvPicPr>
          <p:cNvPr id="63" name="Google Shape;63;p14"/>
          <p:cNvPicPr preferRelativeResize="0"/>
          <p:nvPr/>
        </p:nvPicPr>
        <p:blipFill>
          <a:blip r:embed="rId3">
            <a:alphaModFix/>
          </a:blip>
          <a:stretch>
            <a:fillRect/>
          </a:stretch>
        </p:blipFill>
        <p:spPr>
          <a:xfrm>
            <a:off x="311699" y="1017725"/>
            <a:ext cx="6689450" cy="3415875"/>
          </a:xfrm>
          <a:prstGeom prst="rect">
            <a:avLst/>
          </a:prstGeom>
          <a:noFill/>
          <a:ln>
            <a:noFill/>
          </a:ln>
        </p:spPr>
      </p:pic>
      <p:sp>
        <p:nvSpPr>
          <p:cNvPr id="64" name="Google Shape;64;p14"/>
          <p:cNvSpPr/>
          <p:nvPr/>
        </p:nvSpPr>
        <p:spPr>
          <a:xfrm>
            <a:off x="6122300" y="2367025"/>
            <a:ext cx="371100" cy="179100"/>
          </a:xfrm>
          <a:prstGeom prst="roundRect">
            <a:avLst>
              <a:gd name="adj" fmla="val 16667"/>
            </a:avLst>
          </a:prstGeom>
          <a:noFill/>
          <a:ln w="19050" cap="flat" cmpd="sng">
            <a:solidFill>
              <a:srgbClr val="801F1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5" name="Google Shape;65;p14"/>
          <p:cNvCxnSpPr>
            <a:stCxn id="64" idx="3"/>
            <a:endCxn id="66" idx="1"/>
          </p:cNvCxnSpPr>
          <p:nvPr/>
        </p:nvCxnSpPr>
        <p:spPr>
          <a:xfrm>
            <a:off x="6493400" y="2456575"/>
            <a:ext cx="507900" cy="222600"/>
          </a:xfrm>
          <a:prstGeom prst="straightConnector1">
            <a:avLst/>
          </a:prstGeom>
          <a:noFill/>
          <a:ln w="19050" cap="flat" cmpd="sng">
            <a:solidFill>
              <a:srgbClr val="801F17"/>
            </a:solidFill>
            <a:prstDash val="solid"/>
            <a:round/>
            <a:headEnd type="triangle" w="med" len="med"/>
            <a:tailEnd type="none" w="med" len="med"/>
          </a:ln>
        </p:spPr>
      </p:cxnSp>
      <p:sp>
        <p:nvSpPr>
          <p:cNvPr id="66" name="Google Shape;66;p14"/>
          <p:cNvSpPr txBox="1"/>
          <p:nvPr/>
        </p:nvSpPr>
        <p:spPr>
          <a:xfrm>
            <a:off x="7001150" y="2235925"/>
            <a:ext cx="1842600" cy="886500"/>
          </a:xfrm>
          <a:prstGeom prst="rect">
            <a:avLst/>
          </a:prstGeom>
          <a:solidFill>
            <a:srgbClr val="F3F3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rPr>
              <a:t>Router distribute tokens based on relevance score between tokens and experts</a:t>
            </a:r>
            <a:endParaRPr sz="1100">
              <a:solidFill>
                <a:schemeClr val="dk2"/>
              </a:solidFill>
            </a:endParaRPr>
          </a:p>
        </p:txBody>
      </p:sp>
      <p:cxnSp>
        <p:nvCxnSpPr>
          <p:cNvPr id="67" name="Google Shape;67;p14"/>
          <p:cNvCxnSpPr>
            <a:endCxn id="68" idx="1"/>
          </p:cNvCxnSpPr>
          <p:nvPr/>
        </p:nvCxnSpPr>
        <p:spPr>
          <a:xfrm rot="10800000" flipH="1">
            <a:off x="6237525" y="1917100"/>
            <a:ext cx="513000" cy="213300"/>
          </a:xfrm>
          <a:prstGeom prst="straightConnector1">
            <a:avLst/>
          </a:prstGeom>
          <a:noFill/>
          <a:ln w="19050" cap="flat" cmpd="sng">
            <a:solidFill>
              <a:srgbClr val="801F17"/>
            </a:solidFill>
            <a:prstDash val="solid"/>
            <a:round/>
            <a:headEnd type="triangle" w="med" len="med"/>
            <a:tailEnd type="none" w="med" len="med"/>
          </a:ln>
        </p:spPr>
      </p:cxnSp>
      <p:sp>
        <p:nvSpPr>
          <p:cNvPr id="68" name="Google Shape;68;p14"/>
          <p:cNvSpPr txBox="1"/>
          <p:nvPr/>
        </p:nvSpPr>
        <p:spPr>
          <a:xfrm>
            <a:off x="6750525" y="1742200"/>
            <a:ext cx="1668300" cy="349800"/>
          </a:xfrm>
          <a:prstGeom prst="rect">
            <a:avLst/>
          </a:prstGeom>
          <a:solidFill>
            <a:srgbClr val="F3F3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rPr>
              <a:t>Single-expert motivated</a:t>
            </a:r>
            <a:endParaRPr sz="1100">
              <a:solidFill>
                <a:schemeClr val="dk2"/>
              </a:solidFill>
            </a:endParaRPr>
          </a:p>
        </p:txBody>
      </p:sp>
      <p:cxnSp>
        <p:nvCxnSpPr>
          <p:cNvPr id="69" name="Google Shape;69;p14"/>
          <p:cNvCxnSpPr>
            <a:endCxn id="70" idx="1"/>
          </p:cNvCxnSpPr>
          <p:nvPr/>
        </p:nvCxnSpPr>
        <p:spPr>
          <a:xfrm>
            <a:off x="5791600" y="2918575"/>
            <a:ext cx="1042500" cy="851700"/>
          </a:xfrm>
          <a:prstGeom prst="straightConnector1">
            <a:avLst/>
          </a:prstGeom>
          <a:noFill/>
          <a:ln w="19050" cap="flat" cmpd="sng">
            <a:solidFill>
              <a:srgbClr val="801F17"/>
            </a:solidFill>
            <a:prstDash val="solid"/>
            <a:round/>
            <a:headEnd type="triangle" w="med" len="med"/>
            <a:tailEnd type="none" w="med" len="med"/>
          </a:ln>
        </p:spPr>
      </p:cxnSp>
      <p:sp>
        <p:nvSpPr>
          <p:cNvPr id="70" name="Google Shape;70;p14"/>
          <p:cNvSpPr txBox="1"/>
          <p:nvPr/>
        </p:nvSpPr>
        <p:spPr>
          <a:xfrm>
            <a:off x="6834100" y="3449575"/>
            <a:ext cx="1722000" cy="641400"/>
          </a:xfrm>
          <a:prstGeom prst="rect">
            <a:avLst/>
          </a:prstGeom>
          <a:solidFill>
            <a:srgbClr val="F3F3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rPr>
              <a:t>Gating network choose which expert is suitable based on input</a:t>
            </a:r>
            <a:endParaRPr sz="1100">
              <a:solidFill>
                <a:schemeClr val="dk2"/>
              </a:solidFill>
            </a:endParaRPr>
          </a:p>
        </p:txBody>
      </p:sp>
      <p:sp>
        <p:nvSpPr>
          <p:cNvPr id="71" name="Google Shape;71;p14"/>
          <p:cNvSpPr txBox="1"/>
          <p:nvPr/>
        </p:nvSpPr>
        <p:spPr>
          <a:xfrm>
            <a:off x="89900" y="4437925"/>
            <a:ext cx="7956600" cy="618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 sz="1000" baseline="30000">
                <a:solidFill>
                  <a:srgbClr val="757575"/>
                </a:solidFill>
              </a:rPr>
              <a:t>1 </a:t>
            </a:r>
            <a:r>
              <a:rPr lang="en" sz="1000">
                <a:solidFill>
                  <a:srgbClr val="757575"/>
                </a:solidFill>
              </a:rPr>
              <a:t>Fedus, William, Barret Zoph, and Noam Shazeer. "Switch transformers: Scaling to trillion parameter models with simple and efficient sparsity." Journal of Machine Learning Research 23.120 (2022): 1-39.</a:t>
            </a:r>
            <a:endParaRPr sz="1000">
              <a:solidFill>
                <a:srgbClr val="757575"/>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2825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solidFill>
                  <a:schemeClr val="tx1"/>
                </a:solidFill>
              </a:rPr>
              <a:t>Evolution</a:t>
            </a:r>
            <a:endParaRPr sz="2500">
              <a:solidFill>
                <a:schemeClr val="tx1"/>
              </a:solidFill>
            </a:endParaRPr>
          </a:p>
        </p:txBody>
      </p:sp>
      <p:sp>
        <p:nvSpPr>
          <p:cNvPr id="87" name="Google Shape;87;p16"/>
          <p:cNvSpPr/>
          <p:nvPr/>
        </p:nvSpPr>
        <p:spPr>
          <a:xfrm>
            <a:off x="5632317" y="1189775"/>
            <a:ext cx="3305700" cy="669000"/>
          </a:xfrm>
          <a:prstGeom prst="chevron">
            <a:avLst>
              <a:gd name="adj" fmla="val 50000"/>
            </a:avLst>
          </a:prstGeom>
          <a:solidFill>
            <a:srgbClr val="D8372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MoE with Instruction</a:t>
            </a:r>
            <a:endParaRPr>
              <a:solidFill>
                <a:srgbClr val="FFFFFF"/>
              </a:solidFill>
              <a:latin typeface="Roboto"/>
              <a:ea typeface="Roboto"/>
              <a:cs typeface="Roboto"/>
              <a:sym typeface="Roboto"/>
            </a:endParaRPr>
          </a:p>
        </p:txBody>
      </p:sp>
      <p:grpSp>
        <p:nvGrpSpPr>
          <p:cNvPr id="88" name="Google Shape;88;p16"/>
          <p:cNvGrpSpPr/>
          <p:nvPr/>
        </p:nvGrpSpPr>
        <p:grpSpPr>
          <a:xfrm>
            <a:off x="0" y="1189989"/>
            <a:ext cx="3546900" cy="2995236"/>
            <a:chOff x="0" y="1189989"/>
            <a:chExt cx="3546900" cy="2995236"/>
          </a:xfrm>
        </p:grpSpPr>
        <p:sp>
          <p:nvSpPr>
            <p:cNvPr id="89" name="Google Shape;89;p16"/>
            <p:cNvSpPr/>
            <p:nvPr/>
          </p:nvSpPr>
          <p:spPr>
            <a:xfrm>
              <a:off x="0" y="1189989"/>
              <a:ext cx="3546900" cy="669000"/>
            </a:xfrm>
            <a:prstGeom prst="homePlate">
              <a:avLst>
                <a:gd name="adj" fmla="val 50000"/>
              </a:avLst>
            </a:prstGeom>
            <a:solidFill>
              <a:srgbClr val="801F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Sparsely-Gated MoE</a:t>
              </a:r>
              <a:endParaRPr>
                <a:solidFill>
                  <a:srgbClr val="FFFFFF"/>
                </a:solidFill>
                <a:latin typeface="Roboto"/>
                <a:ea typeface="Roboto"/>
                <a:cs typeface="Roboto"/>
                <a:sym typeface="Roboto"/>
              </a:endParaRPr>
            </a:p>
          </p:txBody>
        </p:sp>
        <p:sp>
          <p:nvSpPr>
            <p:cNvPr id="90" name="Google Shape;90;p16"/>
            <p:cNvSpPr txBox="1"/>
            <p:nvPr/>
          </p:nvSpPr>
          <p:spPr>
            <a:xfrm>
              <a:off x="311700" y="1916025"/>
              <a:ext cx="2238094" cy="2269200"/>
            </a:xfrm>
            <a:prstGeom prst="rect">
              <a:avLst/>
            </a:prstGeom>
            <a:noFill/>
            <a:ln>
              <a:noFill/>
            </a:ln>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SzPts val="1200"/>
                <a:buFont typeface="Roboto"/>
                <a:buChar char="-"/>
              </a:pPr>
              <a:r>
                <a:rPr lang="en" sz="1200">
                  <a:latin typeface="Roboto"/>
                  <a:ea typeface="Roboto"/>
                  <a:cs typeface="Roboto"/>
                  <a:sym typeface="Roboto"/>
                </a:rPr>
                <a:t>Hierarchical </a:t>
              </a:r>
              <a:r>
                <a:rPr lang="en" sz="1200" err="1">
                  <a:latin typeface="Roboto"/>
                  <a:ea typeface="Roboto"/>
                  <a:cs typeface="Roboto"/>
                  <a:sym typeface="Roboto"/>
                </a:rPr>
                <a:t>MoE</a:t>
              </a:r>
              <a:endParaRPr sz="1200" err="1">
                <a:latin typeface="Roboto"/>
                <a:ea typeface="Roboto"/>
                <a:cs typeface="Roboto"/>
                <a:sym typeface="Roboto"/>
              </a:endParaRPr>
            </a:p>
            <a:p>
              <a:pPr marL="685800" lvl="1" indent="-304800" algn="l" rtl="0">
                <a:lnSpc>
                  <a:spcPct val="115000"/>
                </a:lnSpc>
                <a:spcBef>
                  <a:spcPts val="0"/>
                </a:spcBef>
                <a:spcAft>
                  <a:spcPts val="0"/>
                </a:spcAft>
                <a:buSzPts val="1200"/>
                <a:buFont typeface="Roboto"/>
                <a:buChar char="-"/>
              </a:pPr>
              <a:r>
                <a:rPr lang="en" sz="1200">
                  <a:latin typeface="Roboto"/>
                  <a:ea typeface="Roboto"/>
                  <a:cs typeface="Roboto"/>
                  <a:sym typeface="Roboto"/>
                </a:rPr>
                <a:t>Two level granularity of experts</a:t>
              </a:r>
              <a:endParaRPr sz="1200">
                <a:latin typeface="Roboto"/>
                <a:ea typeface="Roboto"/>
                <a:cs typeface="Roboto"/>
                <a:sym typeface="Roboto"/>
              </a:endParaRPr>
            </a:p>
            <a:p>
              <a:pPr marL="228600" lvl="0" indent="-304800" algn="l" rtl="0">
                <a:lnSpc>
                  <a:spcPct val="115000"/>
                </a:lnSpc>
                <a:spcBef>
                  <a:spcPts val="0"/>
                </a:spcBef>
                <a:spcAft>
                  <a:spcPts val="0"/>
                </a:spcAft>
                <a:buSzPts val="1200"/>
                <a:buFont typeface="Roboto"/>
                <a:buChar char="-"/>
              </a:pPr>
              <a:r>
                <a:rPr lang="en" sz="1200">
                  <a:latin typeface="Roboto"/>
                  <a:ea typeface="Roboto"/>
                  <a:cs typeface="Roboto"/>
                  <a:sym typeface="Roboto"/>
                </a:rPr>
                <a:t>Random routing and </a:t>
              </a:r>
              <a:r>
                <a:rPr lang="en" sz="1200" b="1">
                  <a:latin typeface="Roboto"/>
                  <a:ea typeface="Roboto"/>
                  <a:cs typeface="Roboto"/>
                  <a:sym typeface="Roboto"/>
                </a:rPr>
                <a:t>expert capacity</a:t>
              </a:r>
              <a:endParaRPr sz="1200" b="1">
                <a:latin typeface="Roboto"/>
                <a:ea typeface="Roboto"/>
                <a:cs typeface="Roboto"/>
                <a:sym typeface="Roboto"/>
              </a:endParaRPr>
            </a:p>
            <a:p>
              <a:pPr marL="228600" lvl="0" indent="-304800" algn="l" rtl="0">
                <a:lnSpc>
                  <a:spcPct val="115000"/>
                </a:lnSpc>
                <a:spcBef>
                  <a:spcPts val="0"/>
                </a:spcBef>
                <a:spcAft>
                  <a:spcPts val="0"/>
                </a:spcAft>
                <a:buSzPts val="1200"/>
                <a:buFont typeface="Roboto"/>
                <a:buChar char="-"/>
              </a:pPr>
              <a:r>
                <a:rPr lang="en" sz="1200" b="1">
                  <a:latin typeface="Roboto"/>
                  <a:ea typeface="Roboto"/>
                  <a:cs typeface="Roboto"/>
                  <a:sym typeface="Roboto"/>
                </a:rPr>
                <a:t>Auxiliary loss</a:t>
              </a:r>
              <a:r>
                <a:rPr lang="en" sz="1200">
                  <a:latin typeface="Roboto"/>
                  <a:ea typeface="Roboto"/>
                  <a:cs typeface="Roboto"/>
                  <a:sym typeface="Roboto"/>
                </a:rPr>
                <a:t> and load balancing</a:t>
              </a:r>
              <a:endParaRPr sz="1200">
                <a:latin typeface="Roboto"/>
                <a:ea typeface="Roboto"/>
                <a:cs typeface="Roboto"/>
                <a:sym typeface="Roboto"/>
              </a:endParaRPr>
            </a:p>
          </p:txBody>
        </p:sp>
      </p:grpSp>
      <p:sp>
        <p:nvSpPr>
          <p:cNvPr id="91" name="Google Shape;91;p16"/>
          <p:cNvSpPr/>
          <p:nvPr/>
        </p:nvSpPr>
        <p:spPr>
          <a:xfrm>
            <a:off x="2944204" y="1189775"/>
            <a:ext cx="3305700" cy="669000"/>
          </a:xfrm>
          <a:prstGeom prst="chevron">
            <a:avLst>
              <a:gd name="adj" fmla="val 50000"/>
            </a:avLst>
          </a:prstGeom>
          <a:solidFill>
            <a:srgbClr val="B02B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Transformer-based</a:t>
            </a:r>
            <a:endParaRPr>
              <a:solidFill>
                <a:srgbClr val="FFFFFF"/>
              </a:solidFill>
              <a:latin typeface="Roboto"/>
              <a:ea typeface="Roboto"/>
              <a:cs typeface="Roboto"/>
              <a:sym typeface="Roboto"/>
            </a:endParaRPr>
          </a:p>
        </p:txBody>
      </p:sp>
      <p:sp>
        <p:nvSpPr>
          <p:cNvPr id="92" name="Google Shape;92;p16"/>
          <p:cNvSpPr txBox="1"/>
          <p:nvPr/>
        </p:nvSpPr>
        <p:spPr>
          <a:xfrm>
            <a:off x="89900" y="4185350"/>
            <a:ext cx="8677500" cy="871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 sz="1000" baseline="30000">
                <a:solidFill>
                  <a:srgbClr val="757575"/>
                </a:solidFill>
              </a:rPr>
              <a:t>1 </a:t>
            </a:r>
            <a:r>
              <a:rPr lang="en" sz="1000">
                <a:solidFill>
                  <a:srgbClr val="757575"/>
                </a:solidFill>
              </a:rPr>
              <a:t>Fedus, William, Barret Zoph, and Noam Shazeer. "Switch transformers: Scaling to trillion parameter models with simple and efficient sparsity." Journal of Machine Learning Research 23.120 (2022): 1-39.</a:t>
            </a:r>
            <a:endParaRPr sz="1000">
              <a:solidFill>
                <a:srgbClr val="757575"/>
              </a:solidFill>
            </a:endParaRPr>
          </a:p>
          <a:p>
            <a:pPr marL="0" lvl="0" indent="0" algn="l" rtl="0">
              <a:spcBef>
                <a:spcPts val="0"/>
              </a:spcBef>
              <a:spcAft>
                <a:spcPts val="0"/>
              </a:spcAft>
              <a:buNone/>
            </a:pPr>
            <a:r>
              <a:rPr lang="en" sz="1000" baseline="30000">
                <a:solidFill>
                  <a:srgbClr val="757575"/>
                </a:solidFill>
              </a:rPr>
              <a:t>2 </a:t>
            </a:r>
            <a:r>
              <a:rPr lang="en" sz="1000">
                <a:solidFill>
                  <a:srgbClr val="757575"/>
                </a:solidFill>
              </a:rPr>
              <a:t>Zhou, Yanqi, Tao Lei, Hanxiao Liu, Nan Du, Yanping Huang, Vincent Zhao, Andrew Dai, Zhifeng Chen, Quoc Le, and James Laudon. 2022. “Mixture-of-Experts with Expert Choice Routing.” arXiv [Cs.LG]. arXiv.</a:t>
            </a:r>
            <a:endParaRPr sz="1000">
              <a:solidFill>
                <a:srgbClr val="757575"/>
              </a:solidFill>
            </a:endParaRPr>
          </a:p>
          <a:p>
            <a:pPr marL="0" lvl="0" indent="0" algn="l" rtl="0">
              <a:spcBef>
                <a:spcPts val="0"/>
              </a:spcBef>
              <a:spcAft>
                <a:spcPts val="0"/>
              </a:spcAft>
              <a:buNone/>
            </a:pPr>
            <a:r>
              <a:rPr lang="en" sz="1000" baseline="30000">
                <a:solidFill>
                  <a:srgbClr val="757575"/>
                </a:solidFill>
              </a:rPr>
              <a:t>3 </a:t>
            </a:r>
            <a:r>
              <a:rPr lang="en" sz="1000">
                <a:solidFill>
                  <a:srgbClr val="757575"/>
                </a:solidFill>
              </a:rPr>
              <a:t>Shen, Sheng, et al. "Mixture-of-experts meets instruction tuning: A winning combination for large language models." arXiv preprint (2023).</a:t>
            </a:r>
            <a:endParaRPr sz="1000">
              <a:solidFill>
                <a:srgbClr val="757575"/>
              </a:solidFill>
            </a:endParaRPr>
          </a:p>
        </p:txBody>
      </p:sp>
      <p:sp>
        <p:nvSpPr>
          <p:cNvPr id="93" name="Google Shape;93;p16"/>
          <p:cNvSpPr txBox="1"/>
          <p:nvPr/>
        </p:nvSpPr>
        <p:spPr>
          <a:xfrm>
            <a:off x="3125850" y="1916025"/>
            <a:ext cx="2892300" cy="2269200"/>
          </a:xfrm>
          <a:prstGeom prst="rect">
            <a:avLst/>
          </a:prstGeom>
          <a:noFill/>
          <a:ln>
            <a:noFill/>
          </a:ln>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Switch Transformers </a:t>
            </a:r>
            <a:r>
              <a:rPr lang="en" sz="1200" b="1" baseline="30000">
                <a:solidFill>
                  <a:schemeClr val="dk1"/>
                </a:solidFill>
                <a:latin typeface="Roboto"/>
                <a:ea typeface="Roboto"/>
                <a:cs typeface="Roboto"/>
                <a:sym typeface="Roboto"/>
              </a:rPr>
              <a:t> 1 </a:t>
            </a:r>
            <a:endParaRPr sz="1200">
              <a:solidFill>
                <a:schemeClr val="dk1"/>
              </a:solidFill>
              <a:latin typeface="Roboto"/>
              <a:ea typeface="Roboto"/>
              <a:cs typeface="Roboto"/>
              <a:sym typeface="Roboto"/>
            </a:endParaRPr>
          </a:p>
          <a:p>
            <a:pPr marL="685800" lvl="1"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Selecting only one expert per token with highest gating score. (replace top-k)</a:t>
            </a:r>
            <a:endParaRPr sz="1200">
              <a:solidFill>
                <a:schemeClr val="dk1"/>
              </a:solidFill>
              <a:latin typeface="Roboto"/>
              <a:ea typeface="Roboto"/>
              <a:cs typeface="Roboto"/>
              <a:sym typeface="Roboto"/>
            </a:endParaRPr>
          </a:p>
          <a:p>
            <a:pPr marL="2286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Experts chose tokens </a:t>
            </a:r>
            <a:r>
              <a:rPr lang="en" sz="1200" b="1" baseline="30000">
                <a:solidFill>
                  <a:schemeClr val="dk1"/>
                </a:solidFill>
                <a:latin typeface="Roboto"/>
                <a:ea typeface="Roboto"/>
                <a:cs typeface="Roboto"/>
                <a:sym typeface="Roboto"/>
              </a:rPr>
              <a:t> 2</a:t>
            </a:r>
            <a:endParaRPr sz="1200" b="1" baseline="30000">
              <a:solidFill>
                <a:schemeClr val="dk1"/>
              </a:solidFill>
              <a:latin typeface="Roboto"/>
              <a:ea typeface="Roboto"/>
              <a:cs typeface="Roboto"/>
              <a:sym typeface="Roboto"/>
            </a:endParaRPr>
          </a:p>
          <a:p>
            <a:pPr marL="685800" lvl="1"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Experts to select top-k tokens. No auxiliary loss needed, which increase speed.</a:t>
            </a:r>
            <a:endParaRPr sz="1200">
              <a:solidFill>
                <a:schemeClr val="dk1"/>
              </a:solidFill>
              <a:latin typeface="Roboto"/>
              <a:ea typeface="Roboto"/>
              <a:cs typeface="Roboto"/>
              <a:sym typeface="Roboto"/>
            </a:endParaRPr>
          </a:p>
          <a:p>
            <a:pPr marL="685800" lvl="1"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Soft MoE routing algorithm</a:t>
            </a:r>
            <a:endParaRPr sz="1200">
              <a:latin typeface="Roboto"/>
              <a:ea typeface="Roboto"/>
              <a:cs typeface="Roboto"/>
              <a:sym typeface="Roboto"/>
            </a:endParaRPr>
          </a:p>
        </p:txBody>
      </p:sp>
      <p:sp>
        <p:nvSpPr>
          <p:cNvPr id="94" name="Google Shape;94;p16"/>
          <p:cNvSpPr txBox="1"/>
          <p:nvPr/>
        </p:nvSpPr>
        <p:spPr>
          <a:xfrm>
            <a:off x="6045725" y="1916025"/>
            <a:ext cx="2892300" cy="2269200"/>
          </a:xfrm>
          <a:prstGeom prst="rect">
            <a:avLst/>
          </a:prstGeom>
          <a:noFill/>
          <a:ln>
            <a:noFill/>
          </a:ln>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Instruction Tuning </a:t>
            </a:r>
            <a:r>
              <a:rPr lang="en" sz="1200" b="1" baseline="30000">
                <a:solidFill>
                  <a:schemeClr val="dk1"/>
                </a:solidFill>
                <a:latin typeface="Roboto"/>
                <a:ea typeface="Roboto"/>
                <a:cs typeface="Roboto"/>
                <a:sym typeface="Roboto"/>
              </a:rPr>
              <a:t> 3 </a:t>
            </a:r>
            <a:endParaRPr sz="1200">
              <a:solidFill>
                <a:schemeClr val="dk1"/>
              </a:solidFill>
              <a:latin typeface="Roboto"/>
              <a:ea typeface="Roboto"/>
              <a:cs typeface="Roboto"/>
              <a:sym typeface="Roboto"/>
            </a:endParaRPr>
          </a:p>
          <a:p>
            <a:pPr marL="685800" lvl="1"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Instruction-tuned experts; Task-Specific Routing; Instruction-Aware Gating</a:t>
            </a:r>
            <a:endParaRPr sz="1200">
              <a:latin typeface="Roboto"/>
              <a:ea typeface="Roboto"/>
              <a:cs typeface="Roboto"/>
              <a:sym typeface="Roboto"/>
            </a:endParaRPr>
          </a:p>
        </p:txBody>
      </p:sp>
      <p:cxnSp>
        <p:nvCxnSpPr>
          <p:cNvPr id="95" name="Google Shape;95;p16"/>
          <p:cNvCxnSpPr/>
          <p:nvPr/>
        </p:nvCxnSpPr>
        <p:spPr>
          <a:xfrm>
            <a:off x="2944200" y="1858775"/>
            <a:ext cx="0" cy="2205000"/>
          </a:xfrm>
          <a:prstGeom prst="straightConnector1">
            <a:avLst/>
          </a:prstGeom>
          <a:noFill/>
          <a:ln w="19050" cap="flat" cmpd="sng">
            <a:solidFill>
              <a:srgbClr val="801F17"/>
            </a:solidFill>
            <a:prstDash val="solid"/>
            <a:round/>
            <a:headEnd type="none" w="med" len="med"/>
            <a:tailEnd type="none" w="med" len="med"/>
          </a:ln>
        </p:spPr>
      </p:cxnSp>
      <p:cxnSp>
        <p:nvCxnSpPr>
          <p:cNvPr id="96" name="Google Shape;96;p16"/>
          <p:cNvCxnSpPr/>
          <p:nvPr/>
        </p:nvCxnSpPr>
        <p:spPr>
          <a:xfrm>
            <a:off x="5910025" y="1858775"/>
            <a:ext cx="0" cy="2205000"/>
          </a:xfrm>
          <a:prstGeom prst="straightConnector1">
            <a:avLst/>
          </a:prstGeom>
          <a:noFill/>
          <a:ln w="19050" cap="flat" cmpd="sng">
            <a:solidFill>
              <a:srgbClr val="B02B20"/>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txBox="1">
            <a:spLocks noGrp="1"/>
          </p:cNvSpPr>
          <p:nvPr>
            <p:ph type="title"/>
          </p:nvPr>
        </p:nvSpPr>
        <p:spPr>
          <a:xfrm>
            <a:off x="311700" y="29378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solidFill>
                  <a:schemeClr val="tx1"/>
                </a:solidFill>
              </a:rPr>
              <a:t>Possible Experts &amp; Routers</a:t>
            </a:r>
            <a:endParaRPr sz="2500">
              <a:solidFill>
                <a:schemeClr val="tx1"/>
              </a:solidFill>
            </a:endParaRPr>
          </a:p>
        </p:txBody>
      </p:sp>
      <p:pic>
        <p:nvPicPr>
          <p:cNvPr id="201" name="Google Shape;201;p26"/>
          <p:cNvPicPr preferRelativeResize="0"/>
          <p:nvPr/>
        </p:nvPicPr>
        <p:blipFill>
          <a:blip r:embed="rId3">
            <a:alphaModFix/>
          </a:blip>
          <a:stretch>
            <a:fillRect/>
          </a:stretch>
        </p:blipFill>
        <p:spPr>
          <a:xfrm>
            <a:off x="1460336" y="3219115"/>
            <a:ext cx="6223326" cy="1630600"/>
          </a:xfrm>
          <a:prstGeom prst="rect">
            <a:avLst/>
          </a:prstGeom>
          <a:noFill/>
          <a:ln>
            <a:noFill/>
          </a:ln>
        </p:spPr>
      </p:pic>
      <p:pic>
        <p:nvPicPr>
          <p:cNvPr id="202" name="Google Shape;202;p26"/>
          <p:cNvPicPr preferRelativeResize="0"/>
          <p:nvPr/>
        </p:nvPicPr>
        <p:blipFill>
          <a:blip r:embed="rId4">
            <a:alphaModFix/>
          </a:blip>
          <a:stretch>
            <a:fillRect/>
          </a:stretch>
        </p:blipFill>
        <p:spPr>
          <a:xfrm>
            <a:off x="1703057" y="866485"/>
            <a:ext cx="5737885" cy="21739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00" y="288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a:solidFill>
                  <a:schemeClr val="tx1"/>
                </a:solidFill>
              </a:rPr>
              <a:t>Advantages</a:t>
            </a:r>
            <a:endParaRPr sz="2800">
              <a:solidFill>
                <a:schemeClr val="tx1"/>
              </a:solidFill>
            </a:endParaRPr>
          </a:p>
        </p:txBody>
      </p:sp>
      <p:sp>
        <p:nvSpPr>
          <p:cNvPr id="77" name="Google Shape;7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chemeClr val="dk1"/>
              </a:buClr>
              <a:buSzPts val="1800"/>
              <a:buAutoNum type="arabicPeriod"/>
            </a:pPr>
            <a:r>
              <a:rPr lang="en">
                <a:solidFill>
                  <a:schemeClr val="dk1"/>
                </a:solidFill>
              </a:rPr>
              <a:t>More efficient: mixtral-8x7B </a:t>
            </a:r>
            <a:r>
              <a:rPr lang="en" b="1" baseline="30000">
                <a:solidFill>
                  <a:schemeClr val="dk1"/>
                </a:solidFill>
              </a:rPr>
              <a:t>1 </a:t>
            </a:r>
            <a:r>
              <a:rPr lang="en">
                <a:solidFill>
                  <a:schemeClr val="dk1"/>
                </a:solidFill>
              </a:rPr>
              <a:t> outperform GPT-3.5 and Llama-2-70B</a:t>
            </a:r>
            <a:endParaRPr>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
                <a:solidFill>
                  <a:schemeClr val="dk1"/>
                </a:solidFill>
              </a:rPr>
              <a:t>Dynamic Specialization of Experts (No rules needed)</a:t>
            </a:r>
            <a:endParaRPr>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
                <a:solidFill>
                  <a:schemeClr val="dk1"/>
                </a:solidFill>
              </a:rPr>
              <a:t>Flexible to take arbitrary number </a:t>
            </a:r>
            <a:br>
              <a:rPr lang="en">
                <a:solidFill>
                  <a:schemeClr val="dk1"/>
                </a:solidFill>
              </a:rPr>
            </a:br>
            <a:r>
              <a:rPr lang="en">
                <a:solidFill>
                  <a:schemeClr val="dk1"/>
                </a:solidFill>
              </a:rPr>
              <a:t>of modalities and can be run with</a:t>
            </a:r>
            <a:br>
              <a:rPr lang="en">
                <a:solidFill>
                  <a:schemeClr val="dk1"/>
                </a:solidFill>
              </a:rPr>
            </a:br>
            <a:r>
              <a:rPr lang="en">
                <a:solidFill>
                  <a:schemeClr val="dk1"/>
                </a:solidFill>
              </a:rPr>
              <a:t>both unimodal and multimodal</a:t>
            </a:r>
            <a:endParaRPr>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
                <a:solidFill>
                  <a:schemeClr val="dk1"/>
                </a:solidFill>
              </a:rPr>
              <a:t>Can choice the trade-off between</a:t>
            </a:r>
            <a:br>
              <a:rPr lang="en">
                <a:solidFill>
                  <a:schemeClr val="dk1"/>
                </a:solidFill>
              </a:rPr>
            </a:br>
            <a:r>
              <a:rPr lang="en">
                <a:solidFill>
                  <a:schemeClr val="dk1"/>
                </a:solidFill>
              </a:rPr>
              <a:t>Modality interaction and modality </a:t>
            </a:r>
            <a:br>
              <a:rPr lang="en">
                <a:solidFill>
                  <a:schemeClr val="dk1"/>
                </a:solidFill>
              </a:rPr>
            </a:br>
            <a:r>
              <a:rPr lang="en">
                <a:solidFill>
                  <a:schemeClr val="dk1"/>
                </a:solidFill>
              </a:rPr>
              <a:t>Specific information learned</a:t>
            </a:r>
            <a:endParaRPr>
              <a:solidFill>
                <a:schemeClr val="dk1"/>
              </a:solidFill>
            </a:endParaRPr>
          </a:p>
        </p:txBody>
      </p:sp>
      <p:pic>
        <p:nvPicPr>
          <p:cNvPr id="79" name="Google Shape;79;p15"/>
          <p:cNvPicPr preferRelativeResize="0"/>
          <p:nvPr/>
        </p:nvPicPr>
        <p:blipFill>
          <a:blip r:embed="rId3">
            <a:alphaModFix/>
          </a:blip>
          <a:stretch>
            <a:fillRect/>
          </a:stretch>
        </p:blipFill>
        <p:spPr>
          <a:xfrm>
            <a:off x="4424000" y="2080500"/>
            <a:ext cx="4090350" cy="2635100"/>
          </a:xfrm>
          <a:prstGeom prst="rect">
            <a:avLst/>
          </a:prstGeom>
          <a:noFill/>
          <a:ln w="19050" cap="flat" cmpd="sng">
            <a:solidFill>
              <a:schemeClr val="dk2"/>
            </a:solidFill>
            <a:prstDash val="solid"/>
            <a:round/>
            <a:headEnd type="none" w="sm" len="sm"/>
            <a:tailEnd type="none" w="sm" len="sm"/>
          </a:ln>
        </p:spPr>
      </p:pic>
      <p:sp>
        <p:nvSpPr>
          <p:cNvPr id="80" name="Google Shape;80;p15"/>
          <p:cNvSpPr txBox="1"/>
          <p:nvPr/>
        </p:nvSpPr>
        <p:spPr>
          <a:xfrm>
            <a:off x="89900" y="4437925"/>
            <a:ext cx="7956600" cy="618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 sz="1000" baseline="30000">
                <a:solidFill>
                  <a:srgbClr val="757575"/>
                </a:solidFill>
              </a:rPr>
              <a:t>1 </a:t>
            </a:r>
            <a:r>
              <a:rPr lang="en" sz="1000">
                <a:solidFill>
                  <a:srgbClr val="757575"/>
                </a:solidFill>
              </a:rPr>
              <a:t>Jiang, Albert Q., et al. "Mixtral of experts." arXiv preprint arXiv:2401.04088 (2024).</a:t>
            </a:r>
            <a:endParaRPr sz="1000">
              <a:solidFill>
                <a:srgbClr val="75757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27"/>
          <p:cNvSpPr txBox="1">
            <a:spLocks noGrp="1"/>
          </p:cNvSpPr>
          <p:nvPr>
            <p:ph type="title"/>
          </p:nvPr>
        </p:nvSpPr>
        <p:spPr>
          <a:xfrm>
            <a:off x="323400" y="29075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solidFill>
                  <a:schemeClr val="tx1"/>
                </a:solidFill>
              </a:rPr>
              <a:t>Trade-off</a:t>
            </a:r>
            <a:r>
              <a:rPr lang="en"/>
              <a:t> </a:t>
            </a:r>
            <a:r>
              <a:rPr lang="en" sz="2500">
                <a:solidFill>
                  <a:schemeClr val="tx1"/>
                </a:solidFill>
              </a:rPr>
              <a:t>in Router</a:t>
            </a:r>
            <a:endParaRPr sz="2500">
              <a:solidFill>
                <a:schemeClr val="tx1"/>
              </a:solidFill>
            </a:endParaRPr>
          </a:p>
        </p:txBody>
      </p:sp>
      <p:grpSp>
        <p:nvGrpSpPr>
          <p:cNvPr id="211" name="Google Shape;211;p27"/>
          <p:cNvGrpSpPr/>
          <p:nvPr/>
        </p:nvGrpSpPr>
        <p:grpSpPr>
          <a:xfrm>
            <a:off x="1367925" y="1950875"/>
            <a:ext cx="6408125" cy="174950"/>
            <a:chOff x="1327800" y="1912075"/>
            <a:chExt cx="6408125" cy="174950"/>
          </a:xfrm>
        </p:grpSpPr>
        <p:cxnSp>
          <p:nvCxnSpPr>
            <p:cNvPr id="212" name="Google Shape;212;p27"/>
            <p:cNvCxnSpPr/>
            <p:nvPr/>
          </p:nvCxnSpPr>
          <p:spPr>
            <a:xfrm rot="10800000" flipH="1">
              <a:off x="1404375" y="1966825"/>
              <a:ext cx="6278400" cy="32700"/>
            </a:xfrm>
            <a:prstGeom prst="straightConnector1">
              <a:avLst/>
            </a:prstGeom>
            <a:noFill/>
            <a:ln w="38100" cap="flat" cmpd="sng">
              <a:solidFill>
                <a:srgbClr val="B7B7B7"/>
              </a:solidFill>
              <a:prstDash val="solid"/>
              <a:round/>
              <a:headEnd type="none" w="med" len="med"/>
              <a:tailEnd type="none" w="med" len="med"/>
            </a:ln>
          </p:spPr>
        </p:cxnSp>
        <p:sp>
          <p:nvSpPr>
            <p:cNvPr id="213" name="Google Shape;213;p27"/>
            <p:cNvSpPr/>
            <p:nvPr/>
          </p:nvSpPr>
          <p:spPr>
            <a:xfrm>
              <a:off x="1327800" y="1944825"/>
              <a:ext cx="164100" cy="142200"/>
            </a:xfrm>
            <a:prstGeom prst="ellipse">
              <a:avLst/>
            </a:prstGeom>
            <a:solidFill>
              <a:srgbClr val="0000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 name="Google Shape;214;p27"/>
            <p:cNvSpPr/>
            <p:nvPr/>
          </p:nvSpPr>
          <p:spPr>
            <a:xfrm>
              <a:off x="4449813" y="1912075"/>
              <a:ext cx="164100" cy="142200"/>
            </a:xfrm>
            <a:prstGeom prst="ellipse">
              <a:avLst/>
            </a:prstGeom>
            <a:solidFill>
              <a:srgbClr val="6FA8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 name="Google Shape;215;p27"/>
            <p:cNvSpPr/>
            <p:nvPr/>
          </p:nvSpPr>
          <p:spPr>
            <a:xfrm>
              <a:off x="7571825" y="1912075"/>
              <a:ext cx="164100" cy="142200"/>
            </a:xfrm>
            <a:prstGeom prst="ellipse">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16" name="Google Shape;216;p27"/>
          <p:cNvSpPr txBox="1"/>
          <p:nvPr/>
        </p:nvSpPr>
        <p:spPr>
          <a:xfrm>
            <a:off x="600425" y="2257025"/>
            <a:ext cx="1389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Disjoint Experts &amp; Routers</a:t>
            </a:r>
            <a:endParaRPr sz="1200">
              <a:solidFill>
                <a:schemeClr val="dk1"/>
              </a:solidFill>
            </a:endParaRPr>
          </a:p>
        </p:txBody>
      </p:sp>
      <p:sp>
        <p:nvSpPr>
          <p:cNvPr id="217" name="Google Shape;217;p27"/>
          <p:cNvSpPr txBox="1"/>
          <p:nvPr/>
        </p:nvSpPr>
        <p:spPr>
          <a:xfrm>
            <a:off x="600425" y="1323875"/>
            <a:ext cx="1596900" cy="62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0000FF"/>
                </a:solidFill>
              </a:rPr>
              <a:t>Modality Specific feature</a:t>
            </a:r>
            <a:endParaRPr b="1">
              <a:solidFill>
                <a:srgbClr val="0000FF"/>
              </a:solidFill>
            </a:endParaRPr>
          </a:p>
        </p:txBody>
      </p:sp>
      <p:sp>
        <p:nvSpPr>
          <p:cNvPr id="218" name="Google Shape;218;p27"/>
          <p:cNvSpPr txBox="1"/>
          <p:nvPr/>
        </p:nvSpPr>
        <p:spPr>
          <a:xfrm>
            <a:off x="6875550" y="1323875"/>
            <a:ext cx="1596900" cy="62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0B5394"/>
                </a:solidFill>
              </a:rPr>
              <a:t>Inter-modality Information</a:t>
            </a:r>
            <a:endParaRPr b="1">
              <a:solidFill>
                <a:srgbClr val="0B5394"/>
              </a:solidFill>
            </a:endParaRPr>
          </a:p>
        </p:txBody>
      </p:sp>
      <p:graphicFrame>
        <p:nvGraphicFramePr>
          <p:cNvPr id="219" name="Google Shape;219;p27"/>
          <p:cNvGraphicFramePr/>
          <p:nvPr/>
        </p:nvGraphicFramePr>
        <p:xfrm>
          <a:off x="6938775" y="2905925"/>
          <a:ext cx="1531400" cy="20825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extLst>
                  <a:ext uri="{0D108BD9-81ED-4DB2-BD59-A6C34878D82A}">
                    <a16:rowId xmlns:a16="http://schemas.microsoft.com/office/drawing/2014/main" val="10000"/>
                  </a:ext>
                </a:extLst>
              </a:tr>
            </a:tbl>
          </a:graphicData>
        </a:graphic>
      </p:graphicFrame>
      <p:sp>
        <p:nvSpPr>
          <p:cNvPr id="220" name="Google Shape;220;p27"/>
          <p:cNvSpPr/>
          <p:nvPr/>
        </p:nvSpPr>
        <p:spPr>
          <a:xfrm>
            <a:off x="7348975" y="3509325"/>
            <a:ext cx="711000" cy="24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Router</a:t>
            </a:r>
            <a:endParaRPr sz="1200"/>
          </a:p>
        </p:txBody>
      </p:sp>
      <p:cxnSp>
        <p:nvCxnSpPr>
          <p:cNvPr id="221" name="Google Shape;221;p27"/>
          <p:cNvCxnSpPr>
            <a:endCxn id="220" idx="0"/>
          </p:cNvCxnSpPr>
          <p:nvPr/>
        </p:nvCxnSpPr>
        <p:spPr>
          <a:xfrm>
            <a:off x="7704475" y="3148425"/>
            <a:ext cx="0" cy="360900"/>
          </a:xfrm>
          <a:prstGeom prst="straightConnector1">
            <a:avLst/>
          </a:prstGeom>
          <a:noFill/>
          <a:ln w="9525" cap="flat" cmpd="sng">
            <a:solidFill>
              <a:schemeClr val="dk2"/>
            </a:solidFill>
            <a:prstDash val="solid"/>
            <a:round/>
            <a:headEnd type="none" w="med" len="med"/>
            <a:tailEnd type="triangle" w="med" len="med"/>
          </a:ln>
        </p:spPr>
      </p:cxnSp>
      <p:sp>
        <p:nvSpPr>
          <p:cNvPr id="222" name="Google Shape;222;p27"/>
          <p:cNvSpPr/>
          <p:nvPr/>
        </p:nvSpPr>
        <p:spPr>
          <a:xfrm>
            <a:off x="6721250" y="39461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1</a:t>
            </a:r>
            <a:endParaRPr sz="1000"/>
          </a:p>
        </p:txBody>
      </p:sp>
      <p:sp>
        <p:nvSpPr>
          <p:cNvPr id="223" name="Google Shape;223;p27"/>
          <p:cNvSpPr/>
          <p:nvPr/>
        </p:nvSpPr>
        <p:spPr>
          <a:xfrm>
            <a:off x="7407050" y="39461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2</a:t>
            </a:r>
            <a:endParaRPr sz="1000"/>
          </a:p>
        </p:txBody>
      </p:sp>
      <p:sp>
        <p:nvSpPr>
          <p:cNvPr id="224" name="Google Shape;224;p27"/>
          <p:cNvSpPr/>
          <p:nvPr/>
        </p:nvSpPr>
        <p:spPr>
          <a:xfrm>
            <a:off x="8092850" y="39461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3</a:t>
            </a:r>
            <a:endParaRPr sz="1000"/>
          </a:p>
        </p:txBody>
      </p:sp>
      <p:cxnSp>
        <p:nvCxnSpPr>
          <p:cNvPr id="225" name="Google Shape;225;p27"/>
          <p:cNvCxnSpPr>
            <a:stCxn id="220" idx="2"/>
            <a:endCxn id="222" idx="0"/>
          </p:cNvCxnSpPr>
          <p:nvPr/>
        </p:nvCxnSpPr>
        <p:spPr>
          <a:xfrm flipH="1">
            <a:off x="7035175" y="3749925"/>
            <a:ext cx="669300" cy="196200"/>
          </a:xfrm>
          <a:prstGeom prst="straightConnector1">
            <a:avLst/>
          </a:prstGeom>
          <a:noFill/>
          <a:ln w="9525" cap="flat" cmpd="sng">
            <a:solidFill>
              <a:schemeClr val="dk2"/>
            </a:solidFill>
            <a:prstDash val="solid"/>
            <a:round/>
            <a:headEnd type="none" w="med" len="med"/>
            <a:tailEnd type="triangle" w="med" len="med"/>
          </a:ln>
        </p:spPr>
      </p:cxnSp>
      <p:cxnSp>
        <p:nvCxnSpPr>
          <p:cNvPr id="226" name="Google Shape;226;p27"/>
          <p:cNvCxnSpPr>
            <a:stCxn id="220" idx="2"/>
            <a:endCxn id="223" idx="0"/>
          </p:cNvCxnSpPr>
          <p:nvPr/>
        </p:nvCxnSpPr>
        <p:spPr>
          <a:xfrm>
            <a:off x="7704475" y="3749925"/>
            <a:ext cx="16500" cy="196200"/>
          </a:xfrm>
          <a:prstGeom prst="straightConnector1">
            <a:avLst/>
          </a:prstGeom>
          <a:noFill/>
          <a:ln w="9525" cap="flat" cmpd="sng">
            <a:solidFill>
              <a:schemeClr val="dk2"/>
            </a:solidFill>
            <a:prstDash val="solid"/>
            <a:round/>
            <a:headEnd type="none" w="med" len="med"/>
            <a:tailEnd type="triangle" w="med" len="med"/>
          </a:ln>
        </p:spPr>
      </p:cxnSp>
      <p:cxnSp>
        <p:nvCxnSpPr>
          <p:cNvPr id="227" name="Google Shape;227;p27"/>
          <p:cNvCxnSpPr>
            <a:stCxn id="220" idx="2"/>
            <a:endCxn id="224" idx="0"/>
          </p:cNvCxnSpPr>
          <p:nvPr/>
        </p:nvCxnSpPr>
        <p:spPr>
          <a:xfrm>
            <a:off x="7704475" y="3749925"/>
            <a:ext cx="702300" cy="196200"/>
          </a:xfrm>
          <a:prstGeom prst="straightConnector1">
            <a:avLst/>
          </a:prstGeom>
          <a:noFill/>
          <a:ln w="9525" cap="flat" cmpd="sng">
            <a:solidFill>
              <a:schemeClr val="dk2"/>
            </a:solidFill>
            <a:prstDash val="solid"/>
            <a:round/>
            <a:headEnd type="none" w="med" len="med"/>
            <a:tailEnd type="triangle" w="med" len="med"/>
          </a:ln>
        </p:spPr>
      </p:cxnSp>
      <p:sp>
        <p:nvSpPr>
          <p:cNvPr id="228" name="Google Shape;228;p27"/>
          <p:cNvSpPr txBox="1"/>
          <p:nvPr/>
        </p:nvSpPr>
        <p:spPr>
          <a:xfrm>
            <a:off x="7026350" y="2301363"/>
            <a:ext cx="1389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Joint Experts &amp; Routers</a:t>
            </a:r>
            <a:endParaRPr sz="1200">
              <a:solidFill>
                <a:schemeClr val="dk1"/>
              </a:solidFill>
            </a:endParaRPr>
          </a:p>
        </p:txBody>
      </p:sp>
      <p:graphicFrame>
        <p:nvGraphicFramePr>
          <p:cNvPr id="229" name="Google Shape;229;p27"/>
          <p:cNvGraphicFramePr/>
          <p:nvPr/>
        </p:nvGraphicFramePr>
        <p:xfrm>
          <a:off x="450475" y="2892650"/>
          <a:ext cx="765700" cy="2406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40600">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extLst>
                  <a:ext uri="{0D108BD9-81ED-4DB2-BD59-A6C34878D82A}">
                    <a16:rowId xmlns:a16="http://schemas.microsoft.com/office/drawing/2014/main" val="10000"/>
                  </a:ext>
                </a:extLst>
              </a:tr>
            </a:tbl>
          </a:graphicData>
        </a:graphic>
      </p:graphicFrame>
      <p:sp>
        <p:nvSpPr>
          <p:cNvPr id="230" name="Google Shape;230;p27"/>
          <p:cNvSpPr/>
          <p:nvPr/>
        </p:nvSpPr>
        <p:spPr>
          <a:xfrm>
            <a:off x="423125" y="3397500"/>
            <a:ext cx="765600" cy="24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Router i</a:t>
            </a:r>
            <a:endParaRPr sz="1200"/>
          </a:p>
        </p:txBody>
      </p:sp>
      <p:cxnSp>
        <p:nvCxnSpPr>
          <p:cNvPr id="231" name="Google Shape;231;p27"/>
          <p:cNvCxnSpPr/>
          <p:nvPr/>
        </p:nvCxnSpPr>
        <p:spPr>
          <a:xfrm flipH="1">
            <a:off x="832125" y="3111663"/>
            <a:ext cx="2400" cy="244500"/>
          </a:xfrm>
          <a:prstGeom prst="straightConnector1">
            <a:avLst/>
          </a:prstGeom>
          <a:noFill/>
          <a:ln w="9525" cap="flat" cmpd="sng">
            <a:solidFill>
              <a:schemeClr val="dk2"/>
            </a:solidFill>
            <a:prstDash val="solid"/>
            <a:round/>
            <a:headEnd type="none" w="med" len="med"/>
            <a:tailEnd type="triangle" w="med" len="med"/>
          </a:ln>
        </p:spPr>
      </p:cxnSp>
      <p:sp>
        <p:nvSpPr>
          <p:cNvPr id="232" name="Google Shape;232;p27"/>
          <p:cNvSpPr/>
          <p:nvPr/>
        </p:nvSpPr>
        <p:spPr>
          <a:xfrm>
            <a:off x="178325" y="40750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1</a:t>
            </a:r>
            <a:endParaRPr sz="1000"/>
          </a:p>
        </p:txBody>
      </p:sp>
      <p:sp>
        <p:nvSpPr>
          <p:cNvPr id="233" name="Google Shape;233;p27"/>
          <p:cNvSpPr/>
          <p:nvPr/>
        </p:nvSpPr>
        <p:spPr>
          <a:xfrm>
            <a:off x="740325" y="40750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2</a:t>
            </a:r>
            <a:endParaRPr sz="1000"/>
          </a:p>
        </p:txBody>
      </p:sp>
      <p:sp>
        <p:nvSpPr>
          <p:cNvPr id="234" name="Google Shape;234;p27"/>
          <p:cNvSpPr/>
          <p:nvPr/>
        </p:nvSpPr>
        <p:spPr>
          <a:xfrm>
            <a:off x="1414525" y="40499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3</a:t>
            </a:r>
            <a:endParaRPr sz="1000"/>
          </a:p>
        </p:txBody>
      </p:sp>
      <p:cxnSp>
        <p:nvCxnSpPr>
          <p:cNvPr id="235" name="Google Shape;235;p27"/>
          <p:cNvCxnSpPr>
            <a:stCxn id="230" idx="2"/>
            <a:endCxn id="232" idx="0"/>
          </p:cNvCxnSpPr>
          <p:nvPr/>
        </p:nvCxnSpPr>
        <p:spPr>
          <a:xfrm flipH="1">
            <a:off x="492125" y="3638100"/>
            <a:ext cx="313800" cy="436800"/>
          </a:xfrm>
          <a:prstGeom prst="straightConnector1">
            <a:avLst/>
          </a:prstGeom>
          <a:noFill/>
          <a:ln w="9525" cap="flat" cmpd="sng">
            <a:solidFill>
              <a:schemeClr val="dk2"/>
            </a:solidFill>
            <a:prstDash val="solid"/>
            <a:round/>
            <a:headEnd type="none" w="med" len="med"/>
            <a:tailEnd type="triangle" w="med" len="med"/>
          </a:ln>
        </p:spPr>
      </p:cxnSp>
      <p:cxnSp>
        <p:nvCxnSpPr>
          <p:cNvPr id="236" name="Google Shape;236;p27"/>
          <p:cNvCxnSpPr>
            <a:stCxn id="230" idx="2"/>
            <a:endCxn id="233" idx="0"/>
          </p:cNvCxnSpPr>
          <p:nvPr/>
        </p:nvCxnSpPr>
        <p:spPr>
          <a:xfrm>
            <a:off x="805925" y="3638100"/>
            <a:ext cx="248100" cy="436800"/>
          </a:xfrm>
          <a:prstGeom prst="straightConnector1">
            <a:avLst/>
          </a:prstGeom>
          <a:noFill/>
          <a:ln w="9525" cap="flat" cmpd="sng">
            <a:solidFill>
              <a:schemeClr val="dk2"/>
            </a:solidFill>
            <a:prstDash val="solid"/>
            <a:round/>
            <a:headEnd type="none" w="med" len="med"/>
            <a:tailEnd type="triangle" w="med" len="med"/>
          </a:ln>
        </p:spPr>
      </p:cxnSp>
      <p:graphicFrame>
        <p:nvGraphicFramePr>
          <p:cNvPr id="237" name="Google Shape;237;p27"/>
          <p:cNvGraphicFramePr/>
          <p:nvPr/>
        </p:nvGraphicFramePr>
        <p:xfrm>
          <a:off x="1565200" y="2880075"/>
          <a:ext cx="765700" cy="2406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40600">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extLst>
                  <a:ext uri="{0D108BD9-81ED-4DB2-BD59-A6C34878D82A}">
                    <a16:rowId xmlns:a16="http://schemas.microsoft.com/office/drawing/2014/main" val="10000"/>
                  </a:ext>
                </a:extLst>
              </a:tr>
            </a:tbl>
          </a:graphicData>
        </a:graphic>
      </p:graphicFrame>
      <p:sp>
        <p:nvSpPr>
          <p:cNvPr id="238" name="Google Shape;238;p27"/>
          <p:cNvSpPr/>
          <p:nvPr/>
        </p:nvSpPr>
        <p:spPr>
          <a:xfrm>
            <a:off x="1565250" y="3395550"/>
            <a:ext cx="765600" cy="24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Router t</a:t>
            </a:r>
            <a:endParaRPr sz="1200"/>
          </a:p>
        </p:txBody>
      </p:sp>
      <p:cxnSp>
        <p:nvCxnSpPr>
          <p:cNvPr id="239" name="Google Shape;239;p27"/>
          <p:cNvCxnSpPr/>
          <p:nvPr/>
        </p:nvCxnSpPr>
        <p:spPr>
          <a:xfrm flipH="1">
            <a:off x="1946850" y="3135875"/>
            <a:ext cx="2400" cy="244500"/>
          </a:xfrm>
          <a:prstGeom prst="straightConnector1">
            <a:avLst/>
          </a:prstGeom>
          <a:noFill/>
          <a:ln w="9525" cap="flat" cmpd="sng">
            <a:solidFill>
              <a:schemeClr val="dk2"/>
            </a:solidFill>
            <a:prstDash val="solid"/>
            <a:round/>
            <a:headEnd type="none" w="med" len="med"/>
            <a:tailEnd type="triangle" w="med" len="med"/>
          </a:ln>
        </p:spPr>
      </p:cxnSp>
      <p:cxnSp>
        <p:nvCxnSpPr>
          <p:cNvPr id="240" name="Google Shape;240;p27"/>
          <p:cNvCxnSpPr>
            <a:stCxn id="238" idx="2"/>
            <a:endCxn id="234" idx="0"/>
          </p:cNvCxnSpPr>
          <p:nvPr/>
        </p:nvCxnSpPr>
        <p:spPr>
          <a:xfrm flipH="1">
            <a:off x="1728450" y="3636150"/>
            <a:ext cx="219600" cy="413700"/>
          </a:xfrm>
          <a:prstGeom prst="straightConnector1">
            <a:avLst/>
          </a:prstGeom>
          <a:noFill/>
          <a:ln w="9525" cap="flat" cmpd="sng">
            <a:solidFill>
              <a:schemeClr val="dk2"/>
            </a:solidFill>
            <a:prstDash val="solid"/>
            <a:round/>
            <a:headEnd type="none" w="med" len="med"/>
            <a:tailEnd type="triangle" w="med" len="med"/>
          </a:ln>
        </p:spPr>
      </p:cxnSp>
      <p:graphicFrame>
        <p:nvGraphicFramePr>
          <p:cNvPr id="241" name="Google Shape;241;p27"/>
          <p:cNvGraphicFramePr/>
          <p:nvPr/>
        </p:nvGraphicFramePr>
        <p:xfrm>
          <a:off x="3803275" y="2892650"/>
          <a:ext cx="765700" cy="2406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40600">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extLst>
                  <a:ext uri="{0D108BD9-81ED-4DB2-BD59-A6C34878D82A}">
                    <a16:rowId xmlns:a16="http://schemas.microsoft.com/office/drawing/2014/main" val="10000"/>
                  </a:ext>
                </a:extLst>
              </a:tr>
            </a:tbl>
          </a:graphicData>
        </a:graphic>
      </p:graphicFrame>
      <p:sp>
        <p:nvSpPr>
          <p:cNvPr id="242" name="Google Shape;242;p27"/>
          <p:cNvSpPr/>
          <p:nvPr/>
        </p:nvSpPr>
        <p:spPr>
          <a:xfrm>
            <a:off x="3775925" y="3397500"/>
            <a:ext cx="765600" cy="24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Router i</a:t>
            </a:r>
            <a:endParaRPr sz="1200"/>
          </a:p>
        </p:txBody>
      </p:sp>
      <p:cxnSp>
        <p:nvCxnSpPr>
          <p:cNvPr id="243" name="Google Shape;243;p27"/>
          <p:cNvCxnSpPr/>
          <p:nvPr/>
        </p:nvCxnSpPr>
        <p:spPr>
          <a:xfrm flipH="1">
            <a:off x="4184925" y="3111663"/>
            <a:ext cx="2400" cy="244500"/>
          </a:xfrm>
          <a:prstGeom prst="straightConnector1">
            <a:avLst/>
          </a:prstGeom>
          <a:noFill/>
          <a:ln w="9525" cap="flat" cmpd="sng">
            <a:solidFill>
              <a:schemeClr val="dk2"/>
            </a:solidFill>
            <a:prstDash val="solid"/>
            <a:round/>
            <a:headEnd type="none" w="med" len="med"/>
            <a:tailEnd type="triangle" w="med" len="med"/>
          </a:ln>
        </p:spPr>
      </p:cxnSp>
      <p:sp>
        <p:nvSpPr>
          <p:cNvPr id="244" name="Google Shape;244;p27"/>
          <p:cNvSpPr/>
          <p:nvPr/>
        </p:nvSpPr>
        <p:spPr>
          <a:xfrm>
            <a:off x="3673250" y="40985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1</a:t>
            </a:r>
            <a:endParaRPr sz="1000"/>
          </a:p>
        </p:txBody>
      </p:sp>
      <p:sp>
        <p:nvSpPr>
          <p:cNvPr id="245" name="Google Shape;245;p27"/>
          <p:cNvSpPr/>
          <p:nvPr/>
        </p:nvSpPr>
        <p:spPr>
          <a:xfrm>
            <a:off x="4359050" y="40985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2</a:t>
            </a:r>
            <a:endParaRPr sz="1000"/>
          </a:p>
        </p:txBody>
      </p:sp>
      <p:sp>
        <p:nvSpPr>
          <p:cNvPr id="246" name="Google Shape;246;p27"/>
          <p:cNvSpPr/>
          <p:nvPr/>
        </p:nvSpPr>
        <p:spPr>
          <a:xfrm>
            <a:off x="5044850" y="409852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3</a:t>
            </a:r>
            <a:endParaRPr sz="1000"/>
          </a:p>
        </p:txBody>
      </p:sp>
      <p:cxnSp>
        <p:nvCxnSpPr>
          <p:cNvPr id="247" name="Google Shape;247;p27"/>
          <p:cNvCxnSpPr>
            <a:stCxn id="242" idx="2"/>
            <a:endCxn id="244" idx="0"/>
          </p:cNvCxnSpPr>
          <p:nvPr/>
        </p:nvCxnSpPr>
        <p:spPr>
          <a:xfrm flipH="1">
            <a:off x="3987125" y="3638100"/>
            <a:ext cx="171600" cy="460500"/>
          </a:xfrm>
          <a:prstGeom prst="straightConnector1">
            <a:avLst/>
          </a:prstGeom>
          <a:noFill/>
          <a:ln w="9525" cap="flat" cmpd="sng">
            <a:solidFill>
              <a:schemeClr val="dk2"/>
            </a:solidFill>
            <a:prstDash val="solid"/>
            <a:round/>
            <a:headEnd type="none" w="med" len="med"/>
            <a:tailEnd type="triangle" w="med" len="med"/>
          </a:ln>
        </p:spPr>
      </p:cxnSp>
      <p:cxnSp>
        <p:nvCxnSpPr>
          <p:cNvPr id="248" name="Google Shape;248;p27"/>
          <p:cNvCxnSpPr>
            <a:stCxn id="242" idx="2"/>
            <a:endCxn id="245" idx="0"/>
          </p:cNvCxnSpPr>
          <p:nvPr/>
        </p:nvCxnSpPr>
        <p:spPr>
          <a:xfrm>
            <a:off x="4158725" y="3638100"/>
            <a:ext cx="514200" cy="460500"/>
          </a:xfrm>
          <a:prstGeom prst="straightConnector1">
            <a:avLst/>
          </a:prstGeom>
          <a:noFill/>
          <a:ln w="9525" cap="flat" cmpd="sng">
            <a:solidFill>
              <a:schemeClr val="dk2"/>
            </a:solidFill>
            <a:prstDash val="solid"/>
            <a:round/>
            <a:headEnd type="none" w="med" len="med"/>
            <a:tailEnd type="triangle" w="med" len="med"/>
          </a:ln>
        </p:spPr>
      </p:cxnSp>
      <p:graphicFrame>
        <p:nvGraphicFramePr>
          <p:cNvPr id="249" name="Google Shape;249;p27"/>
          <p:cNvGraphicFramePr/>
          <p:nvPr/>
        </p:nvGraphicFramePr>
        <p:xfrm>
          <a:off x="4672975" y="2882025"/>
          <a:ext cx="765700" cy="2406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40600">
                <a:tc>
                  <a:txBody>
                    <a:bodyPr/>
                    <a:lstStyle/>
                    <a:p>
                      <a:pPr marL="0" lvl="0" indent="0" algn="l" rtl="0">
                        <a:spcBef>
                          <a:spcPts val="0"/>
                        </a:spcBef>
                        <a:spcAft>
                          <a:spcPts val="0"/>
                        </a:spcAft>
                        <a:buNone/>
                      </a:pPr>
                      <a:endParaRPr sz="100"/>
                    </a:p>
                  </a:txBody>
                  <a:tcPr marL="91425" marR="91425" marT="91425" marB="91425"/>
                </a:tc>
                <a:tc>
                  <a:txBody>
                    <a:bodyPr/>
                    <a:lstStyle/>
                    <a:p>
                      <a:pPr marL="0" lvl="0" indent="0" algn="l" rtl="0">
                        <a:spcBef>
                          <a:spcPts val="0"/>
                        </a:spcBef>
                        <a:spcAft>
                          <a:spcPts val="0"/>
                        </a:spcAft>
                        <a:buNone/>
                      </a:pPr>
                      <a:endParaRPr sz="100"/>
                    </a:p>
                  </a:txBody>
                  <a:tcPr marL="91425" marR="91425" marT="91425" marB="91425"/>
                </a:tc>
                <a:extLst>
                  <a:ext uri="{0D108BD9-81ED-4DB2-BD59-A6C34878D82A}">
                    <a16:rowId xmlns:a16="http://schemas.microsoft.com/office/drawing/2014/main" val="10000"/>
                  </a:ext>
                </a:extLst>
              </a:tr>
            </a:tbl>
          </a:graphicData>
        </a:graphic>
      </p:graphicFrame>
      <p:sp>
        <p:nvSpPr>
          <p:cNvPr id="250" name="Google Shape;250;p27"/>
          <p:cNvSpPr/>
          <p:nvPr/>
        </p:nvSpPr>
        <p:spPr>
          <a:xfrm>
            <a:off x="4673025" y="3397500"/>
            <a:ext cx="765600" cy="24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Router t</a:t>
            </a:r>
            <a:endParaRPr sz="1200"/>
          </a:p>
        </p:txBody>
      </p:sp>
      <p:cxnSp>
        <p:nvCxnSpPr>
          <p:cNvPr id="251" name="Google Shape;251;p27"/>
          <p:cNvCxnSpPr/>
          <p:nvPr/>
        </p:nvCxnSpPr>
        <p:spPr>
          <a:xfrm flipH="1">
            <a:off x="5054625" y="3135875"/>
            <a:ext cx="2400" cy="244500"/>
          </a:xfrm>
          <a:prstGeom prst="straightConnector1">
            <a:avLst/>
          </a:prstGeom>
          <a:noFill/>
          <a:ln w="9525" cap="flat" cmpd="sng">
            <a:solidFill>
              <a:schemeClr val="dk2"/>
            </a:solidFill>
            <a:prstDash val="solid"/>
            <a:round/>
            <a:headEnd type="none" w="med" len="med"/>
            <a:tailEnd type="triangle" w="med" len="med"/>
          </a:ln>
        </p:spPr>
      </p:cxnSp>
      <p:cxnSp>
        <p:nvCxnSpPr>
          <p:cNvPr id="252" name="Google Shape;252;p27"/>
          <p:cNvCxnSpPr>
            <a:endCxn id="246" idx="0"/>
          </p:cNvCxnSpPr>
          <p:nvPr/>
        </p:nvCxnSpPr>
        <p:spPr>
          <a:xfrm>
            <a:off x="5044850" y="3638025"/>
            <a:ext cx="313800" cy="460500"/>
          </a:xfrm>
          <a:prstGeom prst="straightConnector1">
            <a:avLst/>
          </a:prstGeom>
          <a:noFill/>
          <a:ln w="9525" cap="flat" cmpd="sng">
            <a:solidFill>
              <a:schemeClr val="dk2"/>
            </a:solidFill>
            <a:prstDash val="solid"/>
            <a:round/>
            <a:headEnd type="none" w="med" len="med"/>
            <a:tailEnd type="triangle" w="med" len="med"/>
          </a:ln>
        </p:spPr>
      </p:cxnSp>
      <p:sp>
        <p:nvSpPr>
          <p:cNvPr id="253" name="Google Shape;253;p27"/>
          <p:cNvSpPr/>
          <p:nvPr/>
        </p:nvSpPr>
        <p:spPr>
          <a:xfrm>
            <a:off x="2020738" y="4049875"/>
            <a:ext cx="627600" cy="306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Expert 4</a:t>
            </a:r>
            <a:endParaRPr sz="1000"/>
          </a:p>
        </p:txBody>
      </p:sp>
      <p:cxnSp>
        <p:nvCxnSpPr>
          <p:cNvPr id="254" name="Google Shape;254;p27"/>
          <p:cNvCxnSpPr>
            <a:stCxn id="238" idx="2"/>
            <a:endCxn id="253" idx="0"/>
          </p:cNvCxnSpPr>
          <p:nvPr/>
        </p:nvCxnSpPr>
        <p:spPr>
          <a:xfrm>
            <a:off x="1948050" y="3636150"/>
            <a:ext cx="386400" cy="413700"/>
          </a:xfrm>
          <a:prstGeom prst="straightConnector1">
            <a:avLst/>
          </a:prstGeom>
          <a:noFill/>
          <a:ln w="9525" cap="flat" cmpd="sng">
            <a:solidFill>
              <a:schemeClr val="dk2"/>
            </a:solidFill>
            <a:prstDash val="solid"/>
            <a:round/>
            <a:headEnd type="none" w="med" len="med"/>
            <a:tailEnd type="triangle" w="med" len="med"/>
          </a:ln>
        </p:spPr>
      </p:cxnSp>
      <p:sp>
        <p:nvSpPr>
          <p:cNvPr id="255" name="Google Shape;255;p27"/>
          <p:cNvSpPr txBox="1"/>
          <p:nvPr/>
        </p:nvSpPr>
        <p:spPr>
          <a:xfrm>
            <a:off x="3877500" y="2271775"/>
            <a:ext cx="1389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Modality Specific Routers</a:t>
            </a:r>
            <a:endParaRPr sz="1200">
              <a:solidFill>
                <a:schemeClr val="dk1"/>
              </a:solidFill>
            </a:endParaRPr>
          </a:p>
        </p:txBody>
      </p:sp>
      <p:cxnSp>
        <p:nvCxnSpPr>
          <p:cNvPr id="256" name="Google Shape;256;p27"/>
          <p:cNvCxnSpPr>
            <a:stCxn id="250" idx="2"/>
            <a:endCxn id="245" idx="0"/>
          </p:cNvCxnSpPr>
          <p:nvPr/>
        </p:nvCxnSpPr>
        <p:spPr>
          <a:xfrm flipH="1">
            <a:off x="4672725" y="3638100"/>
            <a:ext cx="383100" cy="460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311700" y="317749"/>
            <a:ext cx="8520600" cy="572700"/>
          </a:xfrm>
          <a:prstGeom prst="rect">
            <a:avLst/>
          </a:prstGeom>
        </p:spPr>
        <p:txBody>
          <a:bodyPr spcFirstLastPara="1" wrap="square" lIns="91425" tIns="91425" rIns="91425" bIns="91425" anchor="t" anchorCtr="0">
            <a:normAutofit/>
          </a:bodyPr>
          <a:lstStyle/>
          <a:p>
            <a:pPr lvl="0"/>
            <a:r>
              <a:rPr lang="en" sz="2500">
                <a:solidFill>
                  <a:schemeClr val="tx1"/>
                </a:solidFill>
              </a:rPr>
              <a:t>FuseMoE – BioMedical Multimodal MoE </a:t>
            </a:r>
            <a:endParaRPr sz="2500">
              <a:solidFill>
                <a:schemeClr val="tx1"/>
              </a:solidFill>
            </a:endParaRPr>
          </a:p>
        </p:txBody>
      </p:sp>
      <p:pic>
        <p:nvPicPr>
          <p:cNvPr id="187" name="Google Shape;187;p25"/>
          <p:cNvPicPr preferRelativeResize="0"/>
          <p:nvPr/>
        </p:nvPicPr>
        <p:blipFill>
          <a:blip r:embed="rId3">
            <a:alphaModFix/>
          </a:blip>
          <a:stretch>
            <a:fillRect/>
          </a:stretch>
        </p:blipFill>
        <p:spPr>
          <a:xfrm>
            <a:off x="831150" y="1017725"/>
            <a:ext cx="7481723" cy="2611976"/>
          </a:xfrm>
          <a:prstGeom prst="rect">
            <a:avLst/>
          </a:prstGeom>
          <a:noFill/>
          <a:ln>
            <a:noFill/>
          </a:ln>
        </p:spPr>
      </p:pic>
      <p:cxnSp>
        <p:nvCxnSpPr>
          <p:cNvPr id="191" name="Google Shape;191;p25"/>
          <p:cNvCxnSpPr>
            <a:stCxn id="192" idx="0"/>
          </p:cNvCxnSpPr>
          <p:nvPr/>
        </p:nvCxnSpPr>
        <p:spPr>
          <a:xfrm rot="10800000" flipH="1">
            <a:off x="3465758" y="2679900"/>
            <a:ext cx="469500" cy="949800"/>
          </a:xfrm>
          <a:prstGeom prst="straightConnector1">
            <a:avLst/>
          </a:prstGeom>
          <a:noFill/>
          <a:ln w="19050" cap="flat" cmpd="sng">
            <a:solidFill>
              <a:schemeClr val="dk1"/>
            </a:solidFill>
            <a:prstDash val="solid"/>
            <a:round/>
            <a:headEnd type="none" w="med" len="med"/>
            <a:tailEnd type="triangle" w="med" len="med"/>
          </a:ln>
        </p:spPr>
      </p:cxnSp>
      <p:sp>
        <p:nvSpPr>
          <p:cNvPr id="193" name="Google Shape;193;p25"/>
          <p:cNvSpPr txBox="1"/>
          <p:nvPr/>
        </p:nvSpPr>
        <p:spPr>
          <a:xfrm>
            <a:off x="4938900" y="3794050"/>
            <a:ext cx="2002800" cy="738900"/>
          </a:xfrm>
          <a:prstGeom prst="rect">
            <a:avLst/>
          </a:prstGeom>
          <a:solidFill>
            <a:srgbClr val="F3F3F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weighted through a gating</a:t>
            </a:r>
            <a:endParaRPr sz="1200"/>
          </a:p>
          <a:p>
            <a:pPr marL="0" marR="0" lvl="0" indent="0" algn="l" rtl="0">
              <a:lnSpc>
                <a:spcPct val="100000"/>
              </a:lnSpc>
              <a:spcBef>
                <a:spcPts val="0"/>
              </a:spcBef>
              <a:spcAft>
                <a:spcPts val="0"/>
              </a:spcAft>
              <a:buNone/>
            </a:pPr>
            <a:r>
              <a:rPr lang="en" sz="1200"/>
              <a:t>function, resulting in fused embeddings</a:t>
            </a:r>
            <a:endParaRPr sz="1200"/>
          </a:p>
        </p:txBody>
      </p:sp>
      <p:cxnSp>
        <p:nvCxnSpPr>
          <p:cNvPr id="194" name="Google Shape;194;p25"/>
          <p:cNvCxnSpPr/>
          <p:nvPr/>
        </p:nvCxnSpPr>
        <p:spPr>
          <a:xfrm rot="10800000">
            <a:off x="5583375" y="2841550"/>
            <a:ext cx="286200" cy="952500"/>
          </a:xfrm>
          <a:prstGeom prst="straightConnector1">
            <a:avLst/>
          </a:prstGeom>
          <a:noFill/>
          <a:ln w="19050" cap="flat" cmpd="sng">
            <a:solidFill>
              <a:schemeClr val="dk1"/>
            </a:solidFill>
            <a:prstDash val="solid"/>
            <a:round/>
            <a:headEnd type="none" w="med" len="med"/>
            <a:tailEnd type="triangle" w="med" len="med"/>
          </a:ln>
        </p:spPr>
      </p:cxnSp>
      <p:pic>
        <p:nvPicPr>
          <p:cNvPr id="192" name="Google Shape;192;p25"/>
          <p:cNvPicPr preferRelativeResize="0"/>
          <p:nvPr/>
        </p:nvPicPr>
        <p:blipFill>
          <a:blip r:embed="rId4">
            <a:alphaModFix/>
          </a:blip>
          <a:stretch>
            <a:fillRect/>
          </a:stretch>
        </p:blipFill>
        <p:spPr>
          <a:xfrm>
            <a:off x="2580575" y="3629700"/>
            <a:ext cx="1770367" cy="1379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a:extLst>
            <a:ext uri="{FF2B5EF4-FFF2-40B4-BE49-F238E27FC236}">
              <a16:creationId xmlns:a16="http://schemas.microsoft.com/office/drawing/2014/main" id="{40E966E5-4A5F-CB91-6D07-64477A14C985}"/>
            </a:ext>
          </a:extLst>
        </p:cNvPr>
        <p:cNvGrpSpPr/>
        <p:nvPr/>
      </p:nvGrpSpPr>
      <p:grpSpPr>
        <a:xfrm>
          <a:off x="0" y="0"/>
          <a:ext cx="0" cy="0"/>
          <a:chOff x="0" y="0"/>
          <a:chExt cx="0" cy="0"/>
        </a:xfrm>
      </p:grpSpPr>
      <p:sp>
        <p:nvSpPr>
          <p:cNvPr id="107" name="Google Shape;107;p17">
            <a:extLst>
              <a:ext uri="{FF2B5EF4-FFF2-40B4-BE49-F238E27FC236}">
                <a16:creationId xmlns:a16="http://schemas.microsoft.com/office/drawing/2014/main" id="{8BB8BB66-2346-C9F6-CCF1-334FDFA07F77}"/>
              </a:ext>
            </a:extLst>
          </p:cNvPr>
          <p:cNvSpPr/>
          <p:nvPr/>
        </p:nvSpPr>
        <p:spPr>
          <a:xfrm>
            <a:off x="1635109" y="1553814"/>
            <a:ext cx="7509000" cy="2035800"/>
          </a:xfrm>
          <a:prstGeom prst="rect">
            <a:avLst/>
          </a:prstGeom>
          <a:noFill/>
          <a:ln>
            <a:noFill/>
          </a:ln>
        </p:spPr>
        <p:txBody>
          <a:bodyPr spcFirstLastPara="1" wrap="square" lIns="34275" tIns="45700" rIns="34275" bIns="45700" anchor="ctr" anchorCtr="0">
            <a:noAutofit/>
          </a:bodyPr>
          <a:lstStyle/>
          <a:p>
            <a:pPr marL="0" marR="0" lvl="0" indent="0" algn="ctr" rtl="0">
              <a:lnSpc>
                <a:spcPct val="100000"/>
              </a:lnSpc>
              <a:spcBef>
                <a:spcPts val="0"/>
              </a:spcBef>
              <a:spcAft>
                <a:spcPts val="0"/>
              </a:spcAft>
              <a:buClr>
                <a:schemeClr val="accent2"/>
              </a:buClr>
              <a:buSzPts val="1350"/>
              <a:buFont typeface="Calibri"/>
              <a:buNone/>
            </a:pPr>
            <a:endParaRPr sz="1350" b="0" i="0" u="none" strike="noStrike" cap="none">
              <a:solidFill>
                <a:schemeClr val="lt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B678D883-290D-F5F2-1D9D-EB4A953E3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62" y="4925962"/>
            <a:ext cx="1292206" cy="11700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Google Shape;114;p17">
            <a:extLst>
              <a:ext uri="{FF2B5EF4-FFF2-40B4-BE49-F238E27FC236}">
                <a16:creationId xmlns:a16="http://schemas.microsoft.com/office/drawing/2014/main" id="{81ED0D81-FDE2-846C-8720-19F0F03CD869}"/>
              </a:ext>
            </a:extLst>
          </p:cNvPr>
          <p:cNvCxnSpPr>
            <a:cxnSpLocks/>
          </p:cNvCxnSpPr>
          <p:nvPr/>
        </p:nvCxnSpPr>
        <p:spPr>
          <a:xfrm>
            <a:off x="0" y="4829585"/>
            <a:ext cx="1787505" cy="0"/>
          </a:xfrm>
          <a:prstGeom prst="straightConnector1">
            <a:avLst/>
          </a:prstGeom>
          <a:noFill/>
          <a:ln w="9525" cap="flat" cmpd="sng">
            <a:solidFill>
              <a:schemeClr val="lt2"/>
            </a:solidFill>
            <a:prstDash val="dash"/>
            <a:miter lim="8000"/>
            <a:headEnd type="none" w="sm" len="sm"/>
            <a:tailEnd type="none" w="sm" len="sm"/>
          </a:ln>
        </p:spPr>
      </p:cxnSp>
      <p:sp>
        <p:nvSpPr>
          <p:cNvPr id="6" name="Google Shape;98;p10">
            <a:extLst>
              <a:ext uri="{FF2B5EF4-FFF2-40B4-BE49-F238E27FC236}">
                <a16:creationId xmlns:a16="http://schemas.microsoft.com/office/drawing/2014/main" id="{1FDE19A2-5804-DA5C-B45D-BCC8CEB4DA97}"/>
              </a:ext>
            </a:extLst>
          </p:cNvPr>
          <p:cNvSpPr/>
          <p:nvPr/>
        </p:nvSpPr>
        <p:spPr>
          <a:xfrm>
            <a:off x="893752" y="2469288"/>
            <a:ext cx="7869900" cy="824700"/>
          </a:xfrm>
          <a:prstGeom prst="rect">
            <a:avLst/>
          </a:prstGeom>
          <a:noFill/>
          <a:ln>
            <a:noFill/>
          </a:ln>
        </p:spPr>
        <p:txBody>
          <a:bodyPr spcFirstLastPara="1" wrap="square" lIns="34275" tIns="45700" rIns="34275" bIns="45700" anchor="b" anchorCtr="0">
            <a:noAutofit/>
          </a:bodyPr>
          <a:lstStyle/>
          <a:p>
            <a:pPr lvl="0">
              <a:lnSpc>
                <a:spcPct val="150000"/>
              </a:lnSpc>
              <a:buClr>
                <a:schemeClr val="lt1"/>
              </a:buClr>
              <a:buSzPts val="1313"/>
            </a:pPr>
            <a:r>
              <a:rPr lang="en-US" sz="3200">
                <a:solidFill>
                  <a:schemeClr val="lt1"/>
                </a:solidFill>
                <a:latin typeface="+mj-lt"/>
                <a:ea typeface="Crimson Text"/>
                <a:cs typeface="Crimson Text"/>
                <a:sym typeface="Crimson Text"/>
              </a:rPr>
              <a:t>Multimodal LLM </a:t>
            </a:r>
            <a:br>
              <a:rPr lang="en-US" sz="3200">
                <a:solidFill>
                  <a:schemeClr val="lt1"/>
                </a:solidFill>
                <a:latin typeface="+mj-lt"/>
                <a:ea typeface="Crimson Text"/>
                <a:cs typeface="Crimson Text"/>
                <a:sym typeface="Crimson Text"/>
              </a:rPr>
            </a:br>
            <a:r>
              <a:rPr lang="en-US" sz="3200">
                <a:solidFill>
                  <a:schemeClr val="lt1"/>
                </a:solidFill>
                <a:latin typeface="+mj-lt"/>
                <a:ea typeface="Crimson Text"/>
                <a:cs typeface="Crimson Text"/>
                <a:sym typeface="Crimson Text"/>
              </a:rPr>
              <a:t>– Multimodal is how people seen the world</a:t>
            </a:r>
          </a:p>
        </p:txBody>
      </p:sp>
    </p:spTree>
    <p:extLst>
      <p:ext uri="{BB962C8B-B14F-4D97-AF65-F5344CB8AC3E}">
        <p14:creationId xmlns:p14="http://schemas.microsoft.com/office/powerpoint/2010/main" val="969711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149E9-F135-92DA-57BF-72079D59AA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6B086D-04C2-00E5-567A-0D73D81E5C50}"/>
              </a:ext>
            </a:extLst>
          </p:cNvPr>
          <p:cNvSpPr txBox="1"/>
          <p:nvPr/>
        </p:nvSpPr>
        <p:spPr>
          <a:xfrm>
            <a:off x="558266" y="379054"/>
            <a:ext cx="4581624" cy="477054"/>
          </a:xfrm>
          <a:prstGeom prst="rect">
            <a:avLst/>
          </a:prstGeom>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a:t>LLM can Read and See</a:t>
            </a:r>
          </a:p>
        </p:txBody>
      </p:sp>
      <p:sp>
        <p:nvSpPr>
          <p:cNvPr id="5" name="TextBox 4">
            <a:extLst>
              <a:ext uri="{FF2B5EF4-FFF2-40B4-BE49-F238E27FC236}">
                <a16:creationId xmlns:a16="http://schemas.microsoft.com/office/drawing/2014/main" id="{474369F5-8DA7-2253-09BD-FC7253691667}"/>
              </a:ext>
            </a:extLst>
          </p:cNvPr>
          <p:cNvSpPr txBox="1"/>
          <p:nvPr/>
        </p:nvSpPr>
        <p:spPr>
          <a:xfrm>
            <a:off x="558266" y="936421"/>
            <a:ext cx="8210349" cy="2031325"/>
          </a:xfrm>
          <a:prstGeom prst="rect">
            <a:avLst/>
          </a:prstGeom>
          <a:noFill/>
        </p:spPr>
        <p:txBody>
          <a:bodyPr wrap="square">
            <a:spAutoFit/>
          </a:bodyPr>
          <a:lstStyle/>
          <a:p>
            <a:r>
              <a:rPr lang="en-US" b="1"/>
              <a:t>What are Multimodal Large Language Models?</a:t>
            </a:r>
            <a:endParaRPr lang="en-US"/>
          </a:p>
          <a:p>
            <a:r>
              <a:rPr lang="en-US"/>
              <a:t>Multimodal Large Language Models (MM-LLMs) extend traditional LLMs by integrating additional modalities—such as images, audio, and video—alongside text. This allows the models to understand, reason about, and generate content that spans multiple types of data, not just language.</a:t>
            </a:r>
            <a:br>
              <a:rPr lang="en-US"/>
            </a:br>
            <a:r>
              <a:rPr lang="en-US" sz="1000"/>
              <a:t> </a:t>
            </a:r>
          </a:p>
          <a:p>
            <a:r>
              <a:rPr lang="en-US"/>
              <a:t>For example, an MM-LLM can:</a:t>
            </a:r>
          </a:p>
          <a:p>
            <a:pPr marL="285750" indent="-285750">
              <a:buFont typeface="Arial" panose="020B0604020202020204" pitchFamily="34" charset="0"/>
              <a:buChar char="•"/>
            </a:pPr>
            <a:r>
              <a:rPr lang="en-US" b="1"/>
              <a:t>Comprehend and analyze</a:t>
            </a:r>
            <a:r>
              <a:rPr lang="en-US"/>
              <a:t> combinations of text, images, and audio within a video</a:t>
            </a:r>
          </a:p>
          <a:p>
            <a:pPr marL="285750" indent="-285750">
              <a:buFont typeface="Arial" panose="020B0604020202020204" pitchFamily="34" charset="0"/>
              <a:buChar char="•"/>
            </a:pPr>
            <a:r>
              <a:rPr lang="en-US" b="1"/>
              <a:t>Generate textual descriptions</a:t>
            </a:r>
            <a:r>
              <a:rPr lang="en-US"/>
              <a:t> (captions) for images or videos</a:t>
            </a:r>
          </a:p>
          <a:p>
            <a:pPr marL="285750" indent="-285750">
              <a:buFont typeface="Arial" panose="020B0604020202020204" pitchFamily="34" charset="0"/>
              <a:buChar char="•"/>
            </a:pPr>
            <a:r>
              <a:rPr lang="en-US" b="1"/>
              <a:t>Create images or videos</a:t>
            </a:r>
            <a:r>
              <a:rPr lang="en-US"/>
              <a:t> from text prompts or combine audio narration with visuals</a:t>
            </a:r>
          </a:p>
        </p:txBody>
      </p:sp>
      <p:pic>
        <p:nvPicPr>
          <p:cNvPr id="10242" name="Picture 2">
            <a:extLst>
              <a:ext uri="{FF2B5EF4-FFF2-40B4-BE49-F238E27FC236}">
                <a16:creationId xmlns:a16="http://schemas.microsoft.com/office/drawing/2014/main" id="{9FD08268-E3AC-F30A-029D-6D379061E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168" y="3221756"/>
            <a:ext cx="5866597" cy="1833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426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99D0-AC34-2A88-8E50-792A4C3384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E44DBE-DA06-3D65-EC51-BDEEAD7F15CF}"/>
              </a:ext>
            </a:extLst>
          </p:cNvPr>
          <p:cNvSpPr txBox="1"/>
          <p:nvPr/>
        </p:nvSpPr>
        <p:spPr>
          <a:xfrm>
            <a:off x="558265" y="37905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LLaVA</a:t>
            </a:r>
            <a:r>
              <a:rPr lang="en-US" b="1"/>
              <a:t>: Large Language and Vision Assistant</a:t>
            </a:r>
          </a:p>
        </p:txBody>
      </p:sp>
      <p:pic>
        <p:nvPicPr>
          <p:cNvPr id="11266" name="Picture 2" descr="blog_image_3447">
            <a:extLst>
              <a:ext uri="{FF2B5EF4-FFF2-40B4-BE49-F238E27FC236}">
                <a16:creationId xmlns:a16="http://schemas.microsoft.com/office/drawing/2014/main" id="{C791E18A-5917-E1DB-ADD4-79FBE879E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1103" y="1097574"/>
            <a:ext cx="5309985" cy="16755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39472D-9009-6BAE-869F-CB64D235130E}"/>
              </a:ext>
            </a:extLst>
          </p:cNvPr>
          <p:cNvSpPr txBox="1"/>
          <p:nvPr/>
        </p:nvSpPr>
        <p:spPr>
          <a:xfrm>
            <a:off x="38910" y="4859285"/>
            <a:ext cx="7665396" cy="230832"/>
          </a:xfrm>
          <a:prstGeom prst="rect">
            <a:avLst/>
          </a:prstGeom>
          <a:noFill/>
        </p:spPr>
        <p:txBody>
          <a:bodyPr wrap="square">
            <a:spAutoFit/>
          </a:bodyPr>
          <a:lstStyle/>
          <a:p>
            <a:r>
              <a:rPr lang="en-US" sz="900" b="0" i="1">
                <a:solidFill>
                  <a:srgbClr val="222222"/>
                </a:solidFill>
                <a:effectLst/>
                <a:latin typeface="Arial" panose="020B0604020202020204" pitchFamily="34" charset="0"/>
              </a:rPr>
              <a:t>Liu, Haotian, et al. "Visual instruction tuning." Advances in neural information processing systems 36 (2023): 34892-34916.</a:t>
            </a:r>
            <a:endParaRPr lang="en-US" sz="900" i="1"/>
          </a:p>
        </p:txBody>
      </p:sp>
      <p:sp>
        <p:nvSpPr>
          <p:cNvPr id="6" name="TextBox 5">
            <a:extLst>
              <a:ext uri="{FF2B5EF4-FFF2-40B4-BE49-F238E27FC236}">
                <a16:creationId xmlns:a16="http://schemas.microsoft.com/office/drawing/2014/main" id="{8FFC06C2-7EFE-A7B4-5EB9-BAC620168B97}"/>
              </a:ext>
            </a:extLst>
          </p:cNvPr>
          <p:cNvSpPr txBox="1"/>
          <p:nvPr/>
        </p:nvSpPr>
        <p:spPr>
          <a:xfrm>
            <a:off x="558265" y="1252952"/>
            <a:ext cx="2919373" cy="738664"/>
          </a:xfrm>
          <a:prstGeom prst="rect">
            <a:avLst/>
          </a:prstGeom>
          <a:solidFill>
            <a:srgbClr val="E0E0E0"/>
          </a:solidFill>
        </p:spPr>
        <p:txBody>
          <a:bodyPr wrap="square" lIns="91440" tIns="45720" rIns="91440" bIns="45720" anchor="t">
            <a:spAutoFit/>
          </a:bodyPr>
          <a:lstStyle/>
          <a:p>
            <a:r>
              <a:rPr lang="en-US" b="0" i="0" err="1">
                <a:solidFill>
                  <a:srgbClr val="292929"/>
                </a:solidFill>
                <a:effectLst/>
                <a:latin typeface="Inter"/>
              </a:rPr>
              <a:t>LLaVA</a:t>
            </a:r>
            <a:r>
              <a:rPr lang="en-US" b="0" i="0">
                <a:solidFill>
                  <a:srgbClr val="292929"/>
                </a:solidFill>
                <a:effectLst/>
                <a:latin typeface="Inter"/>
              </a:rPr>
              <a:t> relies on the pre-trained CLIP visual encoder for visual content processing.</a:t>
            </a:r>
            <a:endParaRPr lang="en-US">
              <a:solidFill>
                <a:srgbClr val="292929"/>
              </a:solidFill>
              <a:latin typeface="Inter"/>
            </a:endParaRPr>
          </a:p>
        </p:txBody>
      </p:sp>
      <p:sp>
        <p:nvSpPr>
          <p:cNvPr id="8" name="TextBox 7">
            <a:extLst>
              <a:ext uri="{FF2B5EF4-FFF2-40B4-BE49-F238E27FC236}">
                <a16:creationId xmlns:a16="http://schemas.microsoft.com/office/drawing/2014/main" id="{BF0B77E0-4B07-7610-9127-16EBCC7D832B}"/>
              </a:ext>
            </a:extLst>
          </p:cNvPr>
          <p:cNvSpPr txBox="1"/>
          <p:nvPr/>
        </p:nvSpPr>
        <p:spPr>
          <a:xfrm>
            <a:off x="3871607" y="3015343"/>
            <a:ext cx="2492976" cy="523220"/>
          </a:xfrm>
          <a:prstGeom prst="rect">
            <a:avLst/>
          </a:prstGeom>
          <a:solidFill>
            <a:srgbClr val="C1E1FF"/>
          </a:solidFill>
        </p:spPr>
        <p:txBody>
          <a:bodyPr wrap="square">
            <a:spAutoFit/>
          </a:bodyPr>
          <a:lstStyle/>
          <a:p>
            <a:r>
              <a:rPr lang="en-US" b="0" i="0">
                <a:solidFill>
                  <a:srgbClr val="292929"/>
                </a:solidFill>
                <a:effectLst/>
                <a:latin typeface="Inter"/>
              </a:rPr>
              <a:t>1. The encoder extracts visual features from input images</a:t>
            </a:r>
            <a:endParaRPr lang="en-US"/>
          </a:p>
        </p:txBody>
      </p:sp>
      <p:cxnSp>
        <p:nvCxnSpPr>
          <p:cNvPr id="10" name="Straight Arrow Connector 9">
            <a:extLst>
              <a:ext uri="{FF2B5EF4-FFF2-40B4-BE49-F238E27FC236}">
                <a16:creationId xmlns:a16="http://schemas.microsoft.com/office/drawing/2014/main" id="{A238C0DD-3122-D805-6D32-125D962256AF}"/>
              </a:ext>
            </a:extLst>
          </p:cNvPr>
          <p:cNvCxnSpPr>
            <a:cxnSpLocks/>
            <a:stCxn id="8" idx="0"/>
          </p:cNvCxnSpPr>
          <p:nvPr/>
        </p:nvCxnSpPr>
        <p:spPr>
          <a:xfrm flipH="1" flipV="1">
            <a:off x="4742234" y="2650787"/>
            <a:ext cx="375861" cy="3645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CD1F8DC-440A-CB7D-585D-3B94813792CB}"/>
              </a:ext>
            </a:extLst>
          </p:cNvPr>
          <p:cNvSpPr txBox="1"/>
          <p:nvPr/>
        </p:nvSpPr>
        <p:spPr>
          <a:xfrm>
            <a:off x="547482" y="2623613"/>
            <a:ext cx="2924765" cy="738664"/>
          </a:xfrm>
          <a:prstGeom prst="rect">
            <a:avLst/>
          </a:prstGeom>
          <a:solidFill>
            <a:srgbClr val="F5E5D9"/>
          </a:solidFill>
        </p:spPr>
        <p:txBody>
          <a:bodyPr wrap="square">
            <a:spAutoFit/>
          </a:bodyPr>
          <a:lstStyle/>
          <a:p>
            <a:r>
              <a:rPr lang="en-US" b="0" i="0">
                <a:solidFill>
                  <a:srgbClr val="292929"/>
                </a:solidFill>
                <a:effectLst/>
                <a:latin typeface="Inter"/>
              </a:rPr>
              <a:t>2. The visual features are connected to language embeddings through a trainable projection matrix</a:t>
            </a:r>
            <a:endParaRPr lang="en-US"/>
          </a:p>
        </p:txBody>
      </p:sp>
      <p:cxnSp>
        <p:nvCxnSpPr>
          <p:cNvPr id="14" name="Straight Arrow Connector 13">
            <a:extLst>
              <a:ext uri="{FF2B5EF4-FFF2-40B4-BE49-F238E27FC236}">
                <a16:creationId xmlns:a16="http://schemas.microsoft.com/office/drawing/2014/main" id="{942E9F20-AF94-2DDF-EA1C-2BBEB48330F7}"/>
              </a:ext>
            </a:extLst>
          </p:cNvPr>
          <p:cNvCxnSpPr>
            <a:stCxn id="11" idx="3"/>
          </p:cNvCxnSpPr>
          <p:nvPr/>
        </p:nvCxnSpPr>
        <p:spPr>
          <a:xfrm flipV="1">
            <a:off x="3472247" y="2266545"/>
            <a:ext cx="491774" cy="726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921ABC-AAC6-F86F-5ECE-22AE42AC1B42}"/>
              </a:ext>
            </a:extLst>
          </p:cNvPr>
          <p:cNvSpPr txBox="1"/>
          <p:nvPr/>
        </p:nvSpPr>
        <p:spPr>
          <a:xfrm>
            <a:off x="535019" y="3881269"/>
            <a:ext cx="4581728" cy="738664"/>
          </a:xfrm>
          <a:prstGeom prst="rect">
            <a:avLst/>
          </a:prstGeom>
          <a:solidFill>
            <a:srgbClr val="E0E0E0"/>
          </a:solidFill>
        </p:spPr>
        <p:txBody>
          <a:bodyPr wrap="square">
            <a:spAutoFit/>
          </a:bodyPr>
          <a:lstStyle>
            <a:defPPr marR="0" lvl="0" algn="l" rtl="0">
              <a:lnSpc>
                <a:spcPct val="100000"/>
              </a:lnSpc>
              <a:spcBef>
                <a:spcPts val="0"/>
              </a:spcBef>
              <a:spcAft>
                <a:spcPts val="0"/>
              </a:spcAft>
            </a:defPPr>
            <a:lvl1pPr>
              <a:defRPr>
                <a:solidFill>
                  <a:srgbClr val="292929"/>
                </a:solidFill>
                <a:effectLst/>
                <a:latin typeface="Inter"/>
              </a:defRPr>
            </a:lvl1pPr>
          </a:lstStyle>
          <a:p>
            <a:r>
              <a:rPr lang="en-US"/>
              <a:t>This projection effectively translates visual features into language embedding tokens, thereby bridging the gap between text and images.</a:t>
            </a:r>
          </a:p>
        </p:txBody>
      </p:sp>
      <p:sp>
        <p:nvSpPr>
          <p:cNvPr id="17" name="TextBox 16">
            <a:extLst>
              <a:ext uri="{FF2B5EF4-FFF2-40B4-BE49-F238E27FC236}">
                <a16:creationId xmlns:a16="http://schemas.microsoft.com/office/drawing/2014/main" id="{3BFAD437-7148-5158-F831-60E6F1733A34}"/>
              </a:ext>
            </a:extLst>
          </p:cNvPr>
          <p:cNvSpPr txBox="1"/>
          <p:nvPr/>
        </p:nvSpPr>
        <p:spPr>
          <a:xfrm>
            <a:off x="6364583" y="3846225"/>
            <a:ext cx="2290339" cy="738664"/>
          </a:xfrm>
          <a:prstGeom prst="rect">
            <a:avLst/>
          </a:prstGeom>
          <a:solidFill>
            <a:srgbClr val="E7F2E1"/>
          </a:solidFill>
        </p:spPr>
        <p:txBody>
          <a:bodyPr wrap="square">
            <a:spAutoFit/>
          </a:bodyPr>
          <a:lstStyle/>
          <a:p>
            <a:r>
              <a:rPr lang="en-US" err="1">
                <a:solidFill>
                  <a:srgbClr val="292929"/>
                </a:solidFill>
                <a:latin typeface="Inter"/>
              </a:rPr>
              <a:t>LLaVA</a:t>
            </a:r>
            <a:r>
              <a:rPr lang="en-US">
                <a:solidFill>
                  <a:srgbClr val="292929"/>
                </a:solidFill>
                <a:latin typeface="Inter"/>
              </a:rPr>
              <a:t> utilizes the </a:t>
            </a:r>
            <a:r>
              <a:rPr lang="en-US" err="1">
                <a:solidFill>
                  <a:srgbClr val="292929"/>
                </a:solidFill>
                <a:latin typeface="Inter"/>
              </a:rPr>
              <a:t>LLaMA</a:t>
            </a:r>
            <a:r>
              <a:rPr lang="en-US">
                <a:solidFill>
                  <a:srgbClr val="292929"/>
                </a:solidFill>
                <a:latin typeface="Inter"/>
              </a:rPr>
              <a:t> model, which is open-source language-only LLM</a:t>
            </a:r>
          </a:p>
        </p:txBody>
      </p:sp>
      <p:cxnSp>
        <p:nvCxnSpPr>
          <p:cNvPr id="22" name="Connector: Elbow 21">
            <a:extLst>
              <a:ext uri="{FF2B5EF4-FFF2-40B4-BE49-F238E27FC236}">
                <a16:creationId xmlns:a16="http://schemas.microsoft.com/office/drawing/2014/main" id="{12B5DA55-397E-44C9-94BE-C86CE960A273}"/>
              </a:ext>
            </a:extLst>
          </p:cNvPr>
          <p:cNvCxnSpPr>
            <a:cxnSpLocks/>
            <a:stCxn id="17" idx="3"/>
          </p:cNvCxnSpPr>
          <p:nvPr/>
        </p:nvCxnSpPr>
        <p:spPr>
          <a:xfrm flipH="1" flipV="1">
            <a:off x="8652753" y="1597525"/>
            <a:ext cx="2169" cy="2618032"/>
          </a:xfrm>
          <a:prstGeom prst="bentConnector4">
            <a:avLst>
              <a:gd name="adj1" fmla="val -10539419"/>
              <a:gd name="adj2" fmla="val 57054"/>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2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620D7-874D-0CB7-D457-DD9094F368E1}"/>
            </a:ext>
          </a:extLst>
        </p:cNvPr>
        <p:cNvGrpSpPr/>
        <p:nvPr/>
      </p:nvGrpSpPr>
      <p:grpSpPr>
        <a:xfrm>
          <a:off x="0" y="0"/>
          <a:ext cx="0" cy="0"/>
          <a:chOff x="0" y="0"/>
          <a:chExt cx="0" cy="0"/>
        </a:xfrm>
      </p:grpSpPr>
      <p:pic>
        <p:nvPicPr>
          <p:cNvPr id="3" name="Picture 2" descr="blog_image_11382">
            <a:extLst>
              <a:ext uri="{FF2B5EF4-FFF2-40B4-BE49-F238E27FC236}">
                <a16:creationId xmlns:a16="http://schemas.microsoft.com/office/drawing/2014/main" id="{E505E616-D1D4-83D2-49A9-599B13C858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610" r="-101" b="6878"/>
          <a:stretch>
            <a:fillRect/>
          </a:stretch>
        </p:blipFill>
        <p:spPr bwMode="auto">
          <a:xfrm>
            <a:off x="157614" y="2082011"/>
            <a:ext cx="5352319" cy="8332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95D113-6687-2C71-9CEF-7CFA334433AF}"/>
              </a:ext>
            </a:extLst>
          </p:cNvPr>
          <p:cNvSpPr txBox="1"/>
          <p:nvPr/>
        </p:nvSpPr>
        <p:spPr>
          <a:xfrm>
            <a:off x="558265" y="37905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LLaVA</a:t>
            </a:r>
            <a:r>
              <a:rPr lang="en-US" b="1"/>
              <a:t> Example</a:t>
            </a:r>
          </a:p>
        </p:txBody>
      </p:sp>
      <p:sp>
        <p:nvSpPr>
          <p:cNvPr id="4" name="TextBox 3">
            <a:extLst>
              <a:ext uri="{FF2B5EF4-FFF2-40B4-BE49-F238E27FC236}">
                <a16:creationId xmlns:a16="http://schemas.microsoft.com/office/drawing/2014/main" id="{E48E71AB-A37D-2382-2903-8DE216A37C14}"/>
              </a:ext>
            </a:extLst>
          </p:cNvPr>
          <p:cNvSpPr txBox="1"/>
          <p:nvPr/>
        </p:nvSpPr>
        <p:spPr>
          <a:xfrm>
            <a:off x="48637" y="4899193"/>
            <a:ext cx="5107021" cy="230832"/>
          </a:xfrm>
          <a:prstGeom prst="rect">
            <a:avLst/>
          </a:prstGeom>
          <a:noFill/>
        </p:spPr>
        <p:txBody>
          <a:bodyPr wrap="square">
            <a:spAutoFit/>
          </a:bodyPr>
          <a:lstStyle/>
          <a:p>
            <a:r>
              <a:rPr lang="en-US" sz="900" i="1"/>
              <a:t>https://encord.com/blog/llava-large-language-vision-assistant/?utm_source=chatgpt.com</a:t>
            </a:r>
          </a:p>
        </p:txBody>
      </p:sp>
      <p:pic>
        <p:nvPicPr>
          <p:cNvPr id="5" name="Picture 2" descr="blog_image_11382">
            <a:extLst>
              <a:ext uri="{FF2B5EF4-FFF2-40B4-BE49-F238E27FC236}">
                <a16:creationId xmlns:a16="http://schemas.microsoft.com/office/drawing/2014/main" id="{BF0F0DD9-370F-5E58-C056-0A0284D0A3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8608" b="63372"/>
          <a:stretch>
            <a:fillRect/>
          </a:stretch>
        </p:blipFill>
        <p:spPr bwMode="auto">
          <a:xfrm>
            <a:off x="3422173" y="254565"/>
            <a:ext cx="3467739" cy="1565926"/>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blog_image_11382">
            <a:extLst>
              <a:ext uri="{FF2B5EF4-FFF2-40B4-BE49-F238E27FC236}">
                <a16:creationId xmlns:a16="http://schemas.microsoft.com/office/drawing/2014/main" id="{1B844D6A-CD10-EEAE-5002-D46B04A0A3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678" r="-101" b="21576"/>
          <a:stretch>
            <a:fillRect/>
          </a:stretch>
        </p:blipFill>
        <p:spPr bwMode="auto">
          <a:xfrm>
            <a:off x="3613572" y="2656482"/>
            <a:ext cx="5352319" cy="2242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702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FBCC9-60B0-9430-6471-B7E1094AC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33DDFC-1F77-0207-7FEA-A223FE6AF4DA}"/>
              </a:ext>
            </a:extLst>
          </p:cNvPr>
          <p:cNvSpPr txBox="1"/>
          <p:nvPr/>
        </p:nvSpPr>
        <p:spPr>
          <a:xfrm>
            <a:off x="558265" y="37905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LLaVA</a:t>
            </a:r>
            <a:r>
              <a:rPr lang="en-US" b="1"/>
              <a:t>-Med – </a:t>
            </a:r>
            <a:r>
              <a:rPr lang="en-US" b="1" err="1"/>
              <a:t>LLaVA</a:t>
            </a:r>
            <a:r>
              <a:rPr lang="en-US" b="1"/>
              <a:t> for Healthcare</a:t>
            </a:r>
          </a:p>
        </p:txBody>
      </p:sp>
      <p:pic>
        <p:nvPicPr>
          <p:cNvPr id="15362" name="Picture 2">
            <a:extLst>
              <a:ext uri="{FF2B5EF4-FFF2-40B4-BE49-F238E27FC236}">
                <a16:creationId xmlns:a16="http://schemas.microsoft.com/office/drawing/2014/main" id="{90BD1180-1C06-CB02-9790-664527D2B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0786" y="1037138"/>
            <a:ext cx="6682428" cy="19625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489E14-0EC6-070F-72BB-D738014FCB7A}"/>
              </a:ext>
            </a:extLst>
          </p:cNvPr>
          <p:cNvSpPr txBox="1"/>
          <p:nvPr/>
        </p:nvSpPr>
        <p:spPr>
          <a:xfrm>
            <a:off x="393881" y="3065062"/>
            <a:ext cx="3911249" cy="1930216"/>
          </a:xfrm>
          <a:prstGeom prst="rect">
            <a:avLst/>
          </a:prstGeom>
          <a:solidFill>
            <a:srgbClr val="E7F4FF"/>
          </a:solidFill>
        </p:spPr>
        <p:txBody>
          <a:bodyPr wrap="square">
            <a:spAutoFit/>
          </a:bodyPr>
          <a:lstStyle/>
          <a:p>
            <a:pPr>
              <a:lnSpc>
                <a:spcPts val="1800"/>
              </a:lnSpc>
              <a:buNone/>
            </a:pPr>
            <a:r>
              <a:rPr lang="en-US" b="1"/>
              <a:t>Stage 1: Medical Concept Alignment (Pretraining)</a:t>
            </a:r>
          </a:p>
          <a:p>
            <a:pPr>
              <a:lnSpc>
                <a:spcPts val="1800"/>
              </a:lnSpc>
            </a:pPr>
            <a:r>
              <a:rPr lang="en-US"/>
              <a:t>In this stage, the model is exposed to a huge dataset of biomedical images and their captions, called </a:t>
            </a:r>
            <a:r>
              <a:rPr lang="en-US" b="1"/>
              <a:t>PMC-15M</a:t>
            </a:r>
            <a:r>
              <a:rPr lang="en-US"/>
              <a:t>.</a:t>
            </a:r>
          </a:p>
          <a:p>
            <a:pPr>
              <a:lnSpc>
                <a:spcPts val="1800"/>
              </a:lnSpc>
            </a:pPr>
            <a:r>
              <a:rPr lang="en-US" b="1"/>
              <a:t>Goal:</a:t>
            </a:r>
            <a:r>
              <a:rPr lang="en-US"/>
              <a:t> The model learns the </a:t>
            </a:r>
            <a:r>
              <a:rPr lang="en-US" i="1"/>
              <a:t>general language</a:t>
            </a:r>
            <a:r>
              <a:rPr lang="en-US"/>
              <a:t> of biomedical images—what things are called and how they’re described.</a:t>
            </a:r>
          </a:p>
        </p:txBody>
      </p:sp>
      <p:sp>
        <p:nvSpPr>
          <p:cNvPr id="5" name="TextBox 4">
            <a:extLst>
              <a:ext uri="{FF2B5EF4-FFF2-40B4-BE49-F238E27FC236}">
                <a16:creationId xmlns:a16="http://schemas.microsoft.com/office/drawing/2014/main" id="{0E0F3054-36C4-0D99-1D7E-8E334C8420A7}"/>
              </a:ext>
            </a:extLst>
          </p:cNvPr>
          <p:cNvSpPr txBox="1"/>
          <p:nvPr/>
        </p:nvSpPr>
        <p:spPr>
          <a:xfrm>
            <a:off x="4407615" y="3073149"/>
            <a:ext cx="4263775" cy="1229632"/>
          </a:xfrm>
          <a:prstGeom prst="rect">
            <a:avLst/>
          </a:prstGeom>
          <a:solidFill>
            <a:srgbClr val="E7F4FF"/>
          </a:solidFill>
        </p:spPr>
        <p:txBody>
          <a:bodyPr wrap="square" lIns="91440" tIns="45720" rIns="91440" bIns="45720" anchor="t">
            <a:spAutoFit/>
          </a:bodyPr>
          <a:lstStyle/>
          <a:p>
            <a:pPr>
              <a:lnSpc>
                <a:spcPts val="1800"/>
              </a:lnSpc>
              <a:buNone/>
            </a:pPr>
            <a:r>
              <a:rPr lang="en-US" b="1"/>
              <a:t>Stage 2: Medical Instruction Tuning </a:t>
            </a:r>
            <a:br>
              <a:rPr lang="en-US" b="1"/>
            </a:br>
            <a:r>
              <a:rPr lang="en-US" b="1"/>
              <a:t>(Domain-specific Fine-tuning)</a:t>
            </a:r>
          </a:p>
          <a:p>
            <a:pPr>
              <a:lnSpc>
                <a:spcPts val="1800"/>
              </a:lnSpc>
            </a:pPr>
            <a:r>
              <a:rPr lang="en-US"/>
              <a:t>After building up this general knowledge, the model is fine-tuned with instruction-following tasks. (QA pairs based on real biomedical problems)</a:t>
            </a:r>
          </a:p>
        </p:txBody>
      </p:sp>
    </p:spTree>
    <p:extLst>
      <p:ext uri="{BB962C8B-B14F-4D97-AF65-F5344CB8AC3E}">
        <p14:creationId xmlns:p14="http://schemas.microsoft.com/office/powerpoint/2010/main" val="1440061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CF5C3-29A8-19EB-5CCD-663EFBD43F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03CC8EB-DC16-A744-B6A2-7A54817DEBEF}"/>
              </a:ext>
            </a:extLst>
          </p:cNvPr>
          <p:cNvSpPr txBox="1"/>
          <p:nvPr/>
        </p:nvSpPr>
        <p:spPr>
          <a:xfrm>
            <a:off x="446087" y="322547"/>
            <a:ext cx="8543801"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DisasterNet</a:t>
            </a:r>
            <a:r>
              <a:rPr lang="en-US" b="1"/>
              <a:t>-LLM for Multimodal Disaster Classification</a:t>
            </a:r>
          </a:p>
        </p:txBody>
      </p:sp>
      <p:pic>
        <p:nvPicPr>
          <p:cNvPr id="6" name="Picture 5">
            <a:extLst>
              <a:ext uri="{FF2B5EF4-FFF2-40B4-BE49-F238E27FC236}">
                <a16:creationId xmlns:a16="http://schemas.microsoft.com/office/drawing/2014/main" id="{29264252-57AE-A757-C318-E7AD9B02B726}"/>
              </a:ext>
            </a:extLst>
          </p:cNvPr>
          <p:cNvPicPr>
            <a:picLocks noChangeAspect="1"/>
          </p:cNvPicPr>
          <p:nvPr/>
        </p:nvPicPr>
        <p:blipFill>
          <a:blip r:embed="rId3"/>
          <a:stretch>
            <a:fillRect/>
          </a:stretch>
        </p:blipFill>
        <p:spPr>
          <a:xfrm>
            <a:off x="1757115" y="1008344"/>
            <a:ext cx="5739713" cy="3623649"/>
          </a:xfrm>
          <a:prstGeom prst="rect">
            <a:avLst/>
          </a:prstGeom>
        </p:spPr>
      </p:pic>
    </p:spTree>
    <p:extLst>
      <p:ext uri="{BB962C8B-B14F-4D97-AF65-F5344CB8AC3E}">
        <p14:creationId xmlns:p14="http://schemas.microsoft.com/office/powerpoint/2010/main" val="1064985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C0775-AB7A-8A27-F23A-297B3E0B368B}"/>
            </a:ext>
          </a:extLst>
        </p:cNvPr>
        <p:cNvGrpSpPr/>
        <p:nvPr/>
      </p:nvGrpSpPr>
      <p:grpSpPr>
        <a:xfrm>
          <a:off x="0" y="0"/>
          <a:ext cx="0" cy="0"/>
          <a:chOff x="0" y="0"/>
          <a:chExt cx="0" cy="0"/>
        </a:xfrm>
      </p:grpSpPr>
      <p:pic>
        <p:nvPicPr>
          <p:cNvPr id="57" name="Picture 56">
            <a:extLst>
              <a:ext uri="{FF2B5EF4-FFF2-40B4-BE49-F238E27FC236}">
                <a16:creationId xmlns:a16="http://schemas.microsoft.com/office/drawing/2014/main" id="{85074214-9919-492C-9F02-35AE6C7DF3F3}"/>
              </a:ext>
            </a:extLst>
          </p:cNvPr>
          <p:cNvPicPr>
            <a:picLocks noChangeAspect="1"/>
          </p:cNvPicPr>
          <p:nvPr/>
        </p:nvPicPr>
        <p:blipFill>
          <a:blip r:embed="rId3"/>
          <a:stretch>
            <a:fillRect/>
          </a:stretch>
        </p:blipFill>
        <p:spPr>
          <a:xfrm>
            <a:off x="5149536" y="3269707"/>
            <a:ext cx="3866783" cy="394672"/>
          </a:xfrm>
          <a:prstGeom prst="rect">
            <a:avLst/>
          </a:prstGeom>
          <a:ln>
            <a:solidFill>
              <a:schemeClr val="tx1"/>
            </a:solidFill>
          </a:ln>
        </p:spPr>
      </p:pic>
      <p:pic>
        <p:nvPicPr>
          <p:cNvPr id="56" name="Picture 55">
            <a:extLst>
              <a:ext uri="{FF2B5EF4-FFF2-40B4-BE49-F238E27FC236}">
                <a16:creationId xmlns:a16="http://schemas.microsoft.com/office/drawing/2014/main" id="{32FFBE1A-6554-D8AA-A0FD-317E10D59AEA}"/>
              </a:ext>
            </a:extLst>
          </p:cNvPr>
          <p:cNvPicPr>
            <a:picLocks noChangeAspect="1"/>
          </p:cNvPicPr>
          <p:nvPr/>
        </p:nvPicPr>
        <p:blipFill>
          <a:blip r:embed="rId3"/>
          <a:stretch>
            <a:fillRect/>
          </a:stretch>
        </p:blipFill>
        <p:spPr>
          <a:xfrm>
            <a:off x="4997136" y="3156815"/>
            <a:ext cx="3866783" cy="394672"/>
          </a:xfrm>
          <a:prstGeom prst="rect">
            <a:avLst/>
          </a:prstGeom>
          <a:ln>
            <a:solidFill>
              <a:schemeClr val="tx1"/>
            </a:solidFill>
          </a:ln>
        </p:spPr>
      </p:pic>
      <p:sp>
        <p:nvSpPr>
          <p:cNvPr id="5" name="TextBox 4">
            <a:extLst>
              <a:ext uri="{FF2B5EF4-FFF2-40B4-BE49-F238E27FC236}">
                <a16:creationId xmlns:a16="http://schemas.microsoft.com/office/drawing/2014/main" id="{44808D5A-FA21-C5CE-E9ED-D722BBCA3EF1}"/>
              </a:ext>
            </a:extLst>
          </p:cNvPr>
          <p:cNvSpPr txBox="1"/>
          <p:nvPr/>
        </p:nvSpPr>
        <p:spPr>
          <a:xfrm>
            <a:off x="446087" y="322547"/>
            <a:ext cx="8543801"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DisasterNet</a:t>
            </a:r>
            <a:r>
              <a:rPr lang="en-US" b="1"/>
              <a:t>-LLM – Cross-Attention</a:t>
            </a:r>
          </a:p>
        </p:txBody>
      </p:sp>
      <p:pic>
        <p:nvPicPr>
          <p:cNvPr id="7" name="Picture 6">
            <a:extLst>
              <a:ext uri="{FF2B5EF4-FFF2-40B4-BE49-F238E27FC236}">
                <a16:creationId xmlns:a16="http://schemas.microsoft.com/office/drawing/2014/main" id="{FA538868-1500-0440-25CB-54B13E2190E2}"/>
              </a:ext>
            </a:extLst>
          </p:cNvPr>
          <p:cNvPicPr>
            <a:picLocks noChangeAspect="1"/>
          </p:cNvPicPr>
          <p:nvPr/>
        </p:nvPicPr>
        <p:blipFill>
          <a:blip r:embed="rId4"/>
          <a:stretch>
            <a:fillRect/>
          </a:stretch>
        </p:blipFill>
        <p:spPr>
          <a:xfrm>
            <a:off x="479951" y="1349024"/>
            <a:ext cx="601840" cy="601840"/>
          </a:xfrm>
          <a:prstGeom prst="rect">
            <a:avLst/>
          </a:prstGeom>
        </p:spPr>
      </p:pic>
      <p:pic>
        <p:nvPicPr>
          <p:cNvPr id="11" name="Picture 10">
            <a:extLst>
              <a:ext uri="{FF2B5EF4-FFF2-40B4-BE49-F238E27FC236}">
                <a16:creationId xmlns:a16="http://schemas.microsoft.com/office/drawing/2014/main" id="{F89FE892-E933-B531-0FFF-4D60AB447A3D}"/>
              </a:ext>
            </a:extLst>
          </p:cNvPr>
          <p:cNvPicPr>
            <a:picLocks noChangeAspect="1"/>
          </p:cNvPicPr>
          <p:nvPr/>
        </p:nvPicPr>
        <p:blipFill>
          <a:blip r:embed="rId5"/>
          <a:stretch>
            <a:fillRect/>
          </a:stretch>
        </p:blipFill>
        <p:spPr>
          <a:xfrm>
            <a:off x="481889" y="2565400"/>
            <a:ext cx="601840" cy="601840"/>
          </a:xfrm>
          <a:prstGeom prst="rect">
            <a:avLst/>
          </a:prstGeom>
        </p:spPr>
      </p:pic>
      <p:sp>
        <p:nvSpPr>
          <p:cNvPr id="13" name="TextBox 12">
            <a:extLst>
              <a:ext uri="{FF2B5EF4-FFF2-40B4-BE49-F238E27FC236}">
                <a16:creationId xmlns:a16="http://schemas.microsoft.com/office/drawing/2014/main" id="{2FBBED30-2ECD-6080-4FC0-6020E8AD0C54}"/>
              </a:ext>
            </a:extLst>
          </p:cNvPr>
          <p:cNvSpPr txBox="1"/>
          <p:nvPr/>
        </p:nvSpPr>
        <p:spPr>
          <a:xfrm>
            <a:off x="207960" y="4383616"/>
            <a:ext cx="1145822" cy="276999"/>
          </a:xfrm>
          <a:prstGeom prst="rect">
            <a:avLst/>
          </a:prstGeom>
          <a:noFill/>
        </p:spPr>
        <p:txBody>
          <a:bodyPr wrap="square">
            <a:spAutoFit/>
          </a:bodyPr>
          <a:lstStyle/>
          <a:p>
            <a:pPr algn="ctr"/>
            <a:r>
              <a:rPr lang="en-US" sz="1200" b="1"/>
              <a:t>Spatial data</a:t>
            </a:r>
          </a:p>
        </p:txBody>
      </p:sp>
      <p:pic>
        <p:nvPicPr>
          <p:cNvPr id="15" name="Picture 14">
            <a:extLst>
              <a:ext uri="{FF2B5EF4-FFF2-40B4-BE49-F238E27FC236}">
                <a16:creationId xmlns:a16="http://schemas.microsoft.com/office/drawing/2014/main" id="{430E25E8-65BB-6EBB-6C63-B833ED0758FD}"/>
              </a:ext>
            </a:extLst>
          </p:cNvPr>
          <p:cNvPicPr>
            <a:picLocks noChangeAspect="1"/>
          </p:cNvPicPr>
          <p:nvPr/>
        </p:nvPicPr>
        <p:blipFill>
          <a:blip r:embed="rId6"/>
          <a:stretch>
            <a:fillRect/>
          </a:stretch>
        </p:blipFill>
        <p:spPr>
          <a:xfrm>
            <a:off x="479952" y="3781777"/>
            <a:ext cx="601839" cy="601839"/>
          </a:xfrm>
          <a:prstGeom prst="rect">
            <a:avLst/>
          </a:prstGeom>
        </p:spPr>
      </p:pic>
      <p:sp>
        <p:nvSpPr>
          <p:cNvPr id="16" name="TextBox 15">
            <a:extLst>
              <a:ext uri="{FF2B5EF4-FFF2-40B4-BE49-F238E27FC236}">
                <a16:creationId xmlns:a16="http://schemas.microsoft.com/office/drawing/2014/main" id="{A0929626-780D-D09F-7201-4D702AA25EF0}"/>
              </a:ext>
            </a:extLst>
          </p:cNvPr>
          <p:cNvSpPr txBox="1"/>
          <p:nvPr/>
        </p:nvSpPr>
        <p:spPr>
          <a:xfrm>
            <a:off x="229653" y="3167240"/>
            <a:ext cx="1145822" cy="276999"/>
          </a:xfrm>
          <a:prstGeom prst="rect">
            <a:avLst/>
          </a:prstGeom>
          <a:noFill/>
        </p:spPr>
        <p:txBody>
          <a:bodyPr wrap="square">
            <a:spAutoFit/>
          </a:bodyPr>
          <a:lstStyle/>
          <a:p>
            <a:pPr algn="ctr"/>
            <a:r>
              <a:rPr lang="en-US" sz="1200" b="1"/>
              <a:t>Image</a:t>
            </a:r>
          </a:p>
        </p:txBody>
      </p:sp>
      <p:sp>
        <p:nvSpPr>
          <p:cNvPr id="17" name="TextBox 16">
            <a:extLst>
              <a:ext uri="{FF2B5EF4-FFF2-40B4-BE49-F238E27FC236}">
                <a16:creationId xmlns:a16="http://schemas.microsoft.com/office/drawing/2014/main" id="{386A1B1B-236C-73C1-97DA-4FAA72E0F62C}"/>
              </a:ext>
            </a:extLst>
          </p:cNvPr>
          <p:cNvSpPr txBox="1"/>
          <p:nvPr/>
        </p:nvSpPr>
        <p:spPr>
          <a:xfrm>
            <a:off x="229653" y="1946134"/>
            <a:ext cx="1145822" cy="276999"/>
          </a:xfrm>
          <a:prstGeom prst="rect">
            <a:avLst/>
          </a:prstGeom>
          <a:noFill/>
        </p:spPr>
        <p:txBody>
          <a:bodyPr wrap="square">
            <a:spAutoFit/>
          </a:bodyPr>
          <a:lstStyle/>
          <a:p>
            <a:pPr algn="ctr"/>
            <a:r>
              <a:rPr lang="en-US" sz="1200" b="1"/>
              <a:t>Text</a:t>
            </a:r>
          </a:p>
        </p:txBody>
      </p:sp>
      <p:sp>
        <p:nvSpPr>
          <p:cNvPr id="18" name="Google Shape;272;p28">
            <a:extLst>
              <a:ext uri="{FF2B5EF4-FFF2-40B4-BE49-F238E27FC236}">
                <a16:creationId xmlns:a16="http://schemas.microsoft.com/office/drawing/2014/main" id="{D41A8893-E6F9-1043-9218-3A2606B81100}"/>
              </a:ext>
            </a:extLst>
          </p:cNvPr>
          <p:cNvSpPr txBox="1"/>
          <p:nvPr/>
        </p:nvSpPr>
        <p:spPr>
          <a:xfrm>
            <a:off x="3219273" y="1453144"/>
            <a:ext cx="867445" cy="393600"/>
          </a:xfrm>
          <a:prstGeom prst="rect">
            <a:avLst/>
          </a:prstGeom>
          <a:noFill/>
          <a:ln>
            <a:solidFill>
              <a:schemeClr val="tx1"/>
            </a:solidFill>
          </a:ln>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dk1"/>
                </a:solidFill>
              </a:rPr>
              <a:t>R </a:t>
            </a:r>
            <a:r>
              <a:rPr lang="en-US" sz="1600" baseline="30000" err="1">
                <a:solidFill>
                  <a:schemeClr val="dk1"/>
                </a:solidFill>
              </a:rPr>
              <a:t>Nxd</a:t>
            </a:r>
            <a:r>
              <a:rPr lang="en-US" altLang="zh-CN" sz="1600" baseline="30000" err="1">
                <a:solidFill>
                  <a:schemeClr val="dk1"/>
                </a:solidFill>
              </a:rPr>
              <a:t>t</a:t>
            </a:r>
            <a:endParaRPr sz="1600" baseline="30000">
              <a:solidFill>
                <a:schemeClr val="dk1"/>
              </a:solidFill>
            </a:endParaRPr>
          </a:p>
        </p:txBody>
      </p:sp>
      <p:sp>
        <p:nvSpPr>
          <p:cNvPr id="19" name="Rectangle 18">
            <a:extLst>
              <a:ext uri="{FF2B5EF4-FFF2-40B4-BE49-F238E27FC236}">
                <a16:creationId xmlns:a16="http://schemas.microsoft.com/office/drawing/2014/main" id="{BBFB0187-5707-8E75-9540-662B83D869FA}"/>
              </a:ext>
            </a:extLst>
          </p:cNvPr>
          <p:cNvSpPr/>
          <p:nvPr/>
        </p:nvSpPr>
        <p:spPr>
          <a:xfrm>
            <a:off x="1667932" y="1481152"/>
            <a:ext cx="965200" cy="3375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GPT</a:t>
            </a:r>
          </a:p>
        </p:txBody>
      </p:sp>
      <p:sp>
        <p:nvSpPr>
          <p:cNvPr id="20" name="Rectangle 19">
            <a:extLst>
              <a:ext uri="{FF2B5EF4-FFF2-40B4-BE49-F238E27FC236}">
                <a16:creationId xmlns:a16="http://schemas.microsoft.com/office/drawing/2014/main" id="{9C758A27-BAAD-3252-5BD0-B51BD10E16AF}"/>
              </a:ext>
            </a:extLst>
          </p:cNvPr>
          <p:cNvSpPr/>
          <p:nvPr/>
        </p:nvSpPr>
        <p:spPr>
          <a:xfrm>
            <a:off x="1670755" y="2697527"/>
            <a:ext cx="965200" cy="3375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CLIP</a:t>
            </a:r>
          </a:p>
        </p:txBody>
      </p:sp>
      <p:sp>
        <p:nvSpPr>
          <p:cNvPr id="21" name="Rectangle 20">
            <a:extLst>
              <a:ext uri="{FF2B5EF4-FFF2-40B4-BE49-F238E27FC236}">
                <a16:creationId xmlns:a16="http://schemas.microsoft.com/office/drawing/2014/main" id="{D7003AA8-862A-A582-157D-545CAD27039E}"/>
              </a:ext>
            </a:extLst>
          </p:cNvPr>
          <p:cNvSpPr/>
          <p:nvPr/>
        </p:nvSpPr>
        <p:spPr>
          <a:xfrm>
            <a:off x="1670755" y="3913903"/>
            <a:ext cx="965200" cy="3375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NN-GLS</a:t>
            </a:r>
          </a:p>
        </p:txBody>
      </p:sp>
      <p:sp>
        <p:nvSpPr>
          <p:cNvPr id="22" name="Google Shape;272;p28">
            <a:extLst>
              <a:ext uri="{FF2B5EF4-FFF2-40B4-BE49-F238E27FC236}">
                <a16:creationId xmlns:a16="http://schemas.microsoft.com/office/drawing/2014/main" id="{529463C0-3585-FC6F-B42D-2ABAFF255FE1}"/>
              </a:ext>
            </a:extLst>
          </p:cNvPr>
          <p:cNvSpPr txBox="1"/>
          <p:nvPr/>
        </p:nvSpPr>
        <p:spPr>
          <a:xfrm>
            <a:off x="3219272" y="2669520"/>
            <a:ext cx="867445" cy="393600"/>
          </a:xfrm>
          <a:prstGeom prst="rect">
            <a:avLst/>
          </a:prstGeom>
          <a:noFill/>
          <a:ln>
            <a:solidFill>
              <a:schemeClr val="tx1"/>
            </a:solidFill>
          </a:ln>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dk1"/>
                </a:solidFill>
              </a:rPr>
              <a:t>R </a:t>
            </a:r>
            <a:r>
              <a:rPr lang="en-US" sz="1600" baseline="30000" err="1">
                <a:solidFill>
                  <a:schemeClr val="dk1"/>
                </a:solidFill>
              </a:rPr>
              <a:t>Mxdi</a:t>
            </a:r>
            <a:endParaRPr lang="zh-CN" altLang="en-US" sz="1600" baseline="30000">
              <a:solidFill>
                <a:schemeClr val="dk1"/>
              </a:solidFill>
            </a:endParaRPr>
          </a:p>
        </p:txBody>
      </p:sp>
      <p:sp>
        <p:nvSpPr>
          <p:cNvPr id="23" name="Google Shape;272;p28">
            <a:extLst>
              <a:ext uri="{FF2B5EF4-FFF2-40B4-BE49-F238E27FC236}">
                <a16:creationId xmlns:a16="http://schemas.microsoft.com/office/drawing/2014/main" id="{77F50254-61F7-12C1-D307-1EEED3D0C83E}"/>
              </a:ext>
            </a:extLst>
          </p:cNvPr>
          <p:cNvSpPr txBox="1"/>
          <p:nvPr/>
        </p:nvSpPr>
        <p:spPr>
          <a:xfrm>
            <a:off x="3219272" y="3885896"/>
            <a:ext cx="867445" cy="393600"/>
          </a:xfrm>
          <a:prstGeom prst="rect">
            <a:avLst/>
          </a:prstGeom>
          <a:noFill/>
          <a:ln>
            <a:solidFill>
              <a:schemeClr val="tx1"/>
            </a:solidFill>
          </a:ln>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dk1"/>
                </a:solidFill>
              </a:rPr>
              <a:t>R </a:t>
            </a:r>
            <a:r>
              <a:rPr lang="en-US" sz="1600" baseline="30000" err="1">
                <a:solidFill>
                  <a:schemeClr val="dk1"/>
                </a:solidFill>
              </a:rPr>
              <a:t>Lxdg</a:t>
            </a:r>
            <a:endParaRPr lang="en-US" sz="1600" baseline="-25000" err="1">
              <a:solidFill>
                <a:schemeClr val="dk1"/>
              </a:solidFill>
            </a:endParaRPr>
          </a:p>
        </p:txBody>
      </p:sp>
      <p:sp>
        <p:nvSpPr>
          <p:cNvPr id="24" name="Google Shape;272;p28">
            <a:extLst>
              <a:ext uri="{FF2B5EF4-FFF2-40B4-BE49-F238E27FC236}">
                <a16:creationId xmlns:a16="http://schemas.microsoft.com/office/drawing/2014/main" id="{C0F1B118-2D81-1B56-1A71-4136849A5833}"/>
              </a:ext>
            </a:extLst>
          </p:cNvPr>
          <p:cNvSpPr txBox="1"/>
          <p:nvPr/>
        </p:nvSpPr>
        <p:spPr>
          <a:xfrm>
            <a:off x="5138244" y="2026333"/>
            <a:ext cx="1403667" cy="393600"/>
          </a:xfrm>
          <a:prstGeom prst="rect">
            <a:avLst/>
          </a:prstGeom>
          <a:noFill/>
          <a:ln>
            <a:solidFill>
              <a:schemeClr val="tx1"/>
            </a:solidFill>
          </a:ln>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dk1"/>
                </a:solidFill>
              </a:rPr>
              <a:t>R </a:t>
            </a:r>
            <a:r>
              <a:rPr lang="en-US" sz="1600" baseline="30000">
                <a:solidFill>
                  <a:schemeClr val="dk1"/>
                </a:solidFill>
              </a:rPr>
              <a:t>(N+M+L)xd</a:t>
            </a:r>
            <a:endParaRPr lang="zh-CN" altLang="en-US" sz="1600" baseline="30000">
              <a:solidFill>
                <a:schemeClr val="dk1"/>
              </a:solidFill>
            </a:endParaRPr>
          </a:p>
        </p:txBody>
      </p:sp>
      <p:pic>
        <p:nvPicPr>
          <p:cNvPr id="26" name="Picture 25">
            <a:extLst>
              <a:ext uri="{FF2B5EF4-FFF2-40B4-BE49-F238E27FC236}">
                <a16:creationId xmlns:a16="http://schemas.microsoft.com/office/drawing/2014/main" id="{8B750019-0441-82EA-1C34-C2CAC38990AE}"/>
              </a:ext>
            </a:extLst>
          </p:cNvPr>
          <p:cNvPicPr>
            <a:picLocks noChangeAspect="1"/>
          </p:cNvPicPr>
          <p:nvPr/>
        </p:nvPicPr>
        <p:blipFill>
          <a:blip r:embed="rId3"/>
          <a:stretch>
            <a:fillRect/>
          </a:stretch>
        </p:blipFill>
        <p:spPr>
          <a:xfrm>
            <a:off x="4844736" y="3049567"/>
            <a:ext cx="3866783" cy="394672"/>
          </a:xfrm>
          <a:prstGeom prst="rect">
            <a:avLst/>
          </a:prstGeom>
          <a:ln>
            <a:solidFill>
              <a:schemeClr val="tx1"/>
            </a:solidFill>
          </a:ln>
        </p:spPr>
      </p:pic>
      <p:sp>
        <p:nvSpPr>
          <p:cNvPr id="28" name="TextBox 27">
            <a:extLst>
              <a:ext uri="{FF2B5EF4-FFF2-40B4-BE49-F238E27FC236}">
                <a16:creationId xmlns:a16="http://schemas.microsoft.com/office/drawing/2014/main" id="{E244D6B0-2435-C54D-A2B6-DF17EB539E37}"/>
              </a:ext>
            </a:extLst>
          </p:cNvPr>
          <p:cNvSpPr txBox="1"/>
          <p:nvPr/>
        </p:nvSpPr>
        <p:spPr>
          <a:xfrm>
            <a:off x="5349183" y="3728269"/>
            <a:ext cx="2857888" cy="523220"/>
          </a:xfrm>
          <a:prstGeom prst="rect">
            <a:avLst/>
          </a:prstGeom>
          <a:noFill/>
        </p:spPr>
        <p:txBody>
          <a:bodyPr wrap="square">
            <a:spAutoFit/>
          </a:bodyPr>
          <a:lstStyle/>
          <a:p>
            <a:r>
              <a:rPr lang="en-US">
                <a:solidFill>
                  <a:schemeClr val="tx1"/>
                </a:solidFill>
              </a:rPr>
              <a:t>Pairwise attention scores across text, image, and geospatial data.</a:t>
            </a:r>
          </a:p>
        </p:txBody>
      </p:sp>
      <p:cxnSp>
        <p:nvCxnSpPr>
          <p:cNvPr id="30" name="Straight Arrow Connector 29">
            <a:extLst>
              <a:ext uri="{FF2B5EF4-FFF2-40B4-BE49-F238E27FC236}">
                <a16:creationId xmlns:a16="http://schemas.microsoft.com/office/drawing/2014/main" id="{68E2B0C3-49BF-0F13-5074-F8CA34F2333A}"/>
              </a:ext>
            </a:extLst>
          </p:cNvPr>
          <p:cNvCxnSpPr>
            <a:stCxn id="7" idx="3"/>
            <a:endCxn id="19" idx="1"/>
          </p:cNvCxnSpPr>
          <p:nvPr/>
        </p:nvCxnSpPr>
        <p:spPr>
          <a:xfrm>
            <a:off x="1081791" y="1649944"/>
            <a:ext cx="58614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48A75AA-95E8-4907-967D-C8C0222B4D24}"/>
              </a:ext>
            </a:extLst>
          </p:cNvPr>
          <p:cNvCxnSpPr>
            <a:stCxn id="11" idx="3"/>
            <a:endCxn id="20" idx="1"/>
          </p:cNvCxnSpPr>
          <p:nvPr/>
        </p:nvCxnSpPr>
        <p:spPr>
          <a:xfrm>
            <a:off x="1083729" y="2866320"/>
            <a:ext cx="587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B01A9FA-E8FD-FB3E-29F4-7146B32D4174}"/>
              </a:ext>
            </a:extLst>
          </p:cNvPr>
          <p:cNvCxnSpPr>
            <a:stCxn id="15" idx="3"/>
            <a:endCxn id="21" idx="1"/>
          </p:cNvCxnSpPr>
          <p:nvPr/>
        </p:nvCxnSpPr>
        <p:spPr>
          <a:xfrm flipV="1">
            <a:off x="1081791" y="4082696"/>
            <a:ext cx="58896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C01B12D-A33C-C9A6-AAF4-37039D714685}"/>
              </a:ext>
            </a:extLst>
          </p:cNvPr>
          <p:cNvCxnSpPr>
            <a:stCxn id="19" idx="3"/>
            <a:endCxn id="18" idx="1"/>
          </p:cNvCxnSpPr>
          <p:nvPr/>
        </p:nvCxnSpPr>
        <p:spPr>
          <a:xfrm flipV="1">
            <a:off x="2633132" y="1649944"/>
            <a:ext cx="58614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250F433-FEBA-71DB-8227-87B3C80FD232}"/>
              </a:ext>
            </a:extLst>
          </p:cNvPr>
          <p:cNvCxnSpPr>
            <a:stCxn id="20" idx="3"/>
            <a:endCxn id="22" idx="1"/>
          </p:cNvCxnSpPr>
          <p:nvPr/>
        </p:nvCxnSpPr>
        <p:spPr>
          <a:xfrm>
            <a:off x="2635955" y="2866320"/>
            <a:ext cx="5833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7C40EB3-BF45-B0EB-716F-836D0B8758FA}"/>
              </a:ext>
            </a:extLst>
          </p:cNvPr>
          <p:cNvCxnSpPr>
            <a:stCxn id="21" idx="3"/>
            <a:endCxn id="23" idx="1"/>
          </p:cNvCxnSpPr>
          <p:nvPr/>
        </p:nvCxnSpPr>
        <p:spPr>
          <a:xfrm>
            <a:off x="2635955" y="4082696"/>
            <a:ext cx="5833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FA42E17-0C73-7A8E-3A91-63F03B510D53}"/>
              </a:ext>
            </a:extLst>
          </p:cNvPr>
          <p:cNvCxnSpPr>
            <a:stCxn id="18" idx="3"/>
            <a:endCxn id="24" idx="1"/>
          </p:cNvCxnSpPr>
          <p:nvPr/>
        </p:nvCxnSpPr>
        <p:spPr>
          <a:xfrm>
            <a:off x="4086718" y="1649944"/>
            <a:ext cx="1051526" cy="573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645571F-A108-693E-4E3D-00B6A2319AB1}"/>
              </a:ext>
            </a:extLst>
          </p:cNvPr>
          <p:cNvCxnSpPr>
            <a:stCxn id="22" idx="3"/>
            <a:endCxn id="24" idx="1"/>
          </p:cNvCxnSpPr>
          <p:nvPr/>
        </p:nvCxnSpPr>
        <p:spPr>
          <a:xfrm flipV="1">
            <a:off x="4086717" y="2223133"/>
            <a:ext cx="1051527" cy="643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9C497DB-8FD9-36E5-1818-9315B0D74C5F}"/>
              </a:ext>
            </a:extLst>
          </p:cNvPr>
          <p:cNvCxnSpPr>
            <a:stCxn id="23" idx="3"/>
            <a:endCxn id="24" idx="1"/>
          </p:cNvCxnSpPr>
          <p:nvPr/>
        </p:nvCxnSpPr>
        <p:spPr>
          <a:xfrm flipV="1">
            <a:off x="4086717" y="2223133"/>
            <a:ext cx="1051527" cy="1859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13BE875-8929-78BB-EC4A-938E0FDC45A9}"/>
              </a:ext>
            </a:extLst>
          </p:cNvPr>
          <p:cNvCxnSpPr>
            <a:stCxn id="24" idx="2"/>
            <a:endCxn id="26" idx="0"/>
          </p:cNvCxnSpPr>
          <p:nvPr/>
        </p:nvCxnSpPr>
        <p:spPr>
          <a:xfrm>
            <a:off x="5840078" y="2419933"/>
            <a:ext cx="938050" cy="629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235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9B195-270F-74B8-80B9-51E6215E99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3BB8EB-3CEB-B581-0954-1E8B90D0673A}"/>
              </a:ext>
            </a:extLst>
          </p:cNvPr>
          <p:cNvSpPr txBox="1"/>
          <p:nvPr/>
        </p:nvSpPr>
        <p:spPr>
          <a:xfrm>
            <a:off x="446087" y="322547"/>
            <a:ext cx="8543801"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DisasterNet</a:t>
            </a:r>
            <a:r>
              <a:rPr lang="en-US" b="1"/>
              <a:t>-LLM – Cross-Attention</a:t>
            </a:r>
          </a:p>
        </p:txBody>
      </p:sp>
      <p:graphicFrame>
        <p:nvGraphicFramePr>
          <p:cNvPr id="34" name="Table 33">
            <a:extLst>
              <a:ext uri="{FF2B5EF4-FFF2-40B4-BE49-F238E27FC236}">
                <a16:creationId xmlns:a16="http://schemas.microsoft.com/office/drawing/2014/main" id="{C7690BB7-CE28-273E-00B2-4EE44B5F40D4}"/>
              </a:ext>
            </a:extLst>
          </p:cNvPr>
          <p:cNvGraphicFramePr>
            <a:graphicFrameLocks noGrp="1"/>
          </p:cNvGraphicFramePr>
          <p:nvPr>
            <p:extLst>
              <p:ext uri="{D42A27DB-BD31-4B8C-83A1-F6EECF244321}">
                <p14:modId xmlns:p14="http://schemas.microsoft.com/office/powerpoint/2010/main" val="3936044400"/>
              </p:ext>
            </p:extLst>
          </p:nvPr>
        </p:nvGraphicFramePr>
        <p:xfrm>
          <a:off x="524931" y="1213300"/>
          <a:ext cx="2946400" cy="837495"/>
        </p:xfrm>
        <a:graphic>
          <a:graphicData uri="http://schemas.openxmlformats.org/drawingml/2006/table">
            <a:tbl>
              <a:tblPr firstRow="1" bandRow="1">
                <a:tableStyleId>{E017E762-A783-44E9-BAB4-DBA71A9770A8}</a:tableStyleId>
              </a:tblPr>
              <a:tblGrid>
                <a:gridCol w="736600">
                  <a:extLst>
                    <a:ext uri="{9D8B030D-6E8A-4147-A177-3AD203B41FA5}">
                      <a16:colId xmlns:a16="http://schemas.microsoft.com/office/drawing/2014/main" val="716186354"/>
                    </a:ext>
                  </a:extLst>
                </a:gridCol>
                <a:gridCol w="736600">
                  <a:extLst>
                    <a:ext uri="{9D8B030D-6E8A-4147-A177-3AD203B41FA5}">
                      <a16:colId xmlns:a16="http://schemas.microsoft.com/office/drawing/2014/main" val="1884615223"/>
                    </a:ext>
                  </a:extLst>
                </a:gridCol>
                <a:gridCol w="736600">
                  <a:extLst>
                    <a:ext uri="{9D8B030D-6E8A-4147-A177-3AD203B41FA5}">
                      <a16:colId xmlns:a16="http://schemas.microsoft.com/office/drawing/2014/main" val="1230851780"/>
                    </a:ext>
                  </a:extLst>
                </a:gridCol>
                <a:gridCol w="736600">
                  <a:extLst>
                    <a:ext uri="{9D8B030D-6E8A-4147-A177-3AD203B41FA5}">
                      <a16:colId xmlns:a16="http://schemas.microsoft.com/office/drawing/2014/main" val="1723119914"/>
                    </a:ext>
                  </a:extLst>
                </a:gridCol>
              </a:tblGrid>
              <a:tr h="279165">
                <a:tc>
                  <a:txBody>
                    <a:bodyPr/>
                    <a:lstStyle/>
                    <a:p>
                      <a:endParaRPr lang="en-US" sz="1200"/>
                    </a:p>
                  </a:txBody>
                  <a:tcPr/>
                </a:tc>
                <a:tc>
                  <a:txBody>
                    <a:bodyPr/>
                    <a:lstStyle/>
                    <a:p>
                      <a:r>
                        <a:rPr lang="en-US" altLang="zh-CN" sz="1200"/>
                        <a:t>Image</a:t>
                      </a:r>
                      <a:endParaRPr lang="en-US" sz="1200"/>
                    </a:p>
                  </a:txBody>
                  <a:tcPr/>
                </a:tc>
                <a:tc>
                  <a:txBody>
                    <a:bodyPr/>
                    <a:lstStyle/>
                    <a:p>
                      <a:r>
                        <a:rPr lang="en-US" sz="1200"/>
                        <a:t>Text</a:t>
                      </a:r>
                    </a:p>
                  </a:txBody>
                  <a:tcPr/>
                </a:tc>
                <a:tc>
                  <a:txBody>
                    <a:bodyPr/>
                    <a:lstStyle/>
                    <a:p>
                      <a:r>
                        <a:rPr lang="en-US" sz="1200"/>
                        <a:t>Spatial</a:t>
                      </a:r>
                    </a:p>
                  </a:txBody>
                  <a:tcPr/>
                </a:tc>
                <a:extLst>
                  <a:ext uri="{0D108BD9-81ED-4DB2-BD59-A6C34878D82A}">
                    <a16:rowId xmlns:a16="http://schemas.microsoft.com/office/drawing/2014/main" val="2797876793"/>
                  </a:ext>
                </a:extLst>
              </a:tr>
              <a:tr h="279165">
                <a:tc>
                  <a:txBody>
                    <a:bodyPr/>
                    <a:lstStyle/>
                    <a:p>
                      <a:r>
                        <a:rPr lang="en-US" sz="1200"/>
                        <a:t>X1</a:t>
                      </a:r>
                    </a:p>
                  </a:txBody>
                  <a:tcPr/>
                </a:tc>
                <a:tc>
                  <a:txBody>
                    <a:bodyPr/>
                    <a:lstStyle/>
                    <a:p>
                      <a:r>
                        <a:rPr lang="en-US" sz="1200"/>
                        <a:t>0.3</a:t>
                      </a:r>
                    </a:p>
                  </a:txBody>
                  <a:tcPr/>
                </a:tc>
                <a:tc>
                  <a:txBody>
                    <a:bodyPr/>
                    <a:lstStyle/>
                    <a:p>
                      <a:r>
                        <a:rPr lang="en-US" sz="1200"/>
                        <a:t>0.9</a:t>
                      </a:r>
                    </a:p>
                  </a:txBody>
                  <a:tcPr/>
                </a:tc>
                <a:tc>
                  <a:txBody>
                    <a:bodyPr/>
                    <a:lstStyle/>
                    <a:p>
                      <a:r>
                        <a:rPr lang="en-US" sz="1200"/>
                        <a:t>0.1</a:t>
                      </a:r>
                    </a:p>
                  </a:txBody>
                  <a:tcPr/>
                </a:tc>
                <a:extLst>
                  <a:ext uri="{0D108BD9-81ED-4DB2-BD59-A6C34878D82A}">
                    <a16:rowId xmlns:a16="http://schemas.microsoft.com/office/drawing/2014/main" val="2065720286"/>
                  </a:ext>
                </a:extLst>
              </a:tr>
              <a:tr h="279165">
                <a:tc>
                  <a:txBody>
                    <a:bodyPr/>
                    <a:lstStyle/>
                    <a:p>
                      <a:r>
                        <a:rPr lang="en-US" sz="1200"/>
                        <a:t>X2</a:t>
                      </a:r>
                    </a:p>
                  </a:txBody>
                  <a:tcPr/>
                </a:tc>
                <a:tc>
                  <a:txBody>
                    <a:bodyPr/>
                    <a:lstStyle/>
                    <a:p>
                      <a:r>
                        <a:rPr lang="en-US" sz="1200"/>
                        <a:t>0.8</a:t>
                      </a:r>
                    </a:p>
                  </a:txBody>
                  <a:tcPr/>
                </a:tc>
                <a:tc>
                  <a:txBody>
                    <a:bodyPr/>
                    <a:lstStyle/>
                    <a:p>
                      <a:r>
                        <a:rPr lang="en-US" sz="1200"/>
                        <a:t>0.2</a:t>
                      </a:r>
                    </a:p>
                  </a:txBody>
                  <a:tcPr/>
                </a:tc>
                <a:tc>
                  <a:txBody>
                    <a:bodyPr/>
                    <a:lstStyle/>
                    <a:p>
                      <a:r>
                        <a:rPr lang="en-US" sz="1200"/>
                        <a:t>0.5</a:t>
                      </a:r>
                    </a:p>
                  </a:txBody>
                  <a:tcPr/>
                </a:tc>
                <a:extLst>
                  <a:ext uri="{0D108BD9-81ED-4DB2-BD59-A6C34878D82A}">
                    <a16:rowId xmlns:a16="http://schemas.microsoft.com/office/drawing/2014/main" val="2068747946"/>
                  </a:ext>
                </a:extLst>
              </a:tr>
            </a:tbl>
          </a:graphicData>
        </a:graphic>
      </p:graphicFrame>
      <p:pic>
        <p:nvPicPr>
          <p:cNvPr id="37" name="Picture 36">
            <a:extLst>
              <a:ext uri="{FF2B5EF4-FFF2-40B4-BE49-F238E27FC236}">
                <a16:creationId xmlns:a16="http://schemas.microsoft.com/office/drawing/2014/main" id="{508631B6-EA29-FDF3-4996-B9E6A030A001}"/>
              </a:ext>
            </a:extLst>
          </p:cNvPr>
          <p:cNvPicPr>
            <a:picLocks noChangeAspect="1"/>
          </p:cNvPicPr>
          <p:nvPr/>
        </p:nvPicPr>
        <p:blipFill>
          <a:blip r:embed="rId3"/>
          <a:stretch>
            <a:fillRect/>
          </a:stretch>
        </p:blipFill>
        <p:spPr>
          <a:xfrm>
            <a:off x="524931" y="2571750"/>
            <a:ext cx="2400423" cy="730288"/>
          </a:xfrm>
          <a:prstGeom prst="rect">
            <a:avLst/>
          </a:prstGeom>
        </p:spPr>
      </p:pic>
      <p:pic>
        <p:nvPicPr>
          <p:cNvPr id="39" name="Picture 38">
            <a:extLst>
              <a:ext uri="{FF2B5EF4-FFF2-40B4-BE49-F238E27FC236}">
                <a16:creationId xmlns:a16="http://schemas.microsoft.com/office/drawing/2014/main" id="{2B2CE71C-14FC-FA23-06FA-FD2B6B8AD95A}"/>
              </a:ext>
            </a:extLst>
          </p:cNvPr>
          <p:cNvPicPr>
            <a:picLocks noChangeAspect="1"/>
          </p:cNvPicPr>
          <p:nvPr/>
        </p:nvPicPr>
        <p:blipFill>
          <a:blip r:embed="rId4"/>
          <a:stretch>
            <a:fillRect/>
          </a:stretch>
        </p:blipFill>
        <p:spPr>
          <a:xfrm>
            <a:off x="470938" y="3520188"/>
            <a:ext cx="2159111" cy="438173"/>
          </a:xfrm>
          <a:prstGeom prst="rect">
            <a:avLst/>
          </a:prstGeom>
        </p:spPr>
      </p:pic>
      <p:pic>
        <p:nvPicPr>
          <p:cNvPr id="42" name="Picture 41">
            <a:extLst>
              <a:ext uri="{FF2B5EF4-FFF2-40B4-BE49-F238E27FC236}">
                <a16:creationId xmlns:a16="http://schemas.microsoft.com/office/drawing/2014/main" id="{70AFBDF8-D86B-2A5D-44D0-DFA0F4ED4E1B}"/>
              </a:ext>
            </a:extLst>
          </p:cNvPr>
          <p:cNvPicPr>
            <a:picLocks noChangeAspect="1"/>
          </p:cNvPicPr>
          <p:nvPr/>
        </p:nvPicPr>
        <p:blipFill>
          <a:blip r:embed="rId5"/>
          <a:stretch>
            <a:fillRect/>
          </a:stretch>
        </p:blipFill>
        <p:spPr>
          <a:xfrm>
            <a:off x="524931" y="3958361"/>
            <a:ext cx="1987652" cy="381020"/>
          </a:xfrm>
          <a:prstGeom prst="rect">
            <a:avLst/>
          </a:prstGeom>
        </p:spPr>
      </p:pic>
      <p:pic>
        <p:nvPicPr>
          <p:cNvPr id="52" name="Picture 51">
            <a:extLst>
              <a:ext uri="{FF2B5EF4-FFF2-40B4-BE49-F238E27FC236}">
                <a16:creationId xmlns:a16="http://schemas.microsoft.com/office/drawing/2014/main" id="{0A25FCAC-35A0-7CB7-4562-021BB16E9B0A}"/>
              </a:ext>
            </a:extLst>
          </p:cNvPr>
          <p:cNvPicPr>
            <a:picLocks noChangeAspect="1"/>
          </p:cNvPicPr>
          <p:nvPr/>
        </p:nvPicPr>
        <p:blipFill>
          <a:blip r:embed="rId6"/>
          <a:stretch>
            <a:fillRect/>
          </a:stretch>
        </p:blipFill>
        <p:spPr>
          <a:xfrm>
            <a:off x="3898586" y="3441068"/>
            <a:ext cx="5019826" cy="596415"/>
          </a:xfrm>
          <a:prstGeom prst="rect">
            <a:avLst/>
          </a:prstGeom>
        </p:spPr>
      </p:pic>
      <p:pic>
        <p:nvPicPr>
          <p:cNvPr id="58" name="Picture 57">
            <a:extLst>
              <a:ext uri="{FF2B5EF4-FFF2-40B4-BE49-F238E27FC236}">
                <a16:creationId xmlns:a16="http://schemas.microsoft.com/office/drawing/2014/main" id="{5068C7EA-0CF0-80D8-79E5-5BC9FB170282}"/>
              </a:ext>
            </a:extLst>
          </p:cNvPr>
          <p:cNvPicPr>
            <a:picLocks noChangeAspect="1"/>
          </p:cNvPicPr>
          <p:nvPr/>
        </p:nvPicPr>
        <p:blipFill>
          <a:blip r:embed="rId7"/>
          <a:stretch>
            <a:fillRect/>
          </a:stretch>
        </p:blipFill>
        <p:spPr>
          <a:xfrm>
            <a:off x="3873362" y="4215869"/>
            <a:ext cx="5070273" cy="520312"/>
          </a:xfrm>
          <a:prstGeom prst="rect">
            <a:avLst/>
          </a:prstGeom>
        </p:spPr>
      </p:pic>
      <p:cxnSp>
        <p:nvCxnSpPr>
          <p:cNvPr id="60" name="Straight Arrow Connector 59">
            <a:extLst>
              <a:ext uri="{FF2B5EF4-FFF2-40B4-BE49-F238E27FC236}">
                <a16:creationId xmlns:a16="http://schemas.microsoft.com/office/drawing/2014/main" id="{33EB8D90-A9E4-5A73-08D5-9256D58009B7}"/>
              </a:ext>
            </a:extLst>
          </p:cNvPr>
          <p:cNvCxnSpPr>
            <a:stCxn id="39" idx="3"/>
          </p:cNvCxnSpPr>
          <p:nvPr/>
        </p:nvCxnSpPr>
        <p:spPr>
          <a:xfrm flipV="1">
            <a:off x="2630049" y="3612444"/>
            <a:ext cx="1243313" cy="126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9A85A63-731D-9122-589D-71C93A42D6B2}"/>
              </a:ext>
            </a:extLst>
          </p:cNvPr>
          <p:cNvCxnSpPr>
            <a:stCxn id="42" idx="3"/>
          </p:cNvCxnSpPr>
          <p:nvPr/>
        </p:nvCxnSpPr>
        <p:spPr>
          <a:xfrm flipV="1">
            <a:off x="2512583" y="3958361"/>
            <a:ext cx="1360779" cy="19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Picture 63">
            <a:extLst>
              <a:ext uri="{FF2B5EF4-FFF2-40B4-BE49-F238E27FC236}">
                <a16:creationId xmlns:a16="http://schemas.microsoft.com/office/drawing/2014/main" id="{998B38FE-6732-B7DC-EF70-52636B19B911}"/>
              </a:ext>
            </a:extLst>
          </p:cNvPr>
          <p:cNvPicPr>
            <a:picLocks noChangeAspect="1"/>
          </p:cNvPicPr>
          <p:nvPr/>
        </p:nvPicPr>
        <p:blipFill>
          <a:blip r:embed="rId8"/>
          <a:stretch>
            <a:fillRect/>
          </a:stretch>
        </p:blipFill>
        <p:spPr>
          <a:xfrm>
            <a:off x="3628384" y="2189030"/>
            <a:ext cx="5180528" cy="918191"/>
          </a:xfrm>
          <a:prstGeom prst="rect">
            <a:avLst/>
          </a:prstGeom>
          <a:ln>
            <a:solidFill>
              <a:schemeClr val="tx1"/>
            </a:solidFill>
          </a:ln>
        </p:spPr>
      </p:pic>
      <p:sp>
        <p:nvSpPr>
          <p:cNvPr id="65" name="Rectangle 64">
            <a:extLst>
              <a:ext uri="{FF2B5EF4-FFF2-40B4-BE49-F238E27FC236}">
                <a16:creationId xmlns:a16="http://schemas.microsoft.com/office/drawing/2014/main" id="{5FE57B05-9AA4-29A9-686A-EA5881363C9F}"/>
              </a:ext>
            </a:extLst>
          </p:cNvPr>
          <p:cNvSpPr/>
          <p:nvPr/>
        </p:nvSpPr>
        <p:spPr>
          <a:xfrm>
            <a:off x="7834489" y="2511778"/>
            <a:ext cx="378178" cy="197555"/>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BE4F13F-59FD-3702-2D0C-2D3DC24ACB0D}"/>
              </a:ext>
            </a:extLst>
          </p:cNvPr>
          <p:cNvSpPr/>
          <p:nvPr/>
        </p:nvSpPr>
        <p:spPr>
          <a:xfrm>
            <a:off x="5040489" y="2537883"/>
            <a:ext cx="254000" cy="197555"/>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6B68F19-2C7F-0B77-4671-2BA74A8161BB}"/>
              </a:ext>
            </a:extLst>
          </p:cNvPr>
          <p:cNvSpPr/>
          <p:nvPr/>
        </p:nvSpPr>
        <p:spPr>
          <a:xfrm>
            <a:off x="4786489" y="2864675"/>
            <a:ext cx="254000" cy="197555"/>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962CCDA-D2E9-4C84-06AD-EE9048961AE0}"/>
              </a:ext>
            </a:extLst>
          </p:cNvPr>
          <p:cNvSpPr/>
          <p:nvPr/>
        </p:nvSpPr>
        <p:spPr>
          <a:xfrm>
            <a:off x="7501467" y="2864675"/>
            <a:ext cx="378178" cy="197555"/>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8381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0CF8-4952-DF7C-5C48-D53383C244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CA1C686-B199-7F67-C7E2-3CEEF78FF72F}"/>
              </a:ext>
            </a:extLst>
          </p:cNvPr>
          <p:cNvSpPr txBox="1"/>
          <p:nvPr/>
        </p:nvSpPr>
        <p:spPr>
          <a:xfrm>
            <a:off x="446087" y="322547"/>
            <a:ext cx="8543801"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DisasterNet</a:t>
            </a:r>
            <a:r>
              <a:rPr lang="en-US" b="1"/>
              <a:t>-LLM – Results on Classification</a:t>
            </a:r>
          </a:p>
        </p:txBody>
      </p:sp>
      <p:pic>
        <p:nvPicPr>
          <p:cNvPr id="3" name="Picture 2">
            <a:extLst>
              <a:ext uri="{FF2B5EF4-FFF2-40B4-BE49-F238E27FC236}">
                <a16:creationId xmlns:a16="http://schemas.microsoft.com/office/drawing/2014/main" id="{66E12707-161D-D225-F874-D82CE7372A73}"/>
              </a:ext>
            </a:extLst>
          </p:cNvPr>
          <p:cNvPicPr>
            <a:picLocks noChangeAspect="1"/>
          </p:cNvPicPr>
          <p:nvPr/>
        </p:nvPicPr>
        <p:blipFill>
          <a:blip r:embed="rId3"/>
          <a:srcRect b="35952"/>
          <a:stretch>
            <a:fillRect/>
          </a:stretch>
        </p:blipFill>
        <p:spPr>
          <a:xfrm>
            <a:off x="876420" y="1121080"/>
            <a:ext cx="7683133" cy="3294345"/>
          </a:xfrm>
          <a:prstGeom prst="rect">
            <a:avLst/>
          </a:prstGeom>
        </p:spPr>
      </p:pic>
    </p:spTree>
    <p:extLst>
      <p:ext uri="{BB962C8B-B14F-4D97-AF65-F5344CB8AC3E}">
        <p14:creationId xmlns:p14="http://schemas.microsoft.com/office/powerpoint/2010/main" val="1549064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39F7-EE70-4479-2B95-E229A73B0E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927183-1BC0-C4CE-3508-F8F21FF864BF}"/>
              </a:ext>
            </a:extLst>
          </p:cNvPr>
          <p:cNvSpPr txBox="1"/>
          <p:nvPr/>
        </p:nvSpPr>
        <p:spPr>
          <a:xfrm>
            <a:off x="446087" y="322547"/>
            <a:ext cx="8543801"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err="1"/>
              <a:t>DisasterNet</a:t>
            </a:r>
            <a:r>
              <a:rPr lang="en-US" b="1"/>
              <a:t>-LLM – Results on Event Summarization</a:t>
            </a:r>
          </a:p>
        </p:txBody>
      </p:sp>
      <p:pic>
        <p:nvPicPr>
          <p:cNvPr id="4" name="Picture 3">
            <a:extLst>
              <a:ext uri="{FF2B5EF4-FFF2-40B4-BE49-F238E27FC236}">
                <a16:creationId xmlns:a16="http://schemas.microsoft.com/office/drawing/2014/main" id="{79404655-BD38-E74E-7320-1061B39C755B}"/>
              </a:ext>
            </a:extLst>
          </p:cNvPr>
          <p:cNvPicPr>
            <a:picLocks noChangeAspect="1"/>
          </p:cNvPicPr>
          <p:nvPr/>
        </p:nvPicPr>
        <p:blipFill>
          <a:blip r:embed="rId3"/>
          <a:srcRect t="67945"/>
          <a:stretch>
            <a:fillRect/>
          </a:stretch>
        </p:blipFill>
        <p:spPr>
          <a:xfrm>
            <a:off x="824379" y="1302708"/>
            <a:ext cx="7683133" cy="1648738"/>
          </a:xfrm>
          <a:prstGeom prst="rect">
            <a:avLst/>
          </a:prstGeom>
        </p:spPr>
      </p:pic>
    </p:spTree>
    <p:extLst>
      <p:ext uri="{BB962C8B-B14F-4D97-AF65-F5344CB8AC3E}">
        <p14:creationId xmlns:p14="http://schemas.microsoft.com/office/powerpoint/2010/main" val="235815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a:extLst>
            <a:ext uri="{FF2B5EF4-FFF2-40B4-BE49-F238E27FC236}">
              <a16:creationId xmlns:a16="http://schemas.microsoft.com/office/drawing/2014/main" id="{CB524975-4832-A5D6-878C-FB702A82B307}"/>
            </a:ext>
          </a:extLst>
        </p:cNvPr>
        <p:cNvGrpSpPr/>
        <p:nvPr/>
      </p:nvGrpSpPr>
      <p:grpSpPr>
        <a:xfrm>
          <a:off x="0" y="0"/>
          <a:ext cx="0" cy="0"/>
          <a:chOff x="0" y="0"/>
          <a:chExt cx="0" cy="0"/>
        </a:xfrm>
      </p:grpSpPr>
      <p:sp>
        <p:nvSpPr>
          <p:cNvPr id="107" name="Google Shape;107;p17">
            <a:extLst>
              <a:ext uri="{FF2B5EF4-FFF2-40B4-BE49-F238E27FC236}">
                <a16:creationId xmlns:a16="http://schemas.microsoft.com/office/drawing/2014/main" id="{A7309962-CAA2-6A5F-B0E8-13E3F1C3D6E4}"/>
              </a:ext>
            </a:extLst>
          </p:cNvPr>
          <p:cNvSpPr/>
          <p:nvPr/>
        </p:nvSpPr>
        <p:spPr>
          <a:xfrm>
            <a:off x="1635109" y="1553814"/>
            <a:ext cx="7509000" cy="2035800"/>
          </a:xfrm>
          <a:prstGeom prst="rect">
            <a:avLst/>
          </a:prstGeom>
          <a:noFill/>
          <a:ln>
            <a:noFill/>
          </a:ln>
        </p:spPr>
        <p:txBody>
          <a:bodyPr spcFirstLastPara="1" wrap="square" lIns="34275" tIns="45700" rIns="34275" bIns="45700" anchor="ctr" anchorCtr="0">
            <a:noAutofit/>
          </a:bodyPr>
          <a:lstStyle/>
          <a:p>
            <a:pPr marL="0" marR="0" lvl="0" indent="0" algn="ctr" rtl="0">
              <a:lnSpc>
                <a:spcPct val="100000"/>
              </a:lnSpc>
              <a:spcBef>
                <a:spcPts val="0"/>
              </a:spcBef>
              <a:spcAft>
                <a:spcPts val="0"/>
              </a:spcAft>
              <a:buClr>
                <a:schemeClr val="accent2"/>
              </a:buClr>
              <a:buSzPts val="1350"/>
              <a:buFont typeface="Calibri"/>
              <a:buNone/>
            </a:pPr>
            <a:endParaRPr sz="1350" b="0" i="0" u="none" strike="noStrike" cap="none">
              <a:solidFill>
                <a:schemeClr val="lt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9768F78D-950A-33E0-8901-E2686B0E8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62" y="4925962"/>
            <a:ext cx="1292206" cy="11700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Google Shape;114;p17">
            <a:extLst>
              <a:ext uri="{FF2B5EF4-FFF2-40B4-BE49-F238E27FC236}">
                <a16:creationId xmlns:a16="http://schemas.microsoft.com/office/drawing/2014/main" id="{A35E611E-0AE7-9791-198F-839465F19CCB}"/>
              </a:ext>
            </a:extLst>
          </p:cNvPr>
          <p:cNvCxnSpPr>
            <a:cxnSpLocks/>
          </p:cNvCxnSpPr>
          <p:nvPr/>
        </p:nvCxnSpPr>
        <p:spPr>
          <a:xfrm>
            <a:off x="0" y="4829585"/>
            <a:ext cx="1787505" cy="0"/>
          </a:xfrm>
          <a:prstGeom prst="straightConnector1">
            <a:avLst/>
          </a:prstGeom>
          <a:noFill/>
          <a:ln w="9525" cap="flat" cmpd="sng">
            <a:solidFill>
              <a:schemeClr val="lt2"/>
            </a:solidFill>
            <a:prstDash val="dash"/>
            <a:miter lim="8000"/>
            <a:headEnd type="none" w="sm" len="sm"/>
            <a:tailEnd type="none" w="sm" len="sm"/>
          </a:ln>
        </p:spPr>
      </p:cxnSp>
      <p:sp>
        <p:nvSpPr>
          <p:cNvPr id="6" name="Google Shape;98;p10">
            <a:extLst>
              <a:ext uri="{FF2B5EF4-FFF2-40B4-BE49-F238E27FC236}">
                <a16:creationId xmlns:a16="http://schemas.microsoft.com/office/drawing/2014/main" id="{B26EDC40-A205-659F-84C3-DDE9632D4CA4}"/>
              </a:ext>
            </a:extLst>
          </p:cNvPr>
          <p:cNvSpPr/>
          <p:nvPr/>
        </p:nvSpPr>
        <p:spPr>
          <a:xfrm>
            <a:off x="2610465" y="2571714"/>
            <a:ext cx="4704736" cy="824700"/>
          </a:xfrm>
          <a:prstGeom prst="rect">
            <a:avLst/>
          </a:prstGeom>
          <a:noFill/>
          <a:ln>
            <a:noFill/>
          </a:ln>
        </p:spPr>
        <p:txBody>
          <a:bodyPr spcFirstLastPara="1" wrap="square" lIns="34275" tIns="45700" rIns="34275" bIns="45700" anchor="b" anchorCtr="0">
            <a:noAutofit/>
          </a:bodyPr>
          <a:lstStyle/>
          <a:p>
            <a:pPr lvl="0">
              <a:lnSpc>
                <a:spcPct val="150000"/>
              </a:lnSpc>
              <a:buClr>
                <a:schemeClr val="lt1"/>
              </a:buClr>
              <a:buSzPts val="1313"/>
            </a:pPr>
            <a:r>
              <a:rPr lang="en-US" sz="3200">
                <a:solidFill>
                  <a:schemeClr val="lt1"/>
                </a:solidFill>
                <a:latin typeface="+mj-lt"/>
                <a:ea typeface="Crimson Text"/>
                <a:cs typeface="Crimson Text"/>
                <a:sym typeface="Crimson Text"/>
              </a:rPr>
              <a:t>LLM Application </a:t>
            </a:r>
            <a:br>
              <a:rPr lang="en-US" sz="3200">
                <a:solidFill>
                  <a:schemeClr val="lt1"/>
                </a:solidFill>
                <a:latin typeface="+mj-lt"/>
                <a:ea typeface="Crimson Text"/>
                <a:cs typeface="Crimson Text"/>
                <a:sym typeface="Crimson Text"/>
              </a:rPr>
            </a:br>
            <a:r>
              <a:rPr lang="en-US" sz="3200">
                <a:solidFill>
                  <a:schemeClr val="lt1"/>
                </a:solidFill>
                <a:latin typeface="+mj-lt"/>
                <a:ea typeface="Crimson Text"/>
                <a:cs typeface="Crimson Text"/>
                <a:sym typeface="Crimson Text"/>
              </a:rPr>
              <a:t>– Real-world Challenges</a:t>
            </a:r>
          </a:p>
        </p:txBody>
      </p:sp>
    </p:spTree>
    <p:extLst>
      <p:ext uri="{BB962C8B-B14F-4D97-AF65-F5344CB8AC3E}">
        <p14:creationId xmlns:p14="http://schemas.microsoft.com/office/powerpoint/2010/main" val="1955942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429F-9A50-65CB-7F80-86E3948285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167887-6F2A-92FF-49C2-644511B049ED}"/>
              </a:ext>
            </a:extLst>
          </p:cNvPr>
          <p:cNvSpPr txBox="1"/>
          <p:nvPr/>
        </p:nvSpPr>
        <p:spPr>
          <a:xfrm>
            <a:off x="535687" y="32022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a:t>Hallucination – </a:t>
            </a:r>
            <a:r>
              <a:rPr lang="en-US" b="1" err="1"/>
              <a:t>CoT</a:t>
            </a:r>
            <a:r>
              <a:rPr lang="en-US" b="1"/>
              <a:t> </a:t>
            </a:r>
          </a:p>
        </p:txBody>
      </p:sp>
      <p:pic>
        <p:nvPicPr>
          <p:cNvPr id="1026" name="Picture 2">
            <a:extLst>
              <a:ext uri="{FF2B5EF4-FFF2-40B4-BE49-F238E27FC236}">
                <a16:creationId xmlns:a16="http://schemas.microsoft.com/office/drawing/2014/main" id="{C28311F6-23D5-8BF6-BF59-D69E8C0E9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4533" y="1151467"/>
            <a:ext cx="6636059" cy="31947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290EB0B-C854-A2E4-63A2-4014EF08545F}"/>
              </a:ext>
            </a:extLst>
          </p:cNvPr>
          <p:cNvSpPr txBox="1"/>
          <p:nvPr/>
        </p:nvSpPr>
        <p:spPr>
          <a:xfrm>
            <a:off x="0" y="4870487"/>
            <a:ext cx="6942482" cy="230832"/>
          </a:xfrm>
          <a:prstGeom prst="rect">
            <a:avLst/>
          </a:prstGeom>
          <a:noFill/>
        </p:spPr>
        <p:txBody>
          <a:bodyPr wrap="square">
            <a:spAutoFit/>
          </a:bodyPr>
          <a:lstStyle/>
          <a:p>
            <a:r>
              <a:rPr lang="en-US" sz="900" i="1" dirty="0"/>
              <a:t>https://</a:t>
            </a:r>
            <a:r>
              <a:rPr lang="en-US" sz="900" i="1" dirty="0" err="1"/>
              <a:t>levelup.gitconnected.com</a:t>
            </a:r>
            <a:r>
              <a:rPr lang="en-US" sz="900" i="1" dirty="0"/>
              <a:t>/lets-talk-about-llm-hallucinations-9c8dab3e7ac3</a:t>
            </a:r>
          </a:p>
        </p:txBody>
      </p:sp>
    </p:spTree>
    <p:extLst>
      <p:ext uri="{BB962C8B-B14F-4D97-AF65-F5344CB8AC3E}">
        <p14:creationId xmlns:p14="http://schemas.microsoft.com/office/powerpoint/2010/main" val="1104508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B197B-36BE-32E0-0AA6-D041B101D887}"/>
            </a:ext>
          </a:extLst>
        </p:cNvPr>
        <p:cNvGrpSpPr/>
        <p:nvPr/>
      </p:nvGrpSpPr>
      <p:grpSpPr>
        <a:xfrm>
          <a:off x="0" y="0"/>
          <a:ext cx="0" cy="0"/>
          <a:chOff x="0" y="0"/>
          <a:chExt cx="0" cy="0"/>
        </a:xfrm>
      </p:grpSpPr>
      <p:sp>
        <p:nvSpPr>
          <p:cNvPr id="7" name="Google Shape;112;p17">
            <a:extLst>
              <a:ext uri="{FF2B5EF4-FFF2-40B4-BE49-F238E27FC236}">
                <a16:creationId xmlns:a16="http://schemas.microsoft.com/office/drawing/2014/main" id="{D41744ED-2A99-5569-F0EE-978D3CC92054}"/>
              </a:ext>
            </a:extLst>
          </p:cNvPr>
          <p:cNvSpPr/>
          <p:nvPr/>
        </p:nvSpPr>
        <p:spPr>
          <a:xfrm>
            <a:off x="610305" y="524908"/>
            <a:ext cx="5790495" cy="303600"/>
          </a:xfrm>
          <a:prstGeom prst="rect">
            <a:avLst/>
          </a:prstGeom>
          <a:noFill/>
          <a:ln>
            <a:noFill/>
          </a:ln>
        </p:spPr>
        <p:txBody>
          <a:bodyPr spcFirstLastPara="1" wrap="square" lIns="34275" tIns="45700" rIns="34275" bIns="45700" anchor="b" anchorCtr="0">
            <a:noAutofit/>
          </a:bodyPr>
          <a:lstStyle/>
          <a:p>
            <a:pPr>
              <a:lnSpc>
                <a:spcPct val="90000"/>
              </a:lnSpc>
              <a:buClr>
                <a:schemeClr val="dk2"/>
              </a:buClr>
              <a:buSzPts val="2250"/>
            </a:pPr>
            <a:endParaRPr lang="en-US" sz="2800">
              <a:solidFill>
                <a:schemeClr val="tx1"/>
              </a:solidFill>
            </a:endParaRPr>
          </a:p>
        </p:txBody>
      </p:sp>
      <p:sp>
        <p:nvSpPr>
          <p:cNvPr id="2" name="TextBox 1">
            <a:extLst>
              <a:ext uri="{FF2B5EF4-FFF2-40B4-BE49-F238E27FC236}">
                <a16:creationId xmlns:a16="http://schemas.microsoft.com/office/drawing/2014/main" id="{0B5EFA6E-0604-8B11-B3FF-541A6DB61FA5}"/>
              </a:ext>
            </a:extLst>
          </p:cNvPr>
          <p:cNvSpPr txBox="1"/>
          <p:nvPr/>
        </p:nvSpPr>
        <p:spPr>
          <a:xfrm>
            <a:off x="496176" y="286381"/>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a:t>Hallucination – RAG </a:t>
            </a:r>
          </a:p>
        </p:txBody>
      </p:sp>
      <p:pic>
        <p:nvPicPr>
          <p:cNvPr id="2050" name="Picture 2">
            <a:extLst>
              <a:ext uri="{FF2B5EF4-FFF2-40B4-BE49-F238E27FC236}">
                <a16:creationId xmlns:a16="http://schemas.microsoft.com/office/drawing/2014/main" id="{657C9AC7-94F5-F45F-2501-106500C6E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964" y="349955"/>
            <a:ext cx="3262747" cy="444358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8F79DF-706A-8DBC-124A-4FE909268EB4}"/>
              </a:ext>
            </a:extLst>
          </p:cNvPr>
          <p:cNvSpPr txBox="1"/>
          <p:nvPr/>
        </p:nvSpPr>
        <p:spPr>
          <a:xfrm>
            <a:off x="784578" y="1924809"/>
            <a:ext cx="3657599" cy="1292470"/>
          </a:xfrm>
          <a:prstGeom prst="rect">
            <a:avLst/>
          </a:prstGeom>
          <a:solidFill>
            <a:srgbClr val="F7DDE6"/>
          </a:solidFill>
        </p:spPr>
        <p:txBody>
          <a:bodyPr wrap="square" lIns="91440" tIns="45720" rIns="91440" bIns="45720" anchor="t">
            <a:spAutoFit/>
          </a:bodyPr>
          <a:lstStyle/>
          <a:p>
            <a:pPr>
              <a:lnSpc>
                <a:spcPts val="2400"/>
              </a:lnSpc>
            </a:pPr>
            <a:r>
              <a:rPr lang="en-US" b="1"/>
              <a:t>Retrieval-Augmented Generation (RAG)</a:t>
            </a:r>
            <a:br>
              <a:rPr lang="en-US" b="1"/>
            </a:br>
            <a:r>
              <a:rPr lang="en-US">
                <a:solidFill>
                  <a:srgbClr val="242424"/>
                </a:solidFill>
                <a:latin typeface="source-serif-pro"/>
              </a:rPr>
              <a:t>combines LLMs with a retrieval system that fetches relevant documents from a knowledge base before generating responses.</a:t>
            </a:r>
            <a:endParaRPr lang="zh-CN"/>
          </a:p>
        </p:txBody>
      </p:sp>
    </p:spTree>
    <p:extLst>
      <p:ext uri="{BB962C8B-B14F-4D97-AF65-F5344CB8AC3E}">
        <p14:creationId xmlns:p14="http://schemas.microsoft.com/office/powerpoint/2010/main" val="3261337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84B0-37F6-E9C8-D688-355A35E156DF}"/>
            </a:ext>
          </a:extLst>
        </p:cNvPr>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7FA8904E-1B52-53A9-CE33-CA70BF57FF98}"/>
              </a:ext>
            </a:extLst>
          </p:cNvPr>
          <p:cNvPicPr>
            <a:picLocks noChangeAspect="1"/>
          </p:cNvPicPr>
          <p:nvPr/>
        </p:nvPicPr>
        <p:blipFill>
          <a:blip r:embed="rId3"/>
          <a:srcRect l="693" t="-29" r="58023" b="14"/>
          <a:stretch>
            <a:fillRect/>
          </a:stretch>
        </p:blipFill>
        <p:spPr>
          <a:xfrm>
            <a:off x="5020649" y="857250"/>
            <a:ext cx="3572169" cy="3647914"/>
          </a:xfrm>
          <a:prstGeom prst="rect">
            <a:avLst/>
          </a:prstGeom>
        </p:spPr>
      </p:pic>
      <p:sp>
        <p:nvSpPr>
          <p:cNvPr id="2" name="TextBox 1">
            <a:extLst>
              <a:ext uri="{FF2B5EF4-FFF2-40B4-BE49-F238E27FC236}">
                <a16:creationId xmlns:a16="http://schemas.microsoft.com/office/drawing/2014/main" id="{70361C3D-6486-97EC-4C3F-BDC386E92192}"/>
              </a:ext>
            </a:extLst>
          </p:cNvPr>
          <p:cNvSpPr txBox="1"/>
          <p:nvPr/>
        </p:nvSpPr>
        <p:spPr>
          <a:xfrm>
            <a:off x="558265" y="37905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a:t>Multimodal Bias</a:t>
            </a:r>
          </a:p>
        </p:txBody>
      </p:sp>
      <p:sp>
        <p:nvSpPr>
          <p:cNvPr id="10" name="TextBox 9">
            <a:extLst>
              <a:ext uri="{FF2B5EF4-FFF2-40B4-BE49-F238E27FC236}">
                <a16:creationId xmlns:a16="http://schemas.microsoft.com/office/drawing/2014/main" id="{9C83D59C-F284-6180-C772-614DE7197B9E}"/>
              </a:ext>
            </a:extLst>
          </p:cNvPr>
          <p:cNvSpPr txBox="1"/>
          <p:nvPr/>
        </p:nvSpPr>
        <p:spPr>
          <a:xfrm>
            <a:off x="3662851" y="3955723"/>
            <a:ext cx="1015999" cy="646331"/>
          </a:xfrm>
          <a:prstGeom prst="rect">
            <a:avLst/>
          </a:prstGeom>
          <a:solidFill>
            <a:srgbClr val="DCECEB"/>
          </a:solidFill>
        </p:spPr>
        <p:txBody>
          <a:bodyPr wrap="square">
            <a:spAutoFit/>
          </a:bodyPr>
          <a:lstStyle/>
          <a:p>
            <a:pPr rtl="0">
              <a:buNone/>
            </a:pPr>
            <a:r>
              <a:rPr lang="en-US" sz="1200" b="0" i="0" u="none" strike="noStrike">
                <a:solidFill>
                  <a:srgbClr val="000000"/>
                </a:solidFill>
                <a:effectLst/>
                <a:latin typeface="Arial" panose="020B0604020202020204" pitchFamily="34" charset="0"/>
              </a:rPr>
              <a:t>Answer considering image info</a:t>
            </a:r>
            <a:endParaRPr lang="en-US" sz="1200"/>
          </a:p>
        </p:txBody>
      </p:sp>
      <p:cxnSp>
        <p:nvCxnSpPr>
          <p:cNvPr id="12" name="Straight Arrow Connector 11">
            <a:extLst>
              <a:ext uri="{FF2B5EF4-FFF2-40B4-BE49-F238E27FC236}">
                <a16:creationId xmlns:a16="http://schemas.microsoft.com/office/drawing/2014/main" id="{6A98625F-E5B4-0E2D-1921-5DDB3C6CCDDD}"/>
              </a:ext>
            </a:extLst>
          </p:cNvPr>
          <p:cNvCxnSpPr>
            <a:cxnSpLocks/>
            <a:endCxn id="10" idx="0"/>
          </p:cNvCxnSpPr>
          <p:nvPr/>
        </p:nvCxnSpPr>
        <p:spPr>
          <a:xfrm flipH="1">
            <a:off x="4647999" y="4078497"/>
            <a:ext cx="755923" cy="192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DC95550-37A6-E043-8DF3-5C7D27D5901C}"/>
              </a:ext>
            </a:extLst>
          </p:cNvPr>
          <p:cNvSpPr txBox="1"/>
          <p:nvPr/>
        </p:nvSpPr>
        <p:spPr>
          <a:xfrm>
            <a:off x="3662399" y="3107744"/>
            <a:ext cx="1195678" cy="646331"/>
          </a:xfrm>
          <a:prstGeom prst="rect">
            <a:avLst/>
          </a:prstGeom>
          <a:solidFill>
            <a:srgbClr val="F5E5D9"/>
          </a:solidFill>
        </p:spPr>
        <p:txBody>
          <a:bodyPr wrap="square">
            <a:spAutoFit/>
          </a:bodyPr>
          <a:lstStyle/>
          <a:p>
            <a:pPr rtl="0">
              <a:buNone/>
            </a:pPr>
            <a:r>
              <a:rPr lang="en-US" sz="1200" b="0" i="0" u="none" strike="noStrike">
                <a:solidFill>
                  <a:srgbClr val="000000"/>
                </a:solidFill>
                <a:effectLst/>
                <a:latin typeface="Arial" panose="020B0604020202020204" pitchFamily="34" charset="0"/>
              </a:rPr>
              <a:t>Answer based on question tokens</a:t>
            </a:r>
          </a:p>
        </p:txBody>
      </p:sp>
      <p:cxnSp>
        <p:nvCxnSpPr>
          <p:cNvPr id="16" name="Straight Arrow Connector 15">
            <a:extLst>
              <a:ext uri="{FF2B5EF4-FFF2-40B4-BE49-F238E27FC236}">
                <a16:creationId xmlns:a16="http://schemas.microsoft.com/office/drawing/2014/main" id="{DEF26E63-39A5-3B78-7E2D-F3DE7C801C47}"/>
              </a:ext>
            </a:extLst>
          </p:cNvPr>
          <p:cNvCxnSpPr>
            <a:cxnSpLocks/>
            <a:endCxn id="14" idx="2"/>
          </p:cNvCxnSpPr>
          <p:nvPr/>
        </p:nvCxnSpPr>
        <p:spPr>
          <a:xfrm flipH="1" flipV="1">
            <a:off x="4882957" y="3462934"/>
            <a:ext cx="519768" cy="11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1490FC5-8BA7-6B31-F654-808B4474C309}"/>
              </a:ext>
            </a:extLst>
          </p:cNvPr>
          <p:cNvSpPr txBox="1"/>
          <p:nvPr/>
        </p:nvSpPr>
        <p:spPr>
          <a:xfrm>
            <a:off x="558265" y="1891131"/>
            <a:ext cx="3561708" cy="954107"/>
          </a:xfrm>
          <a:prstGeom prst="rect">
            <a:avLst/>
          </a:prstGeom>
          <a:solidFill>
            <a:srgbClr val="E7F4FF"/>
          </a:solidFill>
        </p:spPr>
        <p:txBody>
          <a:bodyPr wrap="square">
            <a:spAutoFit/>
          </a:bodyPr>
          <a:lstStyle/>
          <a:p>
            <a:pPr rtl="0">
              <a:buNone/>
            </a:pPr>
            <a:r>
              <a:rPr lang="en-US" sz="1400" b="1" i="0" u="sng">
                <a:solidFill>
                  <a:srgbClr val="000000"/>
                </a:solidFill>
                <a:effectLst/>
                <a:latin typeface="Arial" panose="020B0604020202020204" pitchFamily="34" charset="0"/>
              </a:rPr>
              <a:t>What is multimodal language bias?</a:t>
            </a:r>
            <a:br>
              <a:rPr lang="en-US" sz="1400" b="1" i="0" u="sng">
                <a:solidFill>
                  <a:srgbClr val="000000"/>
                </a:solidFill>
                <a:effectLst/>
                <a:latin typeface="Arial" panose="020B0604020202020204" pitchFamily="34" charset="0"/>
              </a:rPr>
            </a:br>
            <a:r>
              <a:rPr lang="en-US" sz="1400" b="0" i="0" u="none" strike="noStrike">
                <a:solidFill>
                  <a:srgbClr val="861F41"/>
                </a:solidFill>
                <a:effectLst/>
                <a:latin typeface="Arial" panose="020B0604020202020204" pitchFamily="34" charset="0"/>
              </a:rPr>
              <a:t>The question alone causally drives the answer, causing models to ignore the image</a:t>
            </a:r>
            <a:r>
              <a:rPr lang="en-US" sz="1400" b="0" i="0" u="none" strike="noStrike">
                <a:solidFill>
                  <a:srgbClr val="000000"/>
                </a:solidFill>
                <a:effectLst/>
                <a:latin typeface="Arial" panose="020B0604020202020204" pitchFamily="34" charset="0"/>
              </a:rPr>
              <a:t> and fail on bias-sensitive test splits.</a:t>
            </a:r>
            <a:endParaRPr lang="en-US"/>
          </a:p>
        </p:txBody>
      </p:sp>
    </p:spTree>
    <p:extLst>
      <p:ext uri="{BB962C8B-B14F-4D97-AF65-F5344CB8AC3E}">
        <p14:creationId xmlns:p14="http://schemas.microsoft.com/office/powerpoint/2010/main" val="3511408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40"/>
          <p:cNvPicPr preferRelativeResize="0"/>
          <p:nvPr/>
        </p:nvPicPr>
        <p:blipFill>
          <a:blip r:embed="rId3">
            <a:alphaModFix/>
          </a:blip>
          <a:stretch>
            <a:fillRect/>
          </a:stretch>
        </p:blipFill>
        <p:spPr>
          <a:xfrm>
            <a:off x="795100" y="1726110"/>
            <a:ext cx="4240501" cy="2664725"/>
          </a:xfrm>
          <a:prstGeom prst="rect">
            <a:avLst/>
          </a:prstGeom>
          <a:noFill/>
          <a:ln>
            <a:noFill/>
          </a:ln>
        </p:spPr>
      </p:pic>
      <p:sp>
        <p:nvSpPr>
          <p:cNvPr id="299" name="Google Shape;299;p40"/>
          <p:cNvSpPr/>
          <p:nvPr/>
        </p:nvSpPr>
        <p:spPr>
          <a:xfrm rot="1203973">
            <a:off x="1222036" y="2043563"/>
            <a:ext cx="759824" cy="173495"/>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0" name="Google Shape;300;p40"/>
          <p:cNvCxnSpPr>
            <a:endCxn id="299" idx="2"/>
          </p:cNvCxnSpPr>
          <p:nvPr/>
        </p:nvCxnSpPr>
        <p:spPr>
          <a:xfrm>
            <a:off x="795097" y="1993660"/>
            <a:ext cx="450000" cy="6300"/>
          </a:xfrm>
          <a:prstGeom prst="straightConnector1">
            <a:avLst/>
          </a:prstGeom>
          <a:noFill/>
          <a:ln w="9525" cap="flat" cmpd="sng">
            <a:solidFill>
              <a:schemeClr val="dk1"/>
            </a:solidFill>
            <a:prstDash val="solid"/>
            <a:round/>
            <a:headEnd type="none" w="med" len="med"/>
            <a:tailEnd type="triangle" w="med" len="med"/>
          </a:ln>
        </p:spPr>
      </p:cxnSp>
      <p:sp>
        <p:nvSpPr>
          <p:cNvPr id="301" name="Google Shape;301;p40"/>
          <p:cNvSpPr txBox="1"/>
          <p:nvPr/>
        </p:nvSpPr>
        <p:spPr>
          <a:xfrm>
            <a:off x="126700" y="1726110"/>
            <a:ext cx="13059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Pure </a:t>
            </a:r>
            <a:br>
              <a:rPr lang="en" sz="1100">
                <a:solidFill>
                  <a:schemeClr val="dk1"/>
                </a:solidFill>
              </a:rPr>
            </a:br>
            <a:r>
              <a:rPr lang="en" sz="1100">
                <a:solidFill>
                  <a:schemeClr val="dk1"/>
                </a:solidFill>
              </a:rPr>
              <a:t>Language </a:t>
            </a:r>
            <a:br>
              <a:rPr lang="en" sz="1100">
                <a:solidFill>
                  <a:schemeClr val="dk1"/>
                </a:solidFill>
              </a:rPr>
            </a:br>
            <a:r>
              <a:rPr lang="en" sz="1100">
                <a:solidFill>
                  <a:schemeClr val="dk1"/>
                </a:solidFill>
              </a:rPr>
              <a:t>Effect</a:t>
            </a:r>
            <a:endParaRPr sz="800">
              <a:solidFill>
                <a:schemeClr val="dk1"/>
              </a:solidFill>
            </a:endParaRPr>
          </a:p>
        </p:txBody>
      </p:sp>
      <p:cxnSp>
        <p:nvCxnSpPr>
          <p:cNvPr id="302" name="Google Shape;302;p40"/>
          <p:cNvCxnSpPr/>
          <p:nvPr/>
        </p:nvCxnSpPr>
        <p:spPr>
          <a:xfrm>
            <a:off x="1852325" y="3949585"/>
            <a:ext cx="1680900" cy="0"/>
          </a:xfrm>
          <a:prstGeom prst="straightConnector1">
            <a:avLst/>
          </a:prstGeom>
          <a:noFill/>
          <a:ln w="19050" cap="flat" cmpd="sng">
            <a:solidFill>
              <a:schemeClr val="dk2"/>
            </a:solidFill>
            <a:prstDash val="solid"/>
            <a:round/>
            <a:headEnd type="none" w="med" len="med"/>
            <a:tailEnd type="none" w="med" len="med"/>
          </a:ln>
        </p:spPr>
      </p:cxnSp>
      <p:pic>
        <p:nvPicPr>
          <p:cNvPr id="303" name="Google Shape;303;p40"/>
          <p:cNvPicPr preferRelativeResize="0"/>
          <p:nvPr/>
        </p:nvPicPr>
        <p:blipFill>
          <a:blip r:embed="rId4">
            <a:alphaModFix/>
          </a:blip>
          <a:stretch>
            <a:fillRect/>
          </a:stretch>
        </p:blipFill>
        <p:spPr>
          <a:xfrm>
            <a:off x="5945176" y="2652344"/>
            <a:ext cx="2309125" cy="393600"/>
          </a:xfrm>
          <a:prstGeom prst="rect">
            <a:avLst/>
          </a:prstGeom>
          <a:noFill/>
          <a:ln>
            <a:noFill/>
          </a:ln>
        </p:spPr>
      </p:pic>
      <p:pic>
        <p:nvPicPr>
          <p:cNvPr id="304" name="Google Shape;304;p40"/>
          <p:cNvPicPr preferRelativeResize="0"/>
          <p:nvPr/>
        </p:nvPicPr>
        <p:blipFill>
          <a:blip r:embed="rId5">
            <a:alphaModFix/>
          </a:blip>
          <a:stretch>
            <a:fillRect/>
          </a:stretch>
        </p:blipFill>
        <p:spPr>
          <a:xfrm>
            <a:off x="5598426" y="3414057"/>
            <a:ext cx="3002625" cy="365525"/>
          </a:xfrm>
          <a:prstGeom prst="rect">
            <a:avLst/>
          </a:prstGeom>
          <a:noFill/>
          <a:ln>
            <a:noFill/>
          </a:ln>
        </p:spPr>
      </p:pic>
      <p:pic>
        <p:nvPicPr>
          <p:cNvPr id="305" name="Google Shape;305;p40"/>
          <p:cNvPicPr preferRelativeResize="0"/>
          <p:nvPr/>
        </p:nvPicPr>
        <p:blipFill>
          <a:blip r:embed="rId6">
            <a:alphaModFix/>
          </a:blip>
          <a:stretch>
            <a:fillRect/>
          </a:stretch>
        </p:blipFill>
        <p:spPr>
          <a:xfrm>
            <a:off x="5127501" y="1793826"/>
            <a:ext cx="3631573" cy="762200"/>
          </a:xfrm>
          <a:prstGeom prst="rect">
            <a:avLst/>
          </a:prstGeom>
          <a:noFill/>
          <a:ln>
            <a:noFill/>
          </a:ln>
        </p:spPr>
      </p:pic>
      <p:sp>
        <p:nvSpPr>
          <p:cNvPr id="306" name="Google Shape;306;p40"/>
          <p:cNvSpPr txBox="1"/>
          <p:nvPr/>
        </p:nvSpPr>
        <p:spPr>
          <a:xfrm>
            <a:off x="7837426" y="1628394"/>
            <a:ext cx="977700" cy="2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dk1"/>
                </a:solidFill>
              </a:rPr>
              <a:t>Random guess</a:t>
            </a:r>
            <a:endParaRPr sz="800">
              <a:solidFill>
                <a:schemeClr val="dk1"/>
              </a:solidFill>
            </a:endParaRPr>
          </a:p>
        </p:txBody>
      </p:sp>
      <p:cxnSp>
        <p:nvCxnSpPr>
          <p:cNvPr id="307" name="Google Shape;307;p40"/>
          <p:cNvCxnSpPr>
            <a:stCxn id="306" idx="1"/>
          </p:cNvCxnSpPr>
          <p:nvPr/>
        </p:nvCxnSpPr>
        <p:spPr>
          <a:xfrm flipH="1">
            <a:off x="7731526" y="1774194"/>
            <a:ext cx="105900" cy="120600"/>
          </a:xfrm>
          <a:prstGeom prst="straightConnector1">
            <a:avLst/>
          </a:prstGeom>
          <a:noFill/>
          <a:ln w="9525" cap="flat" cmpd="sng">
            <a:solidFill>
              <a:schemeClr val="dk1"/>
            </a:solidFill>
            <a:prstDash val="solid"/>
            <a:round/>
            <a:headEnd type="none" w="med" len="med"/>
            <a:tailEnd type="triangle" w="med" len="med"/>
          </a:ln>
        </p:spPr>
      </p:cxnSp>
      <p:sp>
        <p:nvSpPr>
          <p:cNvPr id="308" name="Google Shape;308;p40"/>
          <p:cNvSpPr/>
          <p:nvPr/>
        </p:nvSpPr>
        <p:spPr>
          <a:xfrm>
            <a:off x="1547800" y="2737935"/>
            <a:ext cx="665350" cy="126950"/>
          </a:xfrm>
          <a:custGeom>
            <a:avLst/>
            <a:gdLst/>
            <a:ahLst/>
            <a:cxnLst/>
            <a:rect l="l" t="t" r="r" b="b"/>
            <a:pathLst>
              <a:path w="26614" h="5078" extrusionOk="0">
                <a:moveTo>
                  <a:pt x="0" y="0"/>
                </a:moveTo>
                <a:cubicBezTo>
                  <a:pt x="2148" y="841"/>
                  <a:pt x="8451" y="4903"/>
                  <a:pt x="12887" y="5043"/>
                </a:cubicBezTo>
                <a:cubicBezTo>
                  <a:pt x="17323" y="5183"/>
                  <a:pt x="24326" y="1541"/>
                  <a:pt x="26614" y="840"/>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309" name="Google Shape;309;p40"/>
          <p:cNvSpPr txBox="1"/>
          <p:nvPr/>
        </p:nvSpPr>
        <p:spPr>
          <a:xfrm>
            <a:off x="1658900" y="2821623"/>
            <a:ext cx="977700" cy="2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rPr>
              <a:t>Re-write</a:t>
            </a:r>
            <a:br>
              <a:rPr lang="en" sz="1100" b="1">
                <a:solidFill>
                  <a:schemeClr val="dk1"/>
                </a:solidFill>
              </a:rPr>
            </a:br>
            <a:r>
              <a:rPr lang="en" sz="1100" b="1">
                <a:solidFill>
                  <a:schemeClr val="dk1"/>
                </a:solidFill>
              </a:rPr>
              <a:t>Y</a:t>
            </a:r>
            <a:r>
              <a:rPr lang="en" sz="1100" b="1" baseline="-25000">
                <a:solidFill>
                  <a:schemeClr val="dk1"/>
                </a:solidFill>
              </a:rPr>
              <a:t>v, q </a:t>
            </a:r>
            <a:r>
              <a:rPr lang="en" sz="1100" b="1">
                <a:solidFill>
                  <a:schemeClr val="dk1"/>
                </a:solidFill>
              </a:rPr>
              <a:t> = Z</a:t>
            </a:r>
            <a:r>
              <a:rPr lang="en" sz="1100" b="1" baseline="-25000">
                <a:solidFill>
                  <a:schemeClr val="dk1"/>
                </a:solidFill>
              </a:rPr>
              <a:t> q, v, k</a:t>
            </a:r>
            <a:endParaRPr sz="1100" b="1" baseline="-25000">
              <a:solidFill>
                <a:schemeClr val="dk1"/>
              </a:solidFill>
            </a:endParaRPr>
          </a:p>
        </p:txBody>
      </p:sp>
      <p:sp>
        <p:nvSpPr>
          <p:cNvPr id="310" name="Google Shape;310;p40"/>
          <p:cNvSpPr txBox="1"/>
          <p:nvPr/>
        </p:nvSpPr>
        <p:spPr>
          <a:xfrm>
            <a:off x="5404251" y="2956594"/>
            <a:ext cx="31398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Natural direct effect = model cannot see image and multimodal embedding. (answer “yellow”)</a:t>
            </a:r>
            <a:endParaRPr sz="800">
              <a:solidFill>
                <a:schemeClr val="dk1"/>
              </a:solidFill>
            </a:endParaRPr>
          </a:p>
        </p:txBody>
      </p:sp>
      <p:sp>
        <p:nvSpPr>
          <p:cNvPr id="311" name="Google Shape;311;p40"/>
          <p:cNvSpPr txBox="1"/>
          <p:nvPr/>
        </p:nvSpPr>
        <p:spPr>
          <a:xfrm>
            <a:off x="5404251" y="3690294"/>
            <a:ext cx="3139800" cy="393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solidFill>
                  <a:schemeClr val="dk1"/>
                </a:solidFill>
              </a:rPr>
              <a:t>Total Indirect Effect = Z </a:t>
            </a:r>
            <a:r>
              <a:rPr lang="en" sz="1300" baseline="-25000">
                <a:solidFill>
                  <a:schemeClr val="dk1"/>
                </a:solidFill>
              </a:rPr>
              <a:t>q,v,k </a:t>
            </a:r>
            <a:r>
              <a:rPr lang="en" sz="1100">
                <a:solidFill>
                  <a:schemeClr val="dk1"/>
                </a:solidFill>
              </a:rPr>
              <a:t>- Z</a:t>
            </a:r>
            <a:r>
              <a:rPr lang="en" sz="1300">
                <a:solidFill>
                  <a:schemeClr val="dk1"/>
                </a:solidFill>
              </a:rPr>
              <a:t> </a:t>
            </a:r>
            <a:r>
              <a:rPr lang="en" sz="1300" baseline="-25000">
                <a:solidFill>
                  <a:schemeClr val="dk1"/>
                </a:solidFill>
              </a:rPr>
              <a:t>q,v*,k*</a:t>
            </a:r>
            <a:r>
              <a:rPr lang="en" sz="1300">
                <a:solidFill>
                  <a:schemeClr val="dk1"/>
                </a:solidFill>
              </a:rPr>
              <a:t> , </a:t>
            </a:r>
            <a:r>
              <a:rPr lang="en" sz="1100">
                <a:solidFill>
                  <a:schemeClr val="dk1"/>
                </a:solidFill>
              </a:rPr>
              <a:t>Exclude </a:t>
            </a:r>
            <a:br>
              <a:rPr lang="en" sz="1100">
                <a:solidFill>
                  <a:schemeClr val="dk1"/>
                </a:solidFill>
              </a:rPr>
            </a:br>
            <a:r>
              <a:rPr lang="en" sz="1100">
                <a:solidFill>
                  <a:schemeClr val="dk1"/>
                </a:solidFill>
              </a:rPr>
              <a:t>the part model answered without look into the image, subtracting only biased part.</a:t>
            </a:r>
            <a:endParaRPr sz="1100">
              <a:solidFill>
                <a:schemeClr val="dk1"/>
              </a:solidFill>
            </a:endParaRPr>
          </a:p>
        </p:txBody>
      </p:sp>
      <p:sp>
        <p:nvSpPr>
          <p:cNvPr id="2" name="TextBox 1">
            <a:extLst>
              <a:ext uri="{FF2B5EF4-FFF2-40B4-BE49-F238E27FC236}">
                <a16:creationId xmlns:a16="http://schemas.microsoft.com/office/drawing/2014/main" id="{698771BA-CB30-CC34-290F-6FEEA463E255}"/>
              </a:ext>
            </a:extLst>
          </p:cNvPr>
          <p:cNvSpPr txBox="1"/>
          <p:nvPr/>
        </p:nvSpPr>
        <p:spPr>
          <a:xfrm>
            <a:off x="558265" y="379054"/>
            <a:ext cx="7897113"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a:t>Multimodal Bias – Debiasing with Causal Inference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FF1BE273-BE1B-7365-C7D2-72988FB7E55E}"/>
            </a:ext>
          </a:extLst>
        </p:cNvPr>
        <p:cNvGrpSpPr/>
        <p:nvPr/>
      </p:nvGrpSpPr>
      <p:grpSpPr>
        <a:xfrm>
          <a:off x="0" y="0"/>
          <a:ext cx="0" cy="0"/>
          <a:chOff x="0" y="0"/>
          <a:chExt cx="0" cy="0"/>
        </a:xfrm>
      </p:grpSpPr>
      <p:pic>
        <p:nvPicPr>
          <p:cNvPr id="101" name="Google Shape;101;p10" descr="VT-grid-02.png">
            <a:extLst>
              <a:ext uri="{FF2B5EF4-FFF2-40B4-BE49-F238E27FC236}">
                <a16:creationId xmlns:a16="http://schemas.microsoft.com/office/drawing/2014/main" id="{BCA25C4F-66F6-CB6C-0E2C-401A2C038303}"/>
              </a:ext>
            </a:extLst>
          </p:cNvPr>
          <p:cNvPicPr preferRelativeResize="0"/>
          <p:nvPr/>
        </p:nvPicPr>
        <p:blipFill rotWithShape="1">
          <a:blip r:embed="rId3">
            <a:alphaModFix/>
          </a:blip>
          <a:srcRect/>
          <a:stretch/>
        </p:blipFill>
        <p:spPr>
          <a:xfrm>
            <a:off x="-1" y="0"/>
            <a:ext cx="9143985" cy="5096575"/>
          </a:xfrm>
          <a:prstGeom prst="rect">
            <a:avLst/>
          </a:prstGeom>
          <a:noFill/>
          <a:ln>
            <a:noFill/>
          </a:ln>
        </p:spPr>
      </p:pic>
      <p:sp>
        <p:nvSpPr>
          <p:cNvPr id="93" name="Google Shape;93;p10">
            <a:extLst>
              <a:ext uri="{FF2B5EF4-FFF2-40B4-BE49-F238E27FC236}">
                <a16:creationId xmlns:a16="http://schemas.microsoft.com/office/drawing/2014/main" id="{EAC8F501-B0A7-D2BB-03D5-59D0BC2BA8A0}"/>
              </a:ext>
            </a:extLst>
          </p:cNvPr>
          <p:cNvSpPr/>
          <p:nvPr/>
        </p:nvSpPr>
        <p:spPr>
          <a:xfrm>
            <a:off x="7002890" y="-13300"/>
            <a:ext cx="2141100" cy="478800"/>
          </a:xfrm>
          <a:prstGeom prst="rect">
            <a:avLst/>
          </a:prstGeom>
          <a:solidFill>
            <a:schemeClr val="dk1"/>
          </a:solid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chemeClr val="accent1"/>
              </a:buClr>
              <a:buSzPts val="1350"/>
              <a:buFont typeface="Calibri"/>
              <a:buNone/>
            </a:pPr>
            <a:endParaRPr sz="1350" b="0" i="0" u="none" strike="noStrike" cap="none">
              <a:solidFill>
                <a:schemeClr val="accent1"/>
              </a:solidFill>
              <a:latin typeface="Calibri"/>
              <a:ea typeface="Calibri"/>
              <a:cs typeface="Calibri"/>
              <a:sym typeface="Calibri"/>
            </a:endParaRPr>
          </a:p>
        </p:txBody>
      </p:sp>
      <p:cxnSp>
        <p:nvCxnSpPr>
          <p:cNvPr id="94" name="Google Shape;94;p10">
            <a:extLst>
              <a:ext uri="{FF2B5EF4-FFF2-40B4-BE49-F238E27FC236}">
                <a16:creationId xmlns:a16="http://schemas.microsoft.com/office/drawing/2014/main" id="{A435C2A2-ADAF-AB3F-305F-451DA9B66D02}"/>
              </a:ext>
            </a:extLst>
          </p:cNvPr>
          <p:cNvCxnSpPr/>
          <p:nvPr/>
        </p:nvCxnSpPr>
        <p:spPr>
          <a:xfrm>
            <a:off x="6873527" y="-72422"/>
            <a:ext cx="0" cy="732300"/>
          </a:xfrm>
          <a:prstGeom prst="straightConnector1">
            <a:avLst/>
          </a:prstGeom>
          <a:noFill/>
          <a:ln w="9525" cap="flat" cmpd="sng">
            <a:solidFill>
              <a:schemeClr val="accent3"/>
            </a:solidFill>
            <a:prstDash val="dash"/>
            <a:miter lim="8000"/>
            <a:headEnd type="none" w="sm" len="sm"/>
            <a:tailEnd type="none" w="sm" len="sm"/>
          </a:ln>
        </p:spPr>
      </p:cxnSp>
      <p:cxnSp>
        <p:nvCxnSpPr>
          <p:cNvPr id="95" name="Google Shape;95;p10">
            <a:extLst>
              <a:ext uri="{FF2B5EF4-FFF2-40B4-BE49-F238E27FC236}">
                <a16:creationId xmlns:a16="http://schemas.microsoft.com/office/drawing/2014/main" id="{1D3562FB-A757-7529-E1AD-5AD1D6DA7D23}"/>
              </a:ext>
            </a:extLst>
          </p:cNvPr>
          <p:cNvCxnSpPr/>
          <p:nvPr/>
        </p:nvCxnSpPr>
        <p:spPr>
          <a:xfrm>
            <a:off x="6688364" y="539168"/>
            <a:ext cx="2816400" cy="0"/>
          </a:xfrm>
          <a:prstGeom prst="straightConnector1">
            <a:avLst/>
          </a:prstGeom>
          <a:noFill/>
          <a:ln w="9525" cap="flat" cmpd="sng">
            <a:solidFill>
              <a:schemeClr val="accent3"/>
            </a:solidFill>
            <a:prstDash val="dash"/>
            <a:miter lim="8000"/>
            <a:headEnd type="none" w="sm" len="sm"/>
            <a:tailEnd type="none" w="sm" len="sm"/>
          </a:ln>
        </p:spPr>
      </p:cxnSp>
      <p:pic>
        <p:nvPicPr>
          <p:cNvPr id="96" name="Google Shape;96;p10">
            <a:extLst>
              <a:ext uri="{FF2B5EF4-FFF2-40B4-BE49-F238E27FC236}">
                <a16:creationId xmlns:a16="http://schemas.microsoft.com/office/drawing/2014/main" id="{59717979-B4CB-24F6-A21C-14EDDC73C38B}"/>
              </a:ext>
            </a:extLst>
          </p:cNvPr>
          <p:cNvPicPr preferRelativeResize="0"/>
          <p:nvPr/>
        </p:nvPicPr>
        <p:blipFill rotWithShape="1">
          <a:blip r:embed="rId4">
            <a:alphaModFix/>
          </a:blip>
          <a:srcRect/>
          <a:stretch/>
        </p:blipFill>
        <p:spPr>
          <a:xfrm>
            <a:off x="7114787" y="-1"/>
            <a:ext cx="1437985" cy="452150"/>
          </a:xfrm>
          <a:prstGeom prst="rect">
            <a:avLst/>
          </a:prstGeom>
          <a:noFill/>
          <a:ln>
            <a:noFill/>
          </a:ln>
        </p:spPr>
      </p:pic>
      <p:sp>
        <p:nvSpPr>
          <p:cNvPr id="2" name="Google Shape;98;p10">
            <a:extLst>
              <a:ext uri="{FF2B5EF4-FFF2-40B4-BE49-F238E27FC236}">
                <a16:creationId xmlns:a16="http://schemas.microsoft.com/office/drawing/2014/main" id="{285B7117-5C63-6AE2-A8B2-3BFE07B5A3F6}"/>
              </a:ext>
            </a:extLst>
          </p:cNvPr>
          <p:cNvSpPr/>
          <p:nvPr/>
        </p:nvSpPr>
        <p:spPr>
          <a:xfrm>
            <a:off x="2410051" y="3000942"/>
            <a:ext cx="4704736" cy="824700"/>
          </a:xfrm>
          <a:prstGeom prst="rect">
            <a:avLst/>
          </a:prstGeom>
          <a:noFill/>
          <a:ln>
            <a:noFill/>
          </a:ln>
        </p:spPr>
        <p:txBody>
          <a:bodyPr spcFirstLastPara="1" wrap="square" lIns="34275" tIns="45700" rIns="34275" bIns="45700" anchor="b" anchorCtr="0">
            <a:noAutofit/>
          </a:bodyPr>
          <a:lstStyle/>
          <a:p>
            <a:pPr lvl="0">
              <a:lnSpc>
                <a:spcPct val="150000"/>
              </a:lnSpc>
              <a:buClr>
                <a:schemeClr val="lt1"/>
              </a:buClr>
              <a:buSzPts val="1313"/>
            </a:pPr>
            <a:r>
              <a:rPr lang="en-US" sz="4000">
                <a:solidFill>
                  <a:schemeClr val="tx1"/>
                </a:solidFill>
                <a:latin typeface="+mj-lt"/>
                <a:ea typeface="Crimson Text"/>
                <a:cs typeface="Crimson Text"/>
                <a:sym typeface="Crimson Text"/>
              </a:rPr>
              <a:t>Thank You !</a:t>
            </a:r>
          </a:p>
          <a:p>
            <a:pPr lvl="0">
              <a:lnSpc>
                <a:spcPct val="150000"/>
              </a:lnSpc>
              <a:buClr>
                <a:schemeClr val="lt1"/>
              </a:buClr>
              <a:buSzPts val="1313"/>
            </a:pPr>
            <a:br>
              <a:rPr lang="en-US" sz="2400">
                <a:solidFill>
                  <a:schemeClr val="tx1"/>
                </a:solidFill>
                <a:latin typeface="+mj-lt"/>
                <a:ea typeface="Crimson Text"/>
                <a:cs typeface="Crimson Text"/>
                <a:sym typeface="Crimson Text"/>
              </a:rPr>
            </a:br>
            <a:r>
              <a:rPr lang="en-US" sz="2400">
                <a:solidFill>
                  <a:schemeClr val="tx1"/>
                </a:solidFill>
                <a:latin typeface="+mj-lt"/>
                <a:ea typeface="Crimson Text"/>
                <a:cs typeface="Crimson Text"/>
                <a:sym typeface="Crimson Text"/>
              </a:rPr>
              <a:t>Email: junh@vt.edu</a:t>
            </a:r>
          </a:p>
        </p:txBody>
      </p:sp>
    </p:spTree>
    <p:extLst>
      <p:ext uri="{BB962C8B-B14F-4D97-AF65-F5344CB8AC3E}">
        <p14:creationId xmlns:p14="http://schemas.microsoft.com/office/powerpoint/2010/main" val="480023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607040B-7426-EBA3-AC15-33798496D4DB}"/>
              </a:ext>
            </a:extLst>
          </p:cNvPr>
          <p:cNvSpPr txBox="1"/>
          <p:nvPr/>
        </p:nvSpPr>
        <p:spPr>
          <a:xfrm>
            <a:off x="610305" y="999318"/>
            <a:ext cx="7589797" cy="646331"/>
          </a:xfrm>
          <a:prstGeom prst="rect">
            <a:avLst/>
          </a:prstGeom>
          <a:noFill/>
        </p:spPr>
        <p:txBody>
          <a:bodyPr wrap="square">
            <a:spAutoFit/>
          </a:bodyPr>
          <a:lstStyle/>
          <a:p>
            <a:pPr marL="228600" indent="-228600">
              <a:buAutoNum type="arabicPeriod"/>
            </a:pPr>
            <a:r>
              <a:rPr lang="en-US" sz="1200">
                <a:hlinkClick r:id="rId2"/>
              </a:rPr>
              <a:t>https://python.plainenglish.io/attention-mechanism-in-a-large-language-model-unlocking-the-power-of-context-d797dc55f5e3</a:t>
            </a:r>
            <a:endParaRPr lang="en-US" sz="1200"/>
          </a:p>
          <a:p>
            <a:pPr marL="228600" indent="-228600">
              <a:buAutoNum type="arabicPeriod"/>
            </a:pPr>
            <a:r>
              <a:rPr lang="en-US" sz="1200"/>
              <a:t>https://medium.com/data-science/the-large-language-model-course-b6663cd57ceb</a:t>
            </a:r>
          </a:p>
        </p:txBody>
      </p:sp>
      <p:sp>
        <p:nvSpPr>
          <p:cNvPr id="7" name="Google Shape;112;p17">
            <a:extLst>
              <a:ext uri="{FF2B5EF4-FFF2-40B4-BE49-F238E27FC236}">
                <a16:creationId xmlns:a16="http://schemas.microsoft.com/office/drawing/2014/main" id="{2086F98B-9A20-CBAE-5067-E904BA33134E}"/>
              </a:ext>
            </a:extLst>
          </p:cNvPr>
          <p:cNvSpPr/>
          <p:nvPr/>
        </p:nvSpPr>
        <p:spPr>
          <a:xfrm>
            <a:off x="610306" y="524908"/>
            <a:ext cx="4099064" cy="303600"/>
          </a:xfrm>
          <a:prstGeom prst="rect">
            <a:avLst/>
          </a:prstGeom>
          <a:noFill/>
          <a:ln>
            <a:noFill/>
          </a:ln>
        </p:spPr>
        <p:txBody>
          <a:bodyPr spcFirstLastPara="1" wrap="square" lIns="34275" tIns="45700" rIns="34275" bIns="45700" anchor="b" anchorCtr="0">
            <a:noAutofit/>
          </a:bodyPr>
          <a:lstStyle/>
          <a:p>
            <a:pPr marL="0" marR="0" lvl="0" indent="0" algn="l" rtl="0">
              <a:lnSpc>
                <a:spcPct val="90000"/>
              </a:lnSpc>
              <a:spcBef>
                <a:spcPts val="0"/>
              </a:spcBef>
              <a:spcAft>
                <a:spcPts val="0"/>
              </a:spcAft>
              <a:buClr>
                <a:schemeClr val="dk2"/>
              </a:buClr>
              <a:buSzPts val="2250"/>
              <a:buFont typeface="Arial"/>
              <a:buNone/>
            </a:pPr>
            <a:r>
              <a:rPr lang="en-US" sz="2800" b="0" i="0" u="none" strike="noStrike" cap="none">
                <a:solidFill>
                  <a:schemeClr val="tx1"/>
                </a:solidFill>
                <a:latin typeface="Arial"/>
                <a:ea typeface="Arial"/>
                <a:cs typeface="Arial"/>
                <a:sym typeface="Arial"/>
              </a:rPr>
              <a:t>References</a:t>
            </a:r>
          </a:p>
        </p:txBody>
      </p:sp>
    </p:spTree>
    <p:extLst>
      <p:ext uri="{BB962C8B-B14F-4D97-AF65-F5344CB8AC3E}">
        <p14:creationId xmlns:p14="http://schemas.microsoft.com/office/powerpoint/2010/main" val="652021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015B29-2D91-F64E-3B9D-C5A9DCD67DB0}"/>
            </a:ext>
          </a:extLst>
        </p:cNvPr>
        <p:cNvGrpSpPr/>
        <p:nvPr/>
      </p:nvGrpSpPr>
      <p:grpSpPr>
        <a:xfrm>
          <a:off x="0" y="0"/>
          <a:ext cx="0" cy="0"/>
          <a:chOff x="0" y="0"/>
          <a:chExt cx="0" cy="0"/>
        </a:xfrm>
      </p:grpSpPr>
      <p:pic>
        <p:nvPicPr>
          <p:cNvPr id="15364" name="Picture 4">
            <a:extLst>
              <a:ext uri="{FF2B5EF4-FFF2-40B4-BE49-F238E27FC236}">
                <a16:creationId xmlns:a16="http://schemas.microsoft.com/office/drawing/2014/main" id="{BACF2FFB-830E-8FEC-B4EA-BDA8BAA60D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4482"/>
          <a:stretch>
            <a:fillRect/>
          </a:stretch>
        </p:blipFill>
        <p:spPr bwMode="auto">
          <a:xfrm>
            <a:off x="3727808" y="566312"/>
            <a:ext cx="4662487" cy="209603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6B211FEE-691A-BF33-7064-081365B42C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851"/>
          <a:stretch>
            <a:fillRect/>
          </a:stretch>
        </p:blipFill>
        <p:spPr bwMode="auto">
          <a:xfrm>
            <a:off x="894120" y="3061697"/>
            <a:ext cx="7496175" cy="17564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DB252B-2B86-164B-E5E8-DC38B21174B6}"/>
              </a:ext>
            </a:extLst>
          </p:cNvPr>
          <p:cNvSpPr txBox="1"/>
          <p:nvPr/>
        </p:nvSpPr>
        <p:spPr>
          <a:xfrm>
            <a:off x="558265" y="379054"/>
            <a:ext cx="7507705" cy="477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SzPts val="2800"/>
              <a:buNone/>
              <a:defRPr sz="2500">
                <a:solidFill>
                  <a:schemeClr val="tx1"/>
                </a:solidFill>
              </a:defRPr>
            </a:lvl1pPr>
            <a:lvl2pPr>
              <a:buSzPts val="2800"/>
              <a:buNone/>
            </a:lvl2pPr>
            <a:lvl3pPr>
              <a:buSzPts val="2800"/>
              <a:buNone/>
            </a:lvl3pPr>
            <a:lvl4pPr>
              <a:buSzPts val="2800"/>
              <a:buNone/>
            </a:lvl4pPr>
            <a:lvl5pPr>
              <a:buSzPts val="2800"/>
              <a:buNone/>
            </a:lvl5pPr>
            <a:lvl6pPr>
              <a:buSzPts val="2800"/>
              <a:buNone/>
            </a:lvl6pPr>
            <a:lvl7pPr>
              <a:buSzPts val="2800"/>
              <a:buNone/>
            </a:lvl7pPr>
            <a:lvl8pPr>
              <a:buSzPts val="2800"/>
              <a:buNone/>
            </a:lvl8pPr>
            <a:lvl9pPr>
              <a:buSzPts val="2800"/>
              <a:buNone/>
            </a:lvl9pPr>
          </a:lstStyle>
          <a:p>
            <a:r>
              <a:rPr lang="en-US" b="1"/>
              <a:t>Data is Blood for LLMs</a:t>
            </a:r>
          </a:p>
        </p:txBody>
      </p:sp>
      <p:sp>
        <p:nvSpPr>
          <p:cNvPr id="7" name="TextBox 6">
            <a:extLst>
              <a:ext uri="{FF2B5EF4-FFF2-40B4-BE49-F238E27FC236}">
                <a16:creationId xmlns:a16="http://schemas.microsoft.com/office/drawing/2014/main" id="{00198FC4-5B0D-FED3-E9D9-89172B36E008}"/>
              </a:ext>
            </a:extLst>
          </p:cNvPr>
          <p:cNvSpPr txBox="1"/>
          <p:nvPr/>
        </p:nvSpPr>
        <p:spPr>
          <a:xfrm>
            <a:off x="894120" y="1549210"/>
            <a:ext cx="2820256" cy="738664"/>
          </a:xfrm>
          <a:prstGeom prst="rect">
            <a:avLst/>
          </a:prstGeom>
          <a:solidFill>
            <a:srgbClr val="E6E6E6"/>
          </a:solidFill>
        </p:spPr>
        <p:txBody>
          <a:bodyPr wrap="square">
            <a:spAutoFit/>
          </a:bodyPr>
          <a:lstStyle/>
          <a:p>
            <a:r>
              <a:rPr lang="en-US"/>
              <a:t>Types of tasks/questions the model is trained on, and what kinds of responses it produces.</a:t>
            </a:r>
          </a:p>
        </p:txBody>
      </p:sp>
    </p:spTree>
    <p:extLst>
      <p:ext uri="{BB962C8B-B14F-4D97-AF65-F5344CB8AC3E}">
        <p14:creationId xmlns:p14="http://schemas.microsoft.com/office/powerpoint/2010/main" val="3654889998"/>
      </p:ext>
    </p:extLst>
  </p:cSld>
  <p:clrMapOvr>
    <a:masterClrMapping/>
  </p:clrMapOvr>
</p:sld>
</file>

<file path=ppt/theme/theme1.xml><?xml version="1.0" encoding="utf-8"?>
<a:theme xmlns:a="http://schemas.openxmlformats.org/drawingml/2006/main" name="Office Theme">
  <a:themeElements>
    <a:clrScheme name="Theme Colors 2">
      <a:dk1>
        <a:srgbClr val="861F41"/>
      </a:dk1>
      <a:lt1>
        <a:srgbClr val="FFFFFF"/>
      </a:lt1>
      <a:dk2>
        <a:srgbClr val="75787B"/>
      </a:dk2>
      <a:lt2>
        <a:srgbClr val="DBDBDB"/>
      </a:lt2>
      <a:accent1>
        <a:srgbClr val="861F41"/>
      </a:accent1>
      <a:accent2>
        <a:srgbClr val="E87731"/>
      </a:accent2>
      <a:accent3>
        <a:srgbClr val="A5A5A5"/>
      </a:accent3>
      <a:accent4>
        <a:srgbClr val="417C79"/>
      </a:accent4>
      <a:accent5>
        <a:srgbClr val="E5E1E6"/>
      </a:accent5>
      <a:accent6>
        <a:srgbClr val="003C7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6C1035"/>
      </a:dk1>
      <a:lt1>
        <a:srgbClr val="5C6C66"/>
      </a:lt1>
      <a:dk2>
        <a:srgbClr val="A7A7A7"/>
      </a:dk2>
      <a:lt2>
        <a:srgbClr val="535353"/>
      </a:lt2>
      <a:accent1>
        <a:srgbClr val="6C1035"/>
      </a:accent1>
      <a:accent2>
        <a:srgbClr val="E57631"/>
      </a:accent2>
      <a:accent3>
        <a:srgbClr val="A5A5A5"/>
      </a:accent3>
      <a:accent4>
        <a:srgbClr val="417C79"/>
      </a:accent4>
      <a:accent5>
        <a:srgbClr val="E5E1EF"/>
      </a:accent5>
      <a:accent6>
        <a:srgbClr val="003C7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2de09aa-7731-4095-8718-4548906ecc5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C5864C816BB64589563E24EAEED66C" ma:contentTypeVersion="10" ma:contentTypeDescription="Create a new document." ma:contentTypeScope="" ma:versionID="3c4ca5a9d3ee23a2416cae6e9c620dbb">
  <xsd:schema xmlns:xsd="http://www.w3.org/2001/XMLSchema" xmlns:xs="http://www.w3.org/2001/XMLSchema" xmlns:p="http://schemas.microsoft.com/office/2006/metadata/properties" xmlns:ns3="02de09aa-7731-4095-8718-4548906ecc5b" targetNamespace="http://schemas.microsoft.com/office/2006/metadata/properties" ma:root="true" ma:fieldsID="92a01f5f80fdb538c275767876772fa9" ns3:_="">
    <xsd:import namespace="02de09aa-7731-4095-8718-4548906ecc5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de09aa-7731-4095-8718-4548906ecc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41A992-4292-42AF-A71F-E567DA9A8663}">
  <ds:schemaRefs>
    <ds:schemaRef ds:uri="02de09aa-7731-4095-8718-4548906ecc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3A3A761-CDAF-4DD0-B163-EC802C482E1D}">
  <ds:schemaRefs>
    <ds:schemaRef ds:uri="http://schemas.microsoft.com/sharepoint/v3/contenttype/forms"/>
  </ds:schemaRefs>
</ds:datastoreItem>
</file>

<file path=customXml/itemProps3.xml><?xml version="1.0" encoding="utf-8"?>
<ds:datastoreItem xmlns:ds="http://schemas.openxmlformats.org/officeDocument/2006/customXml" ds:itemID="{D93C914B-4F82-4F5F-AE4F-35C3B8765CEC}">
  <ds:schemaRefs>
    <ds:schemaRef ds:uri="02de09aa-7731-4095-8718-4548906ecc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6508</Words>
  <Application>Microsoft Macintosh PowerPoint</Application>
  <PresentationFormat>On-screen Show (16:9)</PresentationFormat>
  <Paragraphs>366</Paragraphs>
  <Slides>45</Slides>
  <Notes>44</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Noto Sans Symbols</vt:lpstr>
      <vt:lpstr>source-serif-pro</vt:lpstr>
      <vt:lpstr>Roboto</vt:lpstr>
      <vt:lpstr>Arial</vt:lpstr>
      <vt:lpstr>Crimson Text</vt:lpstr>
      <vt:lpstr>Times New Roman</vt:lpstr>
      <vt:lpstr>sohne</vt:lpstr>
      <vt:lpstr>Inter</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Transformer Encoder</vt:lpstr>
      <vt:lpstr>Transformer Decoder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Mixture of Experts in Deep Learning</vt:lpstr>
      <vt:lpstr>Evolution</vt:lpstr>
      <vt:lpstr>Possible Experts &amp; Routers</vt:lpstr>
      <vt:lpstr>Advantages</vt:lpstr>
      <vt:lpstr>Trade-off in Router</vt:lpstr>
      <vt:lpstr>FuseMoE – BioMedical Multimodal MoE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Jun Hou</cp:lastModifiedBy>
  <cp:revision>3</cp:revision>
  <dcterms:modified xsi:type="dcterms:W3CDTF">2025-07-15T15:19:35Z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0x0101007FC5864C816BB64589563E24EAEED66C</vt:lpwstr>
  </property>
</Properties>
</file>